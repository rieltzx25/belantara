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66"/>
  </p:notesMasterIdLst>
  <p:sldIdLst>
    <p:sldId id="286" r:id="rId2"/>
    <p:sldId id="352" r:id="rId3"/>
    <p:sldId id="257" r:id="rId4"/>
    <p:sldId id="265" r:id="rId5"/>
    <p:sldId id="2076139078" r:id="rId6"/>
    <p:sldId id="2076139150" r:id="rId7"/>
    <p:sldId id="2076139151" r:id="rId8"/>
    <p:sldId id="2076139152" r:id="rId9"/>
    <p:sldId id="2076139153" r:id="rId10"/>
    <p:sldId id="2076139154" r:id="rId11"/>
    <p:sldId id="2076139155" r:id="rId12"/>
    <p:sldId id="2076139084" r:id="rId13"/>
    <p:sldId id="2076139157" r:id="rId14"/>
    <p:sldId id="2076139158" r:id="rId15"/>
    <p:sldId id="2076139159" r:id="rId16"/>
    <p:sldId id="2076139160" r:id="rId17"/>
    <p:sldId id="2076139161" r:id="rId18"/>
    <p:sldId id="2076139162" r:id="rId19"/>
    <p:sldId id="2076139163" r:id="rId20"/>
    <p:sldId id="2076139164" r:id="rId21"/>
    <p:sldId id="2076139165" r:id="rId22"/>
    <p:sldId id="2076139091" r:id="rId23"/>
    <p:sldId id="2076139166" r:id="rId24"/>
    <p:sldId id="2076139167" r:id="rId25"/>
    <p:sldId id="2076139168" r:id="rId26"/>
    <p:sldId id="2076139169" r:id="rId27"/>
    <p:sldId id="2076139120" r:id="rId28"/>
    <p:sldId id="2076139170" r:id="rId29"/>
    <p:sldId id="2076139171" r:id="rId30"/>
    <p:sldId id="2076139172" r:id="rId31"/>
    <p:sldId id="2076139173" r:id="rId32"/>
    <p:sldId id="2076139174" r:id="rId33"/>
    <p:sldId id="2076139175" r:id="rId34"/>
    <p:sldId id="2076139099" r:id="rId35"/>
    <p:sldId id="2076139179" r:id="rId36"/>
    <p:sldId id="2076139180" r:id="rId37"/>
    <p:sldId id="2076139178" r:id="rId38"/>
    <p:sldId id="2076139181" r:id="rId39"/>
    <p:sldId id="2076139182" r:id="rId40"/>
    <p:sldId id="2076139183" r:id="rId41"/>
    <p:sldId id="2076139184" r:id="rId42"/>
    <p:sldId id="2076139185" r:id="rId43"/>
    <p:sldId id="2076139186" r:id="rId44"/>
    <p:sldId id="2076139187" r:id="rId45"/>
    <p:sldId id="2076139188" r:id="rId46"/>
    <p:sldId id="2076139189" r:id="rId47"/>
    <p:sldId id="2076139140" r:id="rId48"/>
    <p:sldId id="2076139190" r:id="rId49"/>
    <p:sldId id="2076139191" r:id="rId50"/>
    <p:sldId id="2076139192" r:id="rId51"/>
    <p:sldId id="2076139193" r:id="rId52"/>
    <p:sldId id="2076139194" r:id="rId53"/>
    <p:sldId id="2076139148" r:id="rId54"/>
    <p:sldId id="2076139196" r:id="rId55"/>
    <p:sldId id="2076139197" r:id="rId56"/>
    <p:sldId id="2076139206" r:id="rId57"/>
    <p:sldId id="2076139207" r:id="rId58"/>
    <p:sldId id="2076139198" r:id="rId59"/>
    <p:sldId id="2076139202" r:id="rId60"/>
    <p:sldId id="2076139201" r:id="rId61"/>
    <p:sldId id="2076139203" r:id="rId62"/>
    <p:sldId id="2076139204" r:id="rId63"/>
    <p:sldId id="2076139205" r:id="rId64"/>
    <p:sldId id="285" r:id="rId6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COVER" id="{727C0728-BFBA-4018-A895-7E45D940962F}">
          <p14:sldIdLst>
            <p14:sldId id="286"/>
            <p14:sldId id="352"/>
            <p14:sldId id="257"/>
            <p14:sldId id="265"/>
          </p14:sldIdLst>
        </p14:section>
        <p14:section name="COURSE CONTENT" id="{F4927CBE-FA17-46D1-BAAE-887D0AF2CCBF}">
          <p14:sldIdLst>
            <p14:sldId id="2076139078"/>
            <p14:sldId id="2076139150"/>
            <p14:sldId id="2076139151"/>
            <p14:sldId id="2076139152"/>
            <p14:sldId id="2076139153"/>
            <p14:sldId id="2076139154"/>
            <p14:sldId id="2076139155"/>
            <p14:sldId id="2076139084"/>
            <p14:sldId id="2076139157"/>
            <p14:sldId id="2076139158"/>
            <p14:sldId id="2076139159"/>
            <p14:sldId id="2076139160"/>
            <p14:sldId id="2076139161"/>
            <p14:sldId id="2076139162"/>
            <p14:sldId id="2076139163"/>
            <p14:sldId id="2076139164"/>
            <p14:sldId id="2076139165"/>
            <p14:sldId id="2076139091"/>
            <p14:sldId id="2076139166"/>
            <p14:sldId id="2076139167"/>
            <p14:sldId id="2076139168"/>
            <p14:sldId id="2076139169"/>
            <p14:sldId id="2076139120"/>
            <p14:sldId id="2076139170"/>
            <p14:sldId id="2076139171"/>
            <p14:sldId id="2076139172"/>
            <p14:sldId id="2076139173"/>
            <p14:sldId id="2076139174"/>
            <p14:sldId id="2076139175"/>
            <p14:sldId id="2076139099"/>
            <p14:sldId id="2076139179"/>
            <p14:sldId id="2076139180"/>
            <p14:sldId id="2076139178"/>
            <p14:sldId id="2076139181"/>
            <p14:sldId id="2076139182"/>
            <p14:sldId id="2076139183"/>
            <p14:sldId id="2076139184"/>
            <p14:sldId id="2076139185"/>
            <p14:sldId id="2076139186"/>
            <p14:sldId id="2076139187"/>
            <p14:sldId id="2076139188"/>
            <p14:sldId id="2076139189"/>
            <p14:sldId id="2076139140"/>
            <p14:sldId id="2076139190"/>
            <p14:sldId id="2076139191"/>
            <p14:sldId id="2076139192"/>
            <p14:sldId id="2076139193"/>
            <p14:sldId id="2076139194"/>
            <p14:sldId id="2076139148"/>
            <p14:sldId id="2076139196"/>
            <p14:sldId id="2076139197"/>
            <p14:sldId id="2076139206"/>
            <p14:sldId id="2076139207"/>
            <p14:sldId id="2076139198"/>
            <p14:sldId id="2076139202"/>
            <p14:sldId id="2076139201"/>
            <p14:sldId id="2076139203"/>
            <p14:sldId id="2076139204"/>
            <p14:sldId id="2076139205"/>
          </p14:sldIdLst>
        </p14:section>
        <p14:section name="REFERENCE" id="{82098E28-DACF-4424-86A1-E861B2DCC6FF}">
          <p14:sldIdLst>
            <p14:sldId id="28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0081BD"/>
    <a:srgbClr val="3399FF"/>
    <a:srgbClr val="F7F7F7"/>
    <a:srgbClr val="008FD5"/>
    <a:srgbClr val="558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31793-3845-4BAB-9B2B-412DE0D7488F}" v="17" dt="2025-12-19T08:32:55.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2809" autoAdjust="0"/>
  </p:normalViewPr>
  <p:slideViewPr>
    <p:cSldViewPr>
      <p:cViewPr varScale="1">
        <p:scale>
          <a:sx n="91" d="100"/>
          <a:sy n="91" d="100"/>
        </p:scale>
        <p:origin x="135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 PUTERA KEMALA" userId="ae082dc6-986d-44c2-b903-255a692f1bc4" providerId="ADAL" clId="{166A0713-FC6F-4C71-951F-EA40F5ED166E}"/>
    <pc:docChg chg="undo custSel addSld delSld modSld sldOrd modSection">
      <pc:chgData name="ADE PUTERA KEMALA" userId="ae082dc6-986d-44c2-b903-255a692f1bc4" providerId="ADAL" clId="{166A0713-FC6F-4C71-951F-EA40F5ED166E}" dt="2025-12-19T08:32:58.990" v="41" actId="20577"/>
      <pc:docMkLst>
        <pc:docMk/>
      </pc:docMkLst>
      <pc:sldChg chg="add del">
        <pc:chgData name="ADE PUTERA KEMALA" userId="ae082dc6-986d-44c2-b903-255a692f1bc4" providerId="ADAL" clId="{166A0713-FC6F-4C71-951F-EA40F5ED166E}" dt="2025-12-19T08:32:04.120" v="29" actId="47"/>
        <pc:sldMkLst>
          <pc:docMk/>
          <pc:sldMk cId="1337988630" sldId="535"/>
        </pc:sldMkLst>
      </pc:sldChg>
      <pc:sldChg chg="add del">
        <pc:chgData name="ADE PUTERA KEMALA" userId="ae082dc6-986d-44c2-b903-255a692f1bc4" providerId="ADAL" clId="{166A0713-FC6F-4C71-951F-EA40F5ED166E}" dt="2025-12-19T08:32:38.317" v="40" actId="47"/>
        <pc:sldMkLst>
          <pc:docMk/>
          <pc:sldMk cId="2781862567" sldId="536"/>
        </pc:sldMkLst>
      </pc:sldChg>
      <pc:sldChg chg="modSp mod">
        <pc:chgData name="ADE PUTERA KEMALA" userId="ae082dc6-986d-44c2-b903-255a692f1bc4" providerId="ADAL" clId="{166A0713-FC6F-4C71-951F-EA40F5ED166E}" dt="2025-12-18T09:27:05.990" v="11" actId="1076"/>
        <pc:sldMkLst>
          <pc:docMk/>
          <pc:sldMk cId="398738758" sldId="2076139167"/>
        </pc:sldMkLst>
        <pc:spChg chg="mod">
          <ac:chgData name="ADE PUTERA KEMALA" userId="ae082dc6-986d-44c2-b903-255a692f1bc4" providerId="ADAL" clId="{166A0713-FC6F-4C71-951F-EA40F5ED166E}" dt="2025-12-18T09:26:55.469" v="10" actId="1076"/>
          <ac:spMkLst>
            <pc:docMk/>
            <pc:sldMk cId="398738758" sldId="2076139167"/>
            <ac:spMk id="16" creationId="{D898D88B-8F7C-C5C6-6116-CB83C8320108}"/>
          </ac:spMkLst>
        </pc:spChg>
        <pc:spChg chg="mod">
          <ac:chgData name="ADE PUTERA KEMALA" userId="ae082dc6-986d-44c2-b903-255a692f1bc4" providerId="ADAL" clId="{166A0713-FC6F-4C71-951F-EA40F5ED166E}" dt="2025-12-18T09:25:58.935" v="3" actId="14100"/>
          <ac:spMkLst>
            <pc:docMk/>
            <pc:sldMk cId="398738758" sldId="2076139167"/>
            <ac:spMk id="17" creationId="{5A1B4D28-5E55-DC0A-8694-366204404578}"/>
          </ac:spMkLst>
        </pc:spChg>
        <pc:spChg chg="mod">
          <ac:chgData name="ADE PUTERA KEMALA" userId="ae082dc6-986d-44c2-b903-255a692f1bc4" providerId="ADAL" clId="{166A0713-FC6F-4C71-951F-EA40F5ED166E}" dt="2025-12-18T09:26:32.396" v="7" actId="1076"/>
          <ac:spMkLst>
            <pc:docMk/>
            <pc:sldMk cId="398738758" sldId="2076139167"/>
            <ac:spMk id="19" creationId="{871D45C1-F8A4-8AAB-54AE-F778B010FB87}"/>
          </ac:spMkLst>
        </pc:spChg>
        <pc:spChg chg="mod">
          <ac:chgData name="ADE PUTERA KEMALA" userId="ae082dc6-986d-44c2-b903-255a692f1bc4" providerId="ADAL" clId="{166A0713-FC6F-4C71-951F-EA40F5ED166E}" dt="2025-12-18T09:27:05.990" v="11" actId="1076"/>
          <ac:spMkLst>
            <pc:docMk/>
            <pc:sldMk cId="398738758" sldId="2076139167"/>
            <ac:spMk id="26" creationId="{72330C86-AD6F-9ACE-6E24-4FA3B4AC16BD}"/>
          </ac:spMkLst>
        </pc:spChg>
        <pc:spChg chg="mod">
          <ac:chgData name="ADE PUTERA KEMALA" userId="ae082dc6-986d-44c2-b903-255a692f1bc4" providerId="ADAL" clId="{166A0713-FC6F-4C71-951F-EA40F5ED166E}" dt="2025-12-18T09:26:41.721" v="8" actId="1076"/>
          <ac:spMkLst>
            <pc:docMk/>
            <pc:sldMk cId="398738758" sldId="2076139167"/>
            <ac:spMk id="28" creationId="{59C932B1-846F-AAC2-27DE-D3EC753C0811}"/>
          </ac:spMkLst>
        </pc:spChg>
        <pc:cxnChg chg="mod">
          <ac:chgData name="ADE PUTERA KEMALA" userId="ae082dc6-986d-44c2-b903-255a692f1bc4" providerId="ADAL" clId="{166A0713-FC6F-4C71-951F-EA40F5ED166E}" dt="2025-12-18T09:27:05.990" v="11" actId="1076"/>
          <ac:cxnSpMkLst>
            <pc:docMk/>
            <pc:sldMk cId="398738758" sldId="2076139167"/>
            <ac:cxnSpMk id="24" creationId="{A832E92A-82D9-6C9E-5942-32F2B5F030BB}"/>
          </ac:cxnSpMkLst>
        </pc:cxnChg>
      </pc:sldChg>
      <pc:sldChg chg="ord">
        <pc:chgData name="ADE PUTERA KEMALA" userId="ae082dc6-986d-44c2-b903-255a692f1bc4" providerId="ADAL" clId="{166A0713-FC6F-4C71-951F-EA40F5ED166E}" dt="2025-12-19T08:26:35.338" v="13"/>
        <pc:sldMkLst>
          <pc:docMk/>
          <pc:sldMk cId="3386966222" sldId="2076139178"/>
        </pc:sldMkLst>
      </pc:sldChg>
      <pc:sldChg chg="modSp mod">
        <pc:chgData name="ADE PUTERA KEMALA" userId="ae082dc6-986d-44c2-b903-255a692f1bc4" providerId="ADAL" clId="{166A0713-FC6F-4C71-951F-EA40F5ED166E}" dt="2025-12-19T08:27:06.117" v="14" actId="120"/>
        <pc:sldMkLst>
          <pc:docMk/>
          <pc:sldMk cId="222905796" sldId="2076139183"/>
        </pc:sldMkLst>
        <pc:spChg chg="mod">
          <ac:chgData name="ADE PUTERA KEMALA" userId="ae082dc6-986d-44c2-b903-255a692f1bc4" providerId="ADAL" clId="{166A0713-FC6F-4C71-951F-EA40F5ED166E}" dt="2025-12-19T08:27:06.117" v="14" actId="120"/>
          <ac:spMkLst>
            <pc:docMk/>
            <pc:sldMk cId="222905796" sldId="2076139183"/>
            <ac:spMk id="8" creationId="{A8474BF3-C010-B1E8-756A-9D54BC0A1520}"/>
          </ac:spMkLst>
        </pc:spChg>
      </pc:sldChg>
      <pc:sldChg chg="modSp mod">
        <pc:chgData name="ADE PUTERA KEMALA" userId="ae082dc6-986d-44c2-b903-255a692f1bc4" providerId="ADAL" clId="{166A0713-FC6F-4C71-951F-EA40F5ED166E}" dt="2025-12-19T08:28:15.951" v="20" actId="14100"/>
        <pc:sldMkLst>
          <pc:docMk/>
          <pc:sldMk cId="1126978935" sldId="2076139187"/>
        </pc:sldMkLst>
        <pc:spChg chg="mod">
          <ac:chgData name="ADE PUTERA KEMALA" userId="ae082dc6-986d-44c2-b903-255a692f1bc4" providerId="ADAL" clId="{166A0713-FC6F-4C71-951F-EA40F5ED166E}" dt="2025-12-19T08:28:15.951" v="20" actId="14100"/>
          <ac:spMkLst>
            <pc:docMk/>
            <pc:sldMk cId="1126978935" sldId="2076139187"/>
            <ac:spMk id="4" creationId="{39B80E64-B6A5-72AA-1F5B-F0CA21B902A4}"/>
          </ac:spMkLst>
        </pc:spChg>
      </pc:sldChg>
      <pc:sldChg chg="modSp mod">
        <pc:chgData name="ADE PUTERA KEMALA" userId="ae082dc6-986d-44c2-b903-255a692f1bc4" providerId="ADAL" clId="{166A0713-FC6F-4C71-951F-EA40F5ED166E}" dt="2025-12-19T08:27:52.990" v="16" actId="120"/>
        <pc:sldMkLst>
          <pc:docMk/>
          <pc:sldMk cId="2567703259" sldId="2076139188"/>
        </pc:sldMkLst>
        <pc:graphicFrameChg chg="modGraphic">
          <ac:chgData name="ADE PUTERA KEMALA" userId="ae082dc6-986d-44c2-b903-255a692f1bc4" providerId="ADAL" clId="{166A0713-FC6F-4C71-951F-EA40F5ED166E}" dt="2025-12-19T08:27:52.990" v="16" actId="120"/>
          <ac:graphicFrameMkLst>
            <pc:docMk/>
            <pc:sldMk cId="2567703259" sldId="2076139188"/>
            <ac:graphicFrameMk id="5" creationId="{D58F4AA8-611F-5D43-11AB-C98B672CF32A}"/>
          </ac:graphicFrameMkLst>
        </pc:graphicFrameChg>
      </pc:sldChg>
      <pc:sldChg chg="modSp mod">
        <pc:chgData name="ADE PUTERA KEMALA" userId="ae082dc6-986d-44c2-b903-255a692f1bc4" providerId="ADAL" clId="{166A0713-FC6F-4C71-951F-EA40F5ED166E}" dt="2025-12-19T08:29:45.129" v="21" actId="120"/>
        <pc:sldMkLst>
          <pc:docMk/>
          <pc:sldMk cId="1971794058" sldId="2076139190"/>
        </pc:sldMkLst>
        <pc:spChg chg="mod">
          <ac:chgData name="ADE PUTERA KEMALA" userId="ae082dc6-986d-44c2-b903-255a692f1bc4" providerId="ADAL" clId="{166A0713-FC6F-4C71-951F-EA40F5ED166E}" dt="2025-12-19T08:29:45.129" v="21" actId="120"/>
          <ac:spMkLst>
            <pc:docMk/>
            <pc:sldMk cId="1971794058" sldId="2076139190"/>
            <ac:spMk id="8" creationId="{4D1CD1AF-9B38-9E5A-5D92-E8373605D9BC}"/>
          </ac:spMkLst>
        </pc:spChg>
      </pc:sldChg>
      <pc:sldChg chg="modSp mod">
        <pc:chgData name="ADE PUTERA KEMALA" userId="ae082dc6-986d-44c2-b903-255a692f1bc4" providerId="ADAL" clId="{166A0713-FC6F-4C71-951F-EA40F5ED166E}" dt="2025-12-19T08:29:56.516" v="22" actId="120"/>
        <pc:sldMkLst>
          <pc:docMk/>
          <pc:sldMk cId="1369568182" sldId="2076139191"/>
        </pc:sldMkLst>
        <pc:spChg chg="mod">
          <ac:chgData name="ADE PUTERA KEMALA" userId="ae082dc6-986d-44c2-b903-255a692f1bc4" providerId="ADAL" clId="{166A0713-FC6F-4C71-951F-EA40F5ED166E}" dt="2025-12-19T08:29:56.516" v="22" actId="120"/>
          <ac:spMkLst>
            <pc:docMk/>
            <pc:sldMk cId="1369568182" sldId="2076139191"/>
            <ac:spMk id="8" creationId="{D295DCAF-7E4E-A354-C914-C172E21C2502}"/>
          </ac:spMkLst>
        </pc:spChg>
      </pc:sldChg>
      <pc:sldChg chg="addSp delSp modSp add mod modNotesTx">
        <pc:chgData name="ADE PUTERA KEMALA" userId="ae082dc6-986d-44c2-b903-255a692f1bc4" providerId="ADAL" clId="{166A0713-FC6F-4C71-951F-EA40F5ED166E}" dt="2025-12-19T08:32:07.449" v="31" actId="27636"/>
        <pc:sldMkLst>
          <pc:docMk/>
          <pc:sldMk cId="3100682437" sldId="2076139206"/>
        </pc:sldMkLst>
        <pc:spChg chg="mod">
          <ac:chgData name="ADE PUTERA KEMALA" userId="ae082dc6-986d-44c2-b903-255a692f1bc4" providerId="ADAL" clId="{166A0713-FC6F-4C71-951F-EA40F5ED166E}" dt="2025-12-19T08:32:07.449" v="31" actId="27636"/>
          <ac:spMkLst>
            <pc:docMk/>
            <pc:sldMk cId="3100682437" sldId="2076139206"/>
            <ac:spMk id="3" creationId="{FDF903E0-E6EE-4C8F-B27E-134031D3AB39}"/>
          </ac:spMkLst>
        </pc:spChg>
        <pc:spChg chg="mod">
          <ac:chgData name="ADE PUTERA KEMALA" userId="ae082dc6-986d-44c2-b903-255a692f1bc4" providerId="ADAL" clId="{166A0713-FC6F-4C71-951F-EA40F5ED166E}" dt="2025-12-19T08:31:50.224" v="26"/>
          <ac:spMkLst>
            <pc:docMk/>
            <pc:sldMk cId="3100682437" sldId="2076139206"/>
            <ac:spMk id="29" creationId="{441ABA0E-EFD6-E468-A6D8-C811C8A146D9}"/>
          </ac:spMkLst>
        </pc:spChg>
        <pc:spChg chg="mod">
          <ac:chgData name="ADE PUTERA KEMALA" userId="ae082dc6-986d-44c2-b903-255a692f1bc4" providerId="ADAL" clId="{166A0713-FC6F-4C71-951F-EA40F5ED166E}" dt="2025-12-19T08:31:50.224" v="26"/>
          <ac:spMkLst>
            <pc:docMk/>
            <pc:sldMk cId="3100682437" sldId="2076139206"/>
            <ac:spMk id="30" creationId="{2312F6AE-6E0B-CCDF-E7E6-B111C3744012}"/>
          </ac:spMkLst>
        </pc:spChg>
        <pc:spChg chg="mod">
          <ac:chgData name="ADE PUTERA KEMALA" userId="ae082dc6-986d-44c2-b903-255a692f1bc4" providerId="ADAL" clId="{166A0713-FC6F-4C71-951F-EA40F5ED166E}" dt="2025-12-19T08:31:50.224" v="26"/>
          <ac:spMkLst>
            <pc:docMk/>
            <pc:sldMk cId="3100682437" sldId="2076139206"/>
            <ac:spMk id="31" creationId="{2F919D6B-E04D-71F6-2CD6-A685FB3D7D00}"/>
          </ac:spMkLst>
        </pc:spChg>
        <pc:spChg chg="mod">
          <ac:chgData name="ADE PUTERA KEMALA" userId="ae082dc6-986d-44c2-b903-255a692f1bc4" providerId="ADAL" clId="{166A0713-FC6F-4C71-951F-EA40F5ED166E}" dt="2025-12-19T08:31:50.224" v="26"/>
          <ac:spMkLst>
            <pc:docMk/>
            <pc:sldMk cId="3100682437" sldId="2076139206"/>
            <ac:spMk id="32" creationId="{D9994A09-0641-C924-07EF-0982360455A2}"/>
          </ac:spMkLst>
        </pc:spChg>
        <pc:spChg chg="mod">
          <ac:chgData name="ADE PUTERA KEMALA" userId="ae082dc6-986d-44c2-b903-255a692f1bc4" providerId="ADAL" clId="{166A0713-FC6F-4C71-951F-EA40F5ED166E}" dt="2025-12-19T08:31:50.224" v="26"/>
          <ac:spMkLst>
            <pc:docMk/>
            <pc:sldMk cId="3100682437" sldId="2076139206"/>
            <ac:spMk id="33" creationId="{2462887E-F38A-3461-F72A-3EC9EEE9A91A}"/>
          </ac:spMkLst>
        </pc:spChg>
        <pc:spChg chg="mod">
          <ac:chgData name="ADE PUTERA KEMALA" userId="ae082dc6-986d-44c2-b903-255a692f1bc4" providerId="ADAL" clId="{166A0713-FC6F-4C71-951F-EA40F5ED166E}" dt="2025-12-19T08:31:50.224" v="26"/>
          <ac:spMkLst>
            <pc:docMk/>
            <pc:sldMk cId="3100682437" sldId="2076139206"/>
            <ac:spMk id="34" creationId="{28D6F26C-D342-5178-E6A4-D43F539D2F3D}"/>
          </ac:spMkLst>
        </pc:spChg>
        <pc:spChg chg="mod">
          <ac:chgData name="ADE PUTERA KEMALA" userId="ae082dc6-986d-44c2-b903-255a692f1bc4" providerId="ADAL" clId="{166A0713-FC6F-4C71-951F-EA40F5ED166E}" dt="2025-12-19T08:31:50.224" v="26"/>
          <ac:spMkLst>
            <pc:docMk/>
            <pc:sldMk cId="3100682437" sldId="2076139206"/>
            <ac:spMk id="35" creationId="{3D1B210F-6D7B-4BC1-4308-E62A14525834}"/>
          </ac:spMkLst>
        </pc:spChg>
        <pc:spChg chg="mod">
          <ac:chgData name="ADE PUTERA KEMALA" userId="ae082dc6-986d-44c2-b903-255a692f1bc4" providerId="ADAL" clId="{166A0713-FC6F-4C71-951F-EA40F5ED166E}" dt="2025-12-19T08:31:50.224" v="26"/>
          <ac:spMkLst>
            <pc:docMk/>
            <pc:sldMk cId="3100682437" sldId="2076139206"/>
            <ac:spMk id="36" creationId="{6AB5288D-2D0C-9305-8951-77655F95EA57}"/>
          </ac:spMkLst>
        </pc:spChg>
        <pc:spChg chg="mod">
          <ac:chgData name="ADE PUTERA KEMALA" userId="ae082dc6-986d-44c2-b903-255a692f1bc4" providerId="ADAL" clId="{166A0713-FC6F-4C71-951F-EA40F5ED166E}" dt="2025-12-19T08:31:50.224" v="26"/>
          <ac:spMkLst>
            <pc:docMk/>
            <pc:sldMk cId="3100682437" sldId="2076139206"/>
            <ac:spMk id="37" creationId="{DEAD0674-BEB8-C90E-2B59-3F34CEE64E60}"/>
          </ac:spMkLst>
        </pc:spChg>
        <pc:grpChg chg="del">
          <ac:chgData name="ADE PUTERA KEMALA" userId="ae082dc6-986d-44c2-b903-255a692f1bc4" providerId="ADAL" clId="{166A0713-FC6F-4C71-951F-EA40F5ED166E}" dt="2025-12-19T08:31:45.956" v="25" actId="478"/>
          <ac:grpSpMkLst>
            <pc:docMk/>
            <pc:sldMk cId="3100682437" sldId="2076139206"/>
            <ac:grpSpMk id="5" creationId="{2F9C5AE6-BAAD-C232-BD6F-44E99139633F}"/>
          </ac:grpSpMkLst>
        </pc:grpChg>
        <pc:grpChg chg="mod">
          <ac:chgData name="ADE PUTERA KEMALA" userId="ae082dc6-986d-44c2-b903-255a692f1bc4" providerId="ADAL" clId="{166A0713-FC6F-4C71-951F-EA40F5ED166E}" dt="2025-12-19T08:31:52.227" v="27" actId="1076"/>
          <ac:grpSpMkLst>
            <pc:docMk/>
            <pc:sldMk cId="3100682437" sldId="2076139206"/>
            <ac:grpSpMk id="26" creationId="{BDB65BFC-39CC-460D-C90D-BEB1BC33549A}"/>
          </ac:grpSpMkLst>
        </pc:grpChg>
        <pc:picChg chg="mod">
          <ac:chgData name="ADE PUTERA KEMALA" userId="ae082dc6-986d-44c2-b903-255a692f1bc4" providerId="ADAL" clId="{166A0713-FC6F-4C71-951F-EA40F5ED166E}" dt="2025-12-19T08:31:50.224" v="26"/>
          <ac:picMkLst>
            <pc:docMk/>
            <pc:sldMk cId="3100682437" sldId="2076139206"/>
            <ac:picMk id="28" creationId="{77159755-8C65-9C93-919C-58EF932BC14C}"/>
          </ac:picMkLst>
        </pc:picChg>
      </pc:sldChg>
      <pc:sldChg chg="addSp modSp new mod modNotesTx">
        <pc:chgData name="ADE PUTERA KEMALA" userId="ae082dc6-986d-44c2-b903-255a692f1bc4" providerId="ADAL" clId="{166A0713-FC6F-4C71-951F-EA40F5ED166E}" dt="2025-12-19T08:32:58.990" v="41" actId="20577"/>
        <pc:sldMkLst>
          <pc:docMk/>
          <pc:sldMk cId="2397399704" sldId="2076139207"/>
        </pc:sldMkLst>
        <pc:spChg chg="mod">
          <ac:chgData name="ADE PUTERA KEMALA" userId="ae082dc6-986d-44c2-b903-255a692f1bc4" providerId="ADAL" clId="{166A0713-FC6F-4C71-951F-EA40F5ED166E}" dt="2025-12-19T08:32:34.282" v="39"/>
          <ac:spMkLst>
            <pc:docMk/>
            <pc:sldMk cId="2397399704" sldId="2076139207"/>
            <ac:spMk id="2" creationId="{F8ABDA7D-795A-6903-3E4D-627AA565157D}"/>
          </ac:spMkLst>
        </pc:spChg>
        <pc:spChg chg="mod">
          <ac:chgData name="ADE PUTERA KEMALA" userId="ae082dc6-986d-44c2-b903-255a692f1bc4" providerId="ADAL" clId="{166A0713-FC6F-4C71-951F-EA40F5ED166E}" dt="2025-12-19T08:32:30.204" v="38"/>
          <ac:spMkLst>
            <pc:docMk/>
            <pc:sldMk cId="2397399704" sldId="2076139207"/>
            <ac:spMk id="3" creationId="{80CC2A28-ACB1-A641-ECFE-71CD5BDA3FAC}"/>
          </ac:spMkLst>
        </pc:spChg>
        <pc:picChg chg="add mod">
          <ac:chgData name="ADE PUTERA KEMALA" userId="ae082dc6-986d-44c2-b903-255a692f1bc4" providerId="ADAL" clId="{166A0713-FC6F-4C71-951F-EA40F5ED166E}" dt="2025-12-19T08:32:19.947" v="37" actId="1076"/>
          <ac:picMkLst>
            <pc:docMk/>
            <pc:sldMk cId="2397399704" sldId="2076139207"/>
            <ac:picMk id="5" creationId="{7695FC03-5C93-F64C-3456-773836C16CE4}"/>
          </ac:picMkLst>
        </pc:picChg>
      </pc:sldChg>
      <pc:sldChg chg="new del">
        <pc:chgData name="ADE PUTERA KEMALA" userId="ae082dc6-986d-44c2-b903-255a692f1bc4" providerId="ADAL" clId="{166A0713-FC6F-4C71-951F-EA40F5ED166E}" dt="2025-12-19T08:32:12.943" v="33" actId="680"/>
        <pc:sldMkLst>
          <pc:docMk/>
          <pc:sldMk cId="3813658159" sldId="2076139207"/>
        </pc:sldMkLst>
      </pc:sldChg>
      <pc:sldMasterChg chg="delSldLayout">
        <pc:chgData name="ADE PUTERA KEMALA" userId="ae082dc6-986d-44c2-b903-255a692f1bc4" providerId="ADAL" clId="{166A0713-FC6F-4C71-951F-EA40F5ED166E}" dt="2025-12-19T08:32:38.317" v="40" actId="47"/>
        <pc:sldMasterMkLst>
          <pc:docMk/>
          <pc:sldMasterMk cId="2456034632" sldId="2147483772"/>
        </pc:sldMasterMkLst>
        <pc:sldLayoutChg chg="del">
          <pc:chgData name="ADE PUTERA KEMALA" userId="ae082dc6-986d-44c2-b903-255a692f1bc4" providerId="ADAL" clId="{166A0713-FC6F-4C71-951F-EA40F5ED166E}" dt="2025-12-19T08:32:38.317" v="40" actId="47"/>
          <pc:sldLayoutMkLst>
            <pc:docMk/>
            <pc:sldMasterMk cId="2456034632" sldId="2147483772"/>
            <pc:sldLayoutMk cId="4278926433" sldId="214748379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A92B-1707-437C-A15A-18602C2F0672}" type="datetimeFigureOut">
              <a:rPr lang="en-ID" smtClean="0"/>
              <a:t>19/12/2025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22064-3AC2-4A29-A7DB-87C96F577F71}" type="slidenum">
              <a:rPr lang="en-ID" smtClean="0"/>
              <a:t>‹#›</a:t>
            </a:fld>
            <a:endParaRPr lang="en-ID"/>
          </a:p>
        </p:txBody>
      </p:sp>
    </p:spTree>
    <p:extLst>
      <p:ext uri="{BB962C8B-B14F-4D97-AF65-F5344CB8AC3E}">
        <p14:creationId xmlns:p14="http://schemas.microsoft.com/office/powerpoint/2010/main" val="4175660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docs.aws.amazon.com/amazondynamodb/latest/developerguide/HowItWorks.CoreComponents.html#HowItWorks.CoreComponents.TablesItemsAttributes"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D22064-3AC2-4A29-A7DB-87C96F577F71}" type="slidenum">
              <a:rPr lang="en-ID" smtClean="0"/>
              <a:t>3</a:t>
            </a:fld>
            <a:endParaRPr lang="en-ID"/>
          </a:p>
        </p:txBody>
      </p:sp>
    </p:spTree>
    <p:extLst>
      <p:ext uri="{BB962C8B-B14F-4D97-AF65-F5344CB8AC3E}">
        <p14:creationId xmlns:p14="http://schemas.microsoft.com/office/powerpoint/2010/main" val="524329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What happens if you want to change one character in a 1-GB file? With block storage, you change only the block that contains the character. With object storage, the entire file must be updated. </a:t>
            </a:r>
          </a:p>
          <a:p>
            <a:r>
              <a:rPr lang="en-US" sz="1200" dirty="0"/>
              <a:t> </a:t>
            </a:r>
          </a:p>
          <a:p>
            <a:r>
              <a:rPr lang="en-US" sz="1200" dirty="0"/>
              <a:t>One critical difference between some storage types is whether they offer </a:t>
            </a:r>
            <a:r>
              <a:rPr lang="en-US" sz="1200" i="1" dirty="0"/>
              <a:t>block-level storage </a:t>
            </a:r>
            <a:r>
              <a:rPr lang="en-US" sz="1200" dirty="0"/>
              <a:t>or </a:t>
            </a:r>
            <a:r>
              <a:rPr lang="en-US" sz="1200" i="1" dirty="0"/>
              <a:t>object-level storage</a:t>
            </a:r>
            <a:r>
              <a:rPr lang="en-US" sz="1200" dirty="0"/>
              <a:t>. </a:t>
            </a:r>
          </a:p>
          <a:p>
            <a:r>
              <a:rPr lang="en-US" sz="1200" dirty="0"/>
              <a:t> </a:t>
            </a:r>
          </a:p>
          <a:p>
            <a:r>
              <a:rPr lang="en-US" sz="1200" dirty="0"/>
              <a:t>This difference has a major effect on the throughput, latency, and cost of your storage solution. Block storage solutions are typically faster and use less bandwidth, but they can cost more than object-level storage.</a:t>
            </a:r>
          </a:p>
          <a:p>
            <a:endParaRPr lang="en-ID" dirty="0"/>
          </a:p>
          <a:p>
            <a:endParaRPr lang="en-US" dirty="0"/>
          </a:p>
        </p:txBody>
      </p:sp>
      <p:sp>
        <p:nvSpPr>
          <p:cNvPr id="4" name="Slide Number Placeholder 3"/>
          <p:cNvSpPr>
            <a:spLocks noGrp="1"/>
          </p:cNvSpPr>
          <p:nvPr>
            <p:ph type="sldNum" sz="quarter" idx="5"/>
          </p:nvPr>
        </p:nvSpPr>
        <p:spPr/>
        <p:txBody>
          <a:bodyPr/>
          <a:lstStyle/>
          <a:p>
            <a:fld id="{8ED22064-3AC2-4A29-A7DB-87C96F577F71}" type="slidenum">
              <a:rPr lang="en-ID" smtClean="0"/>
              <a:t>5</a:t>
            </a:fld>
            <a:endParaRPr lang="en-ID"/>
          </a:p>
        </p:txBody>
      </p:sp>
    </p:spTree>
    <p:extLst>
      <p:ext uri="{BB962C8B-B14F-4D97-AF65-F5344CB8AC3E}">
        <p14:creationId xmlns:p14="http://schemas.microsoft.com/office/powerpoint/2010/main" val="52705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5F29B-096B-B5FB-F53E-82AA0ADA6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056A1-41A9-836C-2FE3-1B6600B1C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C656F-F1E9-B8D1-628A-8B8019A873EB}"/>
              </a:ext>
            </a:extLst>
          </p:cNvPr>
          <p:cNvSpPr>
            <a:spLocks noGrp="1"/>
          </p:cNvSpPr>
          <p:nvPr>
            <p:ph type="body" idx="1"/>
          </p:nvPr>
        </p:nvSpPr>
        <p:spPr/>
        <p:txBody>
          <a:bodyPr/>
          <a:lstStyle/>
          <a:p>
            <a:r>
              <a:rPr lang="en-US" dirty="0"/>
              <a:t>Amazon EBS enables you to create individual storage volumes and attach them to an Amazon EC2 instance. Amazon EBS offers block-level storage, where its volumes are automatically replicated within its Availability Zone. Amazon EBS is designed to provide durable, detachable, block-level storage (which is like an external hard drive) for your Amazon EC2 instances. Because they are directly attached to the instances, they can provide low latency between where the data is stored and where it might be used on the instance. </a:t>
            </a:r>
          </a:p>
          <a:p>
            <a:r>
              <a:rPr lang="en-US" dirty="0"/>
              <a:t> </a:t>
            </a:r>
          </a:p>
          <a:p>
            <a:r>
              <a:rPr lang="en-US" dirty="0"/>
              <a:t>For this reason, they can be used to run a database with an Amazon EC2 instance. Amazon EBS volumes are included as part of the backup of your instances into Amazon Machine Images (or AMIs). AMIs are stored in Amazon S3 and can be reused to create new Amazon EC2 instances later.</a:t>
            </a:r>
          </a:p>
          <a:p>
            <a:endParaRPr lang="en-US" dirty="0"/>
          </a:p>
          <a:p>
            <a:r>
              <a:rPr lang="en-US" dirty="0"/>
              <a:t>A backup of an Amazon EBS volume is called a snapshot. The first snapshot is called the baseline snapshot. Any other snapshot after the baseline captures only what is different from the previous snapshot. </a:t>
            </a:r>
          </a:p>
          <a:p>
            <a:r>
              <a:rPr lang="en-US" dirty="0"/>
              <a:t> </a:t>
            </a:r>
          </a:p>
          <a:p>
            <a:r>
              <a:rPr lang="en-US" dirty="0"/>
              <a:t>Amazon EBS volumes uses include: </a:t>
            </a:r>
          </a:p>
          <a:p>
            <a:pPr marL="171450" lvl="0" indent="-171450">
              <a:buFont typeface="Arial" panose="020B0604020202020204" pitchFamily="34" charset="0"/>
              <a:buChar char="•"/>
            </a:pPr>
            <a:r>
              <a:rPr lang="en-US" dirty="0"/>
              <a:t>Boot volumes and storage for Amazon EC2 instances</a:t>
            </a:r>
          </a:p>
          <a:p>
            <a:pPr marL="171450" lvl="0" indent="-171450">
              <a:buFont typeface="Arial" panose="020B0604020202020204" pitchFamily="34" charset="0"/>
              <a:buChar char="•"/>
            </a:pPr>
            <a:r>
              <a:rPr lang="en-US" dirty="0"/>
              <a:t>Data storage with a file system</a:t>
            </a:r>
          </a:p>
          <a:p>
            <a:pPr marL="171450" lvl="0" indent="-171450">
              <a:buFont typeface="Arial" panose="020B0604020202020204" pitchFamily="34" charset="0"/>
              <a:buChar char="•"/>
            </a:pPr>
            <a:r>
              <a:rPr lang="en-US" dirty="0"/>
              <a:t>Database hosts</a:t>
            </a:r>
          </a:p>
          <a:p>
            <a:pPr marL="171450" lvl="0" indent="-171450">
              <a:buFont typeface="Arial" panose="020B0604020202020204" pitchFamily="34" charset="0"/>
              <a:buChar char="•"/>
            </a:pPr>
            <a:r>
              <a:rPr lang="en-US" dirty="0"/>
              <a:t>Enterprise applications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47F4513-630C-07EA-249F-A05941447839}"/>
              </a:ext>
            </a:extLst>
          </p:cNvPr>
          <p:cNvSpPr>
            <a:spLocks noGrp="1"/>
          </p:cNvSpPr>
          <p:nvPr>
            <p:ph type="sldNum" sz="quarter" idx="5"/>
          </p:nvPr>
        </p:nvSpPr>
        <p:spPr/>
        <p:txBody>
          <a:bodyPr/>
          <a:lstStyle/>
          <a:p>
            <a:fld id="{8ED22064-3AC2-4A29-A7DB-87C96F577F71}" type="slidenum">
              <a:rPr lang="en-ID" smtClean="0"/>
              <a:t>6</a:t>
            </a:fld>
            <a:endParaRPr lang="en-ID"/>
          </a:p>
        </p:txBody>
      </p:sp>
    </p:spTree>
    <p:extLst>
      <p:ext uri="{BB962C8B-B14F-4D97-AF65-F5344CB8AC3E}">
        <p14:creationId xmlns:p14="http://schemas.microsoft.com/office/powerpoint/2010/main" val="2057585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2B6D-EB37-6CAF-3CA8-092A1A340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C05B8-DBA8-347C-57E2-1A43268FE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67388-8E73-3B13-6667-BF65BCD86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339CBA-3C9B-D7EA-2635-8DB59A65D90C}"/>
              </a:ext>
            </a:extLst>
          </p:cNvPr>
          <p:cNvSpPr>
            <a:spLocks noGrp="1"/>
          </p:cNvSpPr>
          <p:nvPr>
            <p:ph type="sldNum" sz="quarter" idx="5"/>
          </p:nvPr>
        </p:nvSpPr>
        <p:spPr/>
        <p:txBody>
          <a:bodyPr/>
          <a:lstStyle/>
          <a:p>
            <a:fld id="{8ED22064-3AC2-4A29-A7DB-87C96F577F71}" type="slidenum">
              <a:rPr lang="en-ID" smtClean="0"/>
              <a:t>7</a:t>
            </a:fld>
            <a:endParaRPr lang="en-ID"/>
          </a:p>
        </p:txBody>
      </p:sp>
    </p:spTree>
    <p:extLst>
      <p:ext uri="{BB962C8B-B14F-4D97-AF65-F5344CB8AC3E}">
        <p14:creationId xmlns:p14="http://schemas.microsoft.com/office/powerpoint/2010/main" val="3888377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924E-15E4-63D7-8ADB-22068132B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F8901-E944-F848-6460-855732FE7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61E2E-AAA5-A64E-28C7-28091BEA1C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E7705D-F2E6-3AB6-C840-8DF0A6272672}"/>
              </a:ext>
            </a:extLst>
          </p:cNvPr>
          <p:cNvSpPr>
            <a:spLocks noGrp="1"/>
          </p:cNvSpPr>
          <p:nvPr>
            <p:ph type="sldNum" sz="quarter" idx="5"/>
          </p:nvPr>
        </p:nvSpPr>
        <p:spPr/>
        <p:txBody>
          <a:bodyPr/>
          <a:lstStyle/>
          <a:p>
            <a:fld id="{8ED22064-3AC2-4A29-A7DB-87C96F577F71}" type="slidenum">
              <a:rPr lang="en-ID" smtClean="0"/>
              <a:t>8</a:t>
            </a:fld>
            <a:endParaRPr lang="en-ID"/>
          </a:p>
        </p:txBody>
      </p:sp>
    </p:spTree>
    <p:extLst>
      <p:ext uri="{BB962C8B-B14F-4D97-AF65-F5344CB8AC3E}">
        <p14:creationId xmlns:p14="http://schemas.microsoft.com/office/powerpoint/2010/main" val="3213147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FCFC1-F650-DA78-F6C5-775D327C4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16480-B90F-9ABA-A36E-808A0F9E0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2024E-EB09-2997-0684-54467E26A36C}"/>
              </a:ext>
            </a:extLst>
          </p:cNvPr>
          <p:cNvSpPr>
            <a:spLocks noGrp="1"/>
          </p:cNvSpPr>
          <p:nvPr>
            <p:ph type="body" idx="1"/>
          </p:nvPr>
        </p:nvSpPr>
        <p:spPr/>
        <p:txBody>
          <a:bodyPr/>
          <a:lstStyle/>
          <a:p>
            <a:r>
              <a:rPr lang="en-US" dirty="0"/>
              <a:t>To provide an even higher level of data durability, Amazon EBS enables you to create </a:t>
            </a:r>
            <a:r>
              <a:rPr lang="en-US" b="1" dirty="0"/>
              <a:t>point-in-time</a:t>
            </a:r>
            <a:r>
              <a:rPr lang="en-US" dirty="0"/>
              <a:t> snapshots of your volumes, and you can re-create a new volume from a snapshot at any time. You can also share snapshots or even copy snapshots to different AWS Regions for even greater </a:t>
            </a:r>
            <a:r>
              <a:rPr lang="en-US" b="1" dirty="0"/>
              <a:t>disaster recovery (DR) protection</a:t>
            </a:r>
            <a:r>
              <a:rPr lang="en-US" dirty="0"/>
              <a:t>. For example, you can encrypt and share your snapshots from Virginia in the US to Tokyo, Japan. </a:t>
            </a:r>
          </a:p>
          <a:p>
            <a:endParaRPr lang="en-US" dirty="0"/>
          </a:p>
          <a:p>
            <a:pPr lvl="0"/>
            <a:r>
              <a:rPr lang="en-US" dirty="0"/>
              <a:t>You can also have encrypted Amazon EBS volumes at no additional cost, so the data that moves between the EC2 instance and the EBS volume inside AWS data centers is encrypted in transit. </a:t>
            </a:r>
          </a:p>
          <a:p>
            <a:pPr lvl="0"/>
            <a:r>
              <a:rPr lang="en-US" dirty="0"/>
              <a:t> </a:t>
            </a:r>
          </a:p>
          <a:p>
            <a:pPr lvl="0"/>
            <a:r>
              <a:rPr lang="en-US" dirty="0"/>
              <a:t>As your company grows, the amount of data that is stored on your Amazon EBS volumes is also likely to grow. Amazon EBS volumes can increase capacity and change to different types, so you can change from hard disk drives (HDDs) to solid state drives (SSDs) or increase from a 50-GB volume to a 16-TB volume. For example, you can do this resize operation dynamically without needing to stop the instances. </a:t>
            </a:r>
          </a:p>
          <a:p>
            <a:endParaRPr lang="en-US" dirty="0"/>
          </a:p>
        </p:txBody>
      </p:sp>
      <p:sp>
        <p:nvSpPr>
          <p:cNvPr id="4" name="Slide Number Placeholder 3">
            <a:extLst>
              <a:ext uri="{FF2B5EF4-FFF2-40B4-BE49-F238E27FC236}">
                <a16:creationId xmlns:a16="http://schemas.microsoft.com/office/drawing/2014/main" id="{6AD7ACE7-FC61-4CAB-1042-A65DB78A585E}"/>
              </a:ext>
            </a:extLst>
          </p:cNvPr>
          <p:cNvSpPr>
            <a:spLocks noGrp="1"/>
          </p:cNvSpPr>
          <p:nvPr>
            <p:ph type="sldNum" sz="quarter" idx="5"/>
          </p:nvPr>
        </p:nvSpPr>
        <p:spPr/>
        <p:txBody>
          <a:bodyPr/>
          <a:lstStyle/>
          <a:p>
            <a:fld id="{8ED22064-3AC2-4A29-A7DB-87C96F577F71}" type="slidenum">
              <a:rPr lang="en-ID" smtClean="0"/>
              <a:t>9</a:t>
            </a:fld>
            <a:endParaRPr lang="en-ID"/>
          </a:p>
        </p:txBody>
      </p:sp>
    </p:spTree>
    <p:extLst>
      <p:ext uri="{BB962C8B-B14F-4D97-AF65-F5344CB8AC3E}">
        <p14:creationId xmlns:p14="http://schemas.microsoft.com/office/powerpoint/2010/main" val="3061998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982D5-6C3F-C3A5-7581-56EE33820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EAB5-716C-1294-98A9-E3B0BE5A0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3AA67-BE45-21DD-5806-B31D762C228A}"/>
              </a:ext>
            </a:extLst>
          </p:cNvPr>
          <p:cNvSpPr>
            <a:spLocks noGrp="1"/>
          </p:cNvSpPr>
          <p:nvPr>
            <p:ph type="body" idx="1"/>
          </p:nvPr>
        </p:nvSpPr>
        <p:spPr/>
        <p:txBody>
          <a:bodyPr/>
          <a:lstStyle/>
          <a:p>
            <a:pPr lvl="0"/>
            <a:r>
              <a:rPr lang="en-US" dirty="0"/>
              <a:t>When you begin to estimate the cost for Amazon EBS, you must consider the following:</a:t>
            </a:r>
          </a:p>
          <a:p>
            <a:pPr marL="228600" lvl="0" indent="-228600">
              <a:buFont typeface="+mj-lt"/>
              <a:buAutoNum type="arabicPeriod"/>
            </a:pPr>
            <a:r>
              <a:rPr lang="en-US" b="1" dirty="0"/>
              <a:t>Volumes</a:t>
            </a:r>
            <a:r>
              <a:rPr lang="en-US" dirty="0"/>
              <a:t> – Volume storage for all Amazon EBS volume types is charged by the amount you provision in GB per month, until you release the storage. </a:t>
            </a:r>
          </a:p>
          <a:p>
            <a:pPr marL="228600" lvl="0" indent="-228600">
              <a:buFont typeface="+mj-lt"/>
              <a:buAutoNum type="arabicPeriod"/>
            </a:pPr>
            <a:r>
              <a:rPr lang="en-US" b="1" dirty="0"/>
              <a:t>IOPS</a:t>
            </a:r>
            <a:r>
              <a:rPr lang="en-US" dirty="0"/>
              <a:t> – I/O is included in the price of General Purpose SSD volumes. However, for Amazon EBS magnetic volumes, I/O is charged by the number of requests that you make to your volume. With Provisioned IOPS SSD volumes, you are also charged by the amount you provision in IOPS (multiplied by the percentage of days that you provision for the month). </a:t>
            </a:r>
          </a:p>
          <a:p>
            <a:endParaRPr lang="en-US" dirty="0"/>
          </a:p>
        </p:txBody>
      </p:sp>
      <p:sp>
        <p:nvSpPr>
          <p:cNvPr id="4" name="Slide Number Placeholder 3">
            <a:extLst>
              <a:ext uri="{FF2B5EF4-FFF2-40B4-BE49-F238E27FC236}">
                <a16:creationId xmlns:a16="http://schemas.microsoft.com/office/drawing/2014/main" id="{467AC2E2-CBB0-D9F9-825F-B0991F25C237}"/>
              </a:ext>
            </a:extLst>
          </p:cNvPr>
          <p:cNvSpPr>
            <a:spLocks noGrp="1"/>
          </p:cNvSpPr>
          <p:nvPr>
            <p:ph type="sldNum" sz="quarter" idx="5"/>
          </p:nvPr>
        </p:nvSpPr>
        <p:spPr/>
        <p:txBody>
          <a:bodyPr/>
          <a:lstStyle/>
          <a:p>
            <a:fld id="{8ED22064-3AC2-4A29-A7DB-87C96F577F71}" type="slidenum">
              <a:rPr lang="en-ID" smtClean="0"/>
              <a:t>10</a:t>
            </a:fld>
            <a:endParaRPr lang="en-ID"/>
          </a:p>
        </p:txBody>
      </p:sp>
    </p:spTree>
    <p:extLst>
      <p:ext uri="{BB962C8B-B14F-4D97-AF65-F5344CB8AC3E}">
        <p14:creationId xmlns:p14="http://schemas.microsoft.com/office/powerpoint/2010/main" val="2926642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81D0A-EC2E-B972-3AF2-BD8D5C69F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6E533-80CC-3B2E-736C-F935AEA5E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3BB22-6EA9-47BF-2ECD-00C10311D39E}"/>
              </a:ext>
            </a:extLst>
          </p:cNvPr>
          <p:cNvSpPr>
            <a:spLocks noGrp="1"/>
          </p:cNvSpPr>
          <p:nvPr>
            <p:ph type="body" idx="1"/>
          </p:nvPr>
        </p:nvSpPr>
        <p:spPr/>
        <p:txBody>
          <a:bodyPr/>
          <a:lstStyle/>
          <a:p>
            <a:pPr marL="228600" lvl="0" indent="-228600">
              <a:buFont typeface="+mj-lt"/>
              <a:buAutoNum type="arabicPeriod" startAt="3"/>
            </a:pPr>
            <a:r>
              <a:rPr lang="en-US" b="1" dirty="0"/>
              <a:t>Snapshots</a:t>
            </a:r>
            <a:r>
              <a:rPr lang="en-US" dirty="0"/>
              <a:t> – Amazon EBS enables you to back up snapshots of your data to Amazon S3 for durable recovery. If you opt for Amazon EBS snapshots, the added cost is per GB-month of data stored. </a:t>
            </a:r>
          </a:p>
          <a:p>
            <a:pPr marL="228600" lvl="0" indent="-228600">
              <a:buFont typeface="+mj-lt"/>
              <a:buAutoNum type="arabicPeriod" startAt="3"/>
            </a:pPr>
            <a:r>
              <a:rPr lang="en-US" b="1" dirty="0"/>
              <a:t>Data transfer </a:t>
            </a:r>
            <a:r>
              <a:rPr lang="en-US" dirty="0"/>
              <a:t>– When you copy Amazon EBS snapshots, you are charged for the data that is transferred across Regions. After the snapshot is copied, standard Amazon EBS snapshot charges apply for storage in the destination Region.</a:t>
            </a:r>
          </a:p>
          <a:p>
            <a:endParaRPr lang="en-US" dirty="0"/>
          </a:p>
          <a:p>
            <a:endParaRPr lang="en-US" dirty="0"/>
          </a:p>
        </p:txBody>
      </p:sp>
      <p:sp>
        <p:nvSpPr>
          <p:cNvPr id="4" name="Slide Number Placeholder 3">
            <a:extLst>
              <a:ext uri="{FF2B5EF4-FFF2-40B4-BE49-F238E27FC236}">
                <a16:creationId xmlns:a16="http://schemas.microsoft.com/office/drawing/2014/main" id="{6BE3D1D6-537C-76FF-D062-74831604E4E4}"/>
              </a:ext>
            </a:extLst>
          </p:cNvPr>
          <p:cNvSpPr>
            <a:spLocks noGrp="1"/>
          </p:cNvSpPr>
          <p:nvPr>
            <p:ph type="sldNum" sz="quarter" idx="5"/>
          </p:nvPr>
        </p:nvSpPr>
        <p:spPr/>
        <p:txBody>
          <a:bodyPr/>
          <a:lstStyle/>
          <a:p>
            <a:fld id="{8ED22064-3AC2-4A29-A7DB-87C96F577F71}" type="slidenum">
              <a:rPr lang="en-ID" smtClean="0"/>
              <a:t>11</a:t>
            </a:fld>
            <a:endParaRPr lang="en-ID"/>
          </a:p>
        </p:txBody>
      </p:sp>
    </p:spTree>
    <p:extLst>
      <p:ext uri="{BB962C8B-B14F-4D97-AF65-F5344CB8AC3E}">
        <p14:creationId xmlns:p14="http://schemas.microsoft.com/office/powerpoint/2010/main" val="1152494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B75A2-FCDD-88D6-2128-0B3F22F6B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25BD8-4BC4-DFB4-3DC5-8E7C5AF6B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D80C7-06BD-B0BE-9CE3-F10983BB9D1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Amazon S3 is a managed cloud storage solution that is designed to scale seamlessly and provide 11 9s</a:t>
            </a:r>
            <a:r>
              <a:rPr lang="en-US" sz="1200" b="0" i="0" kern="1200" baseline="0" dirty="0">
                <a:solidFill>
                  <a:schemeClr val="tx1"/>
                </a:solidFill>
                <a:effectLst/>
                <a:latin typeface="+mn-lt"/>
                <a:ea typeface="+mn-ea"/>
                <a:cs typeface="+mn-cs"/>
              </a:rPr>
              <a:t> of </a:t>
            </a:r>
            <a:r>
              <a:rPr lang="en-US" sz="1200" b="0" i="0" kern="1200" dirty="0">
                <a:solidFill>
                  <a:schemeClr val="tx1"/>
                </a:solidFill>
                <a:effectLst/>
                <a:latin typeface="+mn-lt"/>
                <a:ea typeface="+mn-ea"/>
                <a:cs typeface="+mn-cs"/>
              </a:rPr>
              <a:t>durability. You can store virtually as many objects as you want in a bucket, and you can write, read, and delete objects in your bucket. Bucket names are universal and must be unique across all existing bucket names in Amazon S3. Objects can be up to 5 TB in size. By default, data in Amazon S3 is stored redundantly across multiple facilities and multiple devices in each facility.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data that you store in Amazon S3 is not associated with any particular server, and you do not need manage any infrastructure yourself. You can put as many objects into Amazon S3 as you want. Amazon S3 holds trillions of objects and regularly peaks at millions of requests per second.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Objects can be almost any data file, such as images, videos, or server logs. Because Amazon S3 supports objects as large as several terabytes in size, you can even store database snapshots as objects. Amazon S3 also provides low-latency access to the data over the internet by </a:t>
            </a:r>
            <a:r>
              <a:rPr lang="en-US" sz="1200" b="0" i="0" u="none" strike="noStrike" kern="1200" dirty="0">
                <a:solidFill>
                  <a:schemeClr val="tx1"/>
                </a:solidFill>
                <a:effectLst/>
                <a:latin typeface="+mn-lt"/>
                <a:ea typeface="+mn-ea"/>
                <a:cs typeface="+mn-cs"/>
              </a:rPr>
              <a:t>Hypertext Transfer Protocol (</a:t>
            </a:r>
            <a:r>
              <a:rPr lang="en-US" sz="1200" b="0" i="0" kern="1200" dirty="0">
                <a:solidFill>
                  <a:schemeClr val="tx1"/>
                </a:solidFill>
                <a:effectLst/>
                <a:latin typeface="+mn-lt"/>
                <a:ea typeface="+mn-ea"/>
                <a:cs typeface="+mn-cs"/>
              </a:rPr>
              <a:t>HTTP) or </a:t>
            </a:r>
            <a:r>
              <a:rPr lang="en-US" sz="1200" b="0" i="0" u="none" strike="noStrike" kern="1200" dirty="0">
                <a:solidFill>
                  <a:schemeClr val="tx1"/>
                </a:solidFill>
                <a:effectLst/>
                <a:latin typeface="+mn-lt"/>
                <a:ea typeface="+mn-ea"/>
                <a:cs typeface="+mn-cs"/>
              </a:rPr>
              <a:t>Secure</a:t>
            </a:r>
            <a:r>
              <a:rPr lang="en-US" sz="1200" b="0" i="0" u="none" strike="noStrike" kern="1200" baseline="0" dirty="0">
                <a:solidFill>
                  <a:schemeClr val="tx1"/>
                </a:solidFill>
                <a:effectLst/>
                <a:latin typeface="+mn-lt"/>
                <a:ea typeface="+mn-ea"/>
                <a:cs typeface="+mn-cs"/>
              </a:rPr>
              <a:t> HTTP </a:t>
            </a:r>
            <a:r>
              <a:rPr lang="en-US" sz="1200" b="0"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HTTPS), so you can retrieve data anytime from anywhere. You can also access Amazon S3 privately through a virtual private cloud (VPC) endpoint. You get fine-grained control over who can access your data by using AWS Identity and Access Management (IAM) policies, Amazon S3 bucket policies, and even per-object access control lists.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 default, none of your data is shared publicly. You can also encrypt your data in transit and choose to enable server-side encryption on your objects. </a:t>
            </a:r>
          </a:p>
          <a:p>
            <a:r>
              <a:rPr lang="en-US" sz="1200" b="0" i="0" kern="1200" dirty="0">
                <a:solidFill>
                  <a:schemeClr val="tx1"/>
                </a:solidFill>
                <a:effectLst/>
                <a:latin typeface="+mn-lt"/>
                <a:ea typeface="+mn-ea"/>
                <a:cs typeface="+mn-cs"/>
              </a:rPr>
              <a:t>You can access Amazon S3 through the web-based AWS Management Console; programmatically through the API and SDKs;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or with third-party solutions, which use the API</a:t>
            </a:r>
            <a:r>
              <a:rPr lang="en-US" sz="1200" b="0" i="0" kern="1200" baseline="0" dirty="0">
                <a:solidFill>
                  <a:schemeClr val="tx1"/>
                </a:solidFill>
                <a:effectLst/>
                <a:latin typeface="+mn-lt"/>
                <a:ea typeface="+mn-ea"/>
                <a:cs typeface="+mn-cs"/>
              </a:rPr>
              <a:t> or the </a:t>
            </a:r>
            <a:r>
              <a:rPr lang="en-US" sz="1200" b="0" i="0" kern="1200" dirty="0">
                <a:solidFill>
                  <a:schemeClr val="tx1"/>
                </a:solidFill>
                <a:effectLst/>
                <a:latin typeface="+mn-lt"/>
                <a:ea typeface="+mn-ea"/>
                <a:cs typeface="+mn-cs"/>
              </a:rPr>
              <a:t>SDKs.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Amazon S3 includes event notifications that enable you to set up automatic notifications when certain events occur, such as when an object is uploaded to a bucket or deleted from a specific bucket. Those notifications can be sent to you, or they can be used to trigger other processes, such as AWS Lambda functions.</a:t>
            </a:r>
          </a:p>
          <a:p>
            <a:r>
              <a:rPr lang="en-US" sz="1200" b="0" i="0" kern="1200" dirty="0">
                <a:solidFill>
                  <a:schemeClr val="tx1"/>
                </a:solidFill>
                <a:effectLst/>
                <a:latin typeface="+mn-lt"/>
                <a:ea typeface="+mn-ea"/>
                <a:cs typeface="+mn-cs"/>
              </a:rPr>
              <a:t>With storage class analysis, you can analyze storage access patterns and transition the right data to the right storage class.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Amazon S3 Analytics feature automatically identifies the optimal lifecycle policy to transition less frequently accessed storage to Amazon S3 Standard – Infrequent Access (Amazon S3 Standard-IA). You can configure a storage class analysis policy to monitor an entire bucket, a prefix, or an object tag. </a:t>
            </a:r>
          </a:p>
          <a:p>
            <a:r>
              <a:rPr lang="en-US" sz="1200" b="0" i="0" kern="1200" dirty="0">
                <a:solidFill>
                  <a:schemeClr val="tx1"/>
                </a:solidFill>
                <a:effectLst/>
                <a:latin typeface="+mn-lt"/>
                <a:ea typeface="+mn-ea"/>
                <a:cs typeface="+mn-cs"/>
              </a:rPr>
              <a:t>When an infrequent access pattern is observed, you can easily create a new lifecycle age policy that is based on the results. Storage class analysis also provides daily visualizations of your storage usage in the AWS Management Console. You can export them to an Amazon S3 bucket to analyze by using the business intelligence (BI) tools of your choice, such as Amazon </a:t>
            </a:r>
            <a:r>
              <a:rPr lang="en-US" sz="1200" b="0" i="0" kern="1200" dirty="0" err="1">
                <a:solidFill>
                  <a:schemeClr val="tx1"/>
                </a:solidFill>
                <a:effectLst/>
                <a:latin typeface="+mn-lt"/>
                <a:ea typeface="+mn-ea"/>
                <a:cs typeface="+mn-cs"/>
              </a:rPr>
              <a:t>QuickSight</a:t>
            </a:r>
            <a:r>
              <a:rPr lang="en-US" sz="1200" b="0" i="0" kern="1200" dirty="0">
                <a:solidFill>
                  <a:schemeClr val="tx1"/>
                </a:solidFill>
                <a:effectLst/>
                <a:latin typeface="+mn-lt"/>
                <a:ea typeface="+mn-ea"/>
                <a:cs typeface="+mn-cs"/>
              </a:rPr>
              <a:t>.</a:t>
            </a:r>
          </a:p>
          <a:p>
            <a:endParaRPr lang="en-US" sz="1800" dirty="0"/>
          </a:p>
          <a:p>
            <a:endParaRPr lang="en-ID" dirty="0"/>
          </a:p>
          <a:p>
            <a:endParaRPr lang="en-US" dirty="0"/>
          </a:p>
        </p:txBody>
      </p:sp>
      <p:sp>
        <p:nvSpPr>
          <p:cNvPr id="4" name="Slide Number Placeholder 3">
            <a:extLst>
              <a:ext uri="{FF2B5EF4-FFF2-40B4-BE49-F238E27FC236}">
                <a16:creationId xmlns:a16="http://schemas.microsoft.com/office/drawing/2014/main" id="{0BB2E5A1-42A2-51CB-31C5-36094CEA6AD3}"/>
              </a:ext>
            </a:extLst>
          </p:cNvPr>
          <p:cNvSpPr>
            <a:spLocks noGrp="1"/>
          </p:cNvSpPr>
          <p:nvPr>
            <p:ph type="sldNum" sz="quarter" idx="5"/>
          </p:nvPr>
        </p:nvSpPr>
        <p:spPr/>
        <p:txBody>
          <a:bodyPr/>
          <a:lstStyle/>
          <a:p>
            <a:fld id="{8ED22064-3AC2-4A29-A7DB-87C96F577F71}" type="slidenum">
              <a:rPr lang="en-ID" smtClean="0"/>
              <a:t>13</a:t>
            </a:fld>
            <a:endParaRPr lang="en-ID"/>
          </a:p>
        </p:txBody>
      </p:sp>
    </p:spTree>
    <p:extLst>
      <p:ext uri="{BB962C8B-B14F-4D97-AF65-F5344CB8AC3E}">
        <p14:creationId xmlns:p14="http://schemas.microsoft.com/office/powerpoint/2010/main" val="2789053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6B361-BD37-B0F3-C0D2-4604B5C4E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12352-6639-E2C0-7EC8-C0B7D41FA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41C67-F139-D3E6-24F4-FCC09F0F8DEF}"/>
              </a:ext>
            </a:extLst>
          </p:cNvPr>
          <p:cNvSpPr>
            <a:spLocks noGrp="1"/>
          </p:cNvSpPr>
          <p:nvPr>
            <p:ph type="body" idx="1"/>
          </p:nvPr>
        </p:nvSpPr>
        <p:spPr/>
        <p:txBody>
          <a:bodyPr/>
          <a:lstStyle/>
          <a:p>
            <a:r>
              <a:rPr lang="en-US" sz="1200" dirty="0"/>
              <a:t>Amazon S3 offers a range of object-level storage classes that are designed for different use cases. These classes include:</a:t>
            </a:r>
          </a:p>
          <a:p>
            <a:endParaRPr lang="en-US" sz="1200" b="0" i="0" kern="1200" dirty="0">
              <a:solidFill>
                <a:schemeClr val="tx1"/>
              </a:solidFill>
              <a:effectLst/>
              <a:ea typeface="+mn-ea"/>
              <a:cs typeface="+mn-cs"/>
            </a:endParaRPr>
          </a:p>
          <a:p>
            <a:pPr marL="171450" indent="-171450">
              <a:buFont typeface="Arial" panose="020B0604020202020204" pitchFamily="34" charset="0"/>
              <a:buChar char="•"/>
            </a:pPr>
            <a:r>
              <a:rPr lang="en-US" sz="1200" b="1" i="0" kern="1200" dirty="0">
                <a:solidFill>
                  <a:schemeClr val="tx1"/>
                </a:solidFill>
                <a:effectLst/>
                <a:ea typeface="+mn-ea"/>
                <a:cs typeface="+mn-cs"/>
              </a:rPr>
              <a:t>Amazon S3 Standard</a:t>
            </a:r>
            <a:r>
              <a:rPr lang="en-US" sz="1200" b="0" i="0" kern="1200" dirty="0">
                <a:solidFill>
                  <a:schemeClr val="tx1"/>
                </a:solidFill>
                <a:effectLst/>
                <a:ea typeface="+mn-ea"/>
                <a:cs typeface="+mn-cs"/>
              </a:rPr>
              <a:t> – </a:t>
            </a:r>
            <a:r>
              <a:rPr lang="en-US" sz="1200" dirty="0"/>
              <a:t>Amazon S3 Standard is designed for high durability, availability, and performance object storage for frequently accessed data. Because it delivers low latency and high throughput, Amazon S3 Standard is appropriate for a variety of use cases, including cloud applications, dynamic websites, content distribution, mobile and gaming applications, and big data analytics.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i="0" kern="1200" dirty="0">
                <a:solidFill>
                  <a:schemeClr val="tx1"/>
                </a:solidFill>
                <a:effectLst/>
                <a:ea typeface="+mn-ea"/>
                <a:cs typeface="+mn-cs"/>
              </a:rPr>
              <a:t>Amazon S3 Intelligent-Tiering</a:t>
            </a:r>
            <a:r>
              <a:rPr lang="en-US" sz="1200" b="0" i="0" kern="1200" dirty="0">
                <a:solidFill>
                  <a:schemeClr val="tx1"/>
                </a:solidFill>
                <a:effectLst/>
                <a:ea typeface="+mn-ea"/>
                <a:cs typeface="+mn-cs"/>
              </a:rPr>
              <a:t> – </a:t>
            </a:r>
            <a:r>
              <a:rPr lang="en-US" sz="1200" dirty="0"/>
              <a:t>The Amazon S3 Intelligent-Tiering storage class is designed to optimize costs by automatically moving data to the most cost-effective access tier, without performance impact or operational overhead. For a small monthly monitoring and automation fee per object, Amazon S3 monitors access patterns of the objects in Amazon S3 Intelligent-Tiering, and moves the objects that have not been accessed for 30 consecutive days to the infrequent access tier. If an object in the infrequent access tier is accessed, it is automatically moved back to the frequent access tier. There are no retrieval fees when you use the Amazon S3 Intelligent-Tiering storage class, and no additional fees when objects are moved between access tiers. It works</a:t>
            </a:r>
            <a:r>
              <a:rPr lang="en-US" sz="1200" baseline="0" dirty="0"/>
              <a:t> well </a:t>
            </a:r>
            <a:r>
              <a:rPr lang="en-US" sz="1200" dirty="0"/>
              <a:t>for long-lived data with access patterns that are unknown or unpredictable.</a:t>
            </a:r>
          </a:p>
          <a:p>
            <a:pPr marL="171450" indent="-171450">
              <a:buFont typeface="Arial" panose="020B0604020202020204" pitchFamily="34" charset="0"/>
              <a:buChar char="•"/>
            </a:pPr>
            <a:endParaRPr lang="en-US" sz="1200" b="1" i="0" kern="1200" dirty="0">
              <a:solidFill>
                <a:schemeClr val="tx1"/>
              </a:solidFill>
              <a:effectLst/>
              <a:ea typeface="+mn-ea"/>
              <a:cs typeface="+mn-cs"/>
            </a:endParaRPr>
          </a:p>
          <a:p>
            <a:pPr marL="171450" indent="-171450">
              <a:buFont typeface="Arial" panose="020B0604020202020204" pitchFamily="34" charset="0"/>
              <a:buChar char="•"/>
            </a:pPr>
            <a:r>
              <a:rPr lang="en-US" sz="1200" b="1" i="0" kern="1200" dirty="0">
                <a:solidFill>
                  <a:schemeClr val="tx1"/>
                </a:solidFill>
                <a:effectLst/>
                <a:ea typeface="+mn-ea"/>
                <a:cs typeface="+mn-cs"/>
              </a:rPr>
              <a:t>Amazon S3 Standard-Infrequent Access (Amazon S3</a:t>
            </a:r>
            <a:r>
              <a:rPr lang="en-US" sz="1200" b="1" i="0" kern="1200" baseline="0" dirty="0">
                <a:solidFill>
                  <a:schemeClr val="tx1"/>
                </a:solidFill>
                <a:effectLst/>
                <a:ea typeface="+mn-ea"/>
                <a:cs typeface="+mn-cs"/>
              </a:rPr>
              <a:t> Standard-IA</a:t>
            </a:r>
            <a:r>
              <a:rPr lang="en-US" sz="1200" b="1" i="0" kern="1200" dirty="0">
                <a:solidFill>
                  <a:schemeClr val="tx1"/>
                </a:solidFill>
                <a:effectLst/>
                <a:ea typeface="+mn-ea"/>
                <a:cs typeface="+mn-cs"/>
              </a:rPr>
              <a:t>)</a:t>
            </a:r>
            <a:r>
              <a:rPr lang="en-US" sz="1200" b="0" i="0" kern="1200" dirty="0">
                <a:solidFill>
                  <a:schemeClr val="tx1"/>
                </a:solidFill>
                <a:effectLst/>
                <a:ea typeface="+mn-ea"/>
                <a:cs typeface="+mn-cs"/>
              </a:rPr>
              <a:t> – The </a:t>
            </a:r>
            <a:r>
              <a:rPr lang="en-US" sz="1200" dirty="0"/>
              <a:t>Amazon S3 Standard-IA storage class is used for data that is accessed less frequently, but requires rapid access when needed. Amazon S3 Standard-IA is designed to provide the high durability, high throughput, and low latency of Amazon S3 Standard, with a low per-GB storage price and per-GB retrieval fee. This combination of low cost and high performance makes Amazon S3 Standard-IA good for long-term storage</a:t>
            </a:r>
            <a:r>
              <a:rPr lang="en-US" sz="1200" baseline="0" dirty="0"/>
              <a:t> and</a:t>
            </a:r>
            <a:r>
              <a:rPr lang="en-US" sz="1200" dirty="0"/>
              <a:t> backups, and as a data store for disaster recovery files. </a:t>
            </a:r>
            <a:endParaRPr lang="en-US" sz="1200" b="0" i="0" kern="1200" dirty="0">
              <a:solidFill>
                <a:schemeClr val="tx1"/>
              </a:solidFill>
              <a:effectLst/>
              <a:ea typeface="+mn-ea"/>
              <a:cs typeface="+mn-cs"/>
            </a:endParaRPr>
          </a:p>
          <a:p>
            <a:pPr marL="0" indent="0">
              <a:buFont typeface="Arial" panose="020B0604020202020204" pitchFamily="34" charset="0"/>
              <a:buNone/>
            </a:pPr>
            <a:endParaRPr lang="en-US" sz="1200" b="0" i="0" kern="1200" dirty="0">
              <a:solidFill>
                <a:schemeClr val="tx1"/>
              </a:solidFill>
              <a:effectLst/>
              <a:ea typeface="+mn-ea"/>
              <a:cs typeface="+mn-cs"/>
            </a:endParaRPr>
          </a:p>
          <a:p>
            <a:pPr marL="171450" indent="-171450">
              <a:buFont typeface="Arial" panose="020B0604020202020204" pitchFamily="34" charset="0"/>
              <a:buChar char="•"/>
            </a:pPr>
            <a:r>
              <a:rPr lang="en-US" sz="1200" b="1" i="0" kern="1200" dirty="0">
                <a:solidFill>
                  <a:schemeClr val="tx1"/>
                </a:solidFill>
                <a:effectLst/>
                <a:ea typeface="+mn-ea"/>
                <a:cs typeface="+mn-cs"/>
              </a:rPr>
              <a:t>Amazon S3 One Zone-Infrequent Access (Amazon S3 One Zone-IA)</a:t>
            </a:r>
            <a:r>
              <a:rPr lang="en-US" sz="1200" b="0" i="0" kern="1200" dirty="0">
                <a:solidFill>
                  <a:schemeClr val="tx1"/>
                </a:solidFill>
                <a:effectLst/>
                <a:ea typeface="+mn-ea"/>
                <a:cs typeface="+mn-cs"/>
              </a:rPr>
              <a:t> – </a:t>
            </a:r>
            <a:r>
              <a:rPr lang="en-US" sz="1200" dirty="0"/>
              <a:t>Amazon S3 One Zone-IA is for data that is accessed less frequently, but requires rapid access when needed. Unlike other Amazon S3 storage classes, which store data in a minimum of three Availability Zones,</a:t>
            </a:r>
            <a:r>
              <a:rPr lang="en-US" sz="1200" baseline="0" dirty="0"/>
              <a:t> </a:t>
            </a:r>
            <a:r>
              <a:rPr lang="en-US" sz="1200" dirty="0"/>
              <a:t>Amazon S3 One Zone-IA stores data in a single Availability Zone and it costs less than Amazon S3 Standard-IA. Amazon S3 One Zone-IA works</a:t>
            </a:r>
            <a:r>
              <a:rPr lang="en-US" sz="1200" baseline="0" dirty="0"/>
              <a:t> well </a:t>
            </a:r>
            <a:r>
              <a:rPr lang="en-US" sz="1200" dirty="0"/>
              <a:t>for customers who want a lower-cost option for infrequently accessed data,</a:t>
            </a:r>
            <a:r>
              <a:rPr lang="en-US" sz="1200" baseline="0" dirty="0"/>
              <a:t> </a:t>
            </a:r>
            <a:r>
              <a:rPr lang="en-US" sz="1200" dirty="0"/>
              <a:t>but do not require the availability and resilience of Amazon S3 Standard or Amazon S3 Standard-IA. It is a good choice for storing secondary backup copies of on-premises data or easily re-creatable data. You can also use it as cost-effective storage for data that is replicated from another AWS Region by using Amazon S3 Cross-Region Replication.</a:t>
            </a:r>
          </a:p>
          <a:p>
            <a:pPr marL="171450" indent="-171450">
              <a:buFont typeface="Arial" panose="020B0604020202020204" pitchFamily="34" charset="0"/>
              <a:buChar char="•"/>
            </a:pPr>
            <a:endParaRPr lang="en-US" sz="1200" b="0" i="0" kern="1200" dirty="0">
              <a:solidFill>
                <a:schemeClr val="tx1"/>
              </a:solidFill>
              <a:effectLst/>
              <a:ea typeface="+mn-ea"/>
              <a:cs typeface="+mn-cs"/>
            </a:endParaRPr>
          </a:p>
          <a:p>
            <a:pPr marL="171450" indent="-171450">
              <a:buFont typeface="Arial" panose="020B0604020202020204" pitchFamily="34" charset="0"/>
              <a:buChar char="•"/>
            </a:pPr>
            <a:r>
              <a:rPr lang="en-US" sz="1200" b="1" i="0" kern="1200" dirty="0">
                <a:solidFill>
                  <a:schemeClr val="tx1"/>
                </a:solidFill>
                <a:effectLst/>
                <a:ea typeface="+mn-ea"/>
                <a:cs typeface="+mn-cs"/>
              </a:rPr>
              <a:t>Amazon S3 Glacier</a:t>
            </a:r>
            <a:r>
              <a:rPr lang="en-US" sz="1200" b="0" i="0" kern="1200" dirty="0">
                <a:solidFill>
                  <a:schemeClr val="tx1"/>
                </a:solidFill>
                <a:effectLst/>
                <a:ea typeface="+mn-ea"/>
                <a:cs typeface="+mn-cs"/>
              </a:rPr>
              <a:t> – </a:t>
            </a:r>
            <a:r>
              <a:rPr lang="en-US" sz="1200" dirty="0"/>
              <a:t>Amazon S3 Glacier is a secure, durable, and low-cost storage class for data archiving. You can reliably store any amount of data at costs that are competitive with—or cheaper than—on-premises solutions. To keep costs low yet suitable for varying needs, Amazon S3 Glacier provides three retrieval options that range from a few minutes to hours. You can upload objects directly to Amazon S3 Glacier, or use Amazon S3 lifecycle policies to transfer data between any of the Amazon S3 storage classes for active data (Amazon S3 Standard, Amazon S3 Intelligent-Tiering, Amazon S3 Standard-IA, and Amazon S3 One Zone-IA) and Amazon S3 Glacier.</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kern="1200" dirty="0">
                <a:solidFill>
                  <a:schemeClr val="tx1"/>
                </a:solidFill>
                <a:effectLst/>
              </a:rPr>
              <a:t>Amazon S3 Glacier Deep</a:t>
            </a:r>
            <a:r>
              <a:rPr lang="en-US" sz="1200" b="1" kern="1200" baseline="0" dirty="0">
                <a:solidFill>
                  <a:schemeClr val="tx1"/>
                </a:solidFill>
                <a:effectLst/>
              </a:rPr>
              <a:t> Archive</a:t>
            </a:r>
            <a:r>
              <a:rPr lang="en-US" sz="1200" b="0" i="0" kern="1200" dirty="0">
                <a:solidFill>
                  <a:schemeClr val="tx1"/>
                </a:solidFill>
                <a:effectLst/>
                <a:ea typeface="+mn-ea"/>
                <a:cs typeface="+mn-cs"/>
              </a:rPr>
              <a:t> – </a:t>
            </a:r>
            <a:r>
              <a:rPr lang="en-US" sz="1200" dirty="0"/>
              <a:t>Amazon S3 Glacier Deep Archive is the lowest-cost storage class for Amazon S3.</a:t>
            </a:r>
            <a:r>
              <a:rPr lang="en-US" sz="1200" baseline="0" dirty="0"/>
              <a:t> I</a:t>
            </a:r>
            <a:r>
              <a:rPr lang="en-US" sz="1200" dirty="0"/>
              <a:t>t supports long-term retention and digital preservation for data that might be accessed once or twice in a year. It is designed for customers — particularly customers in highly regulated industries, such as financial services, healthcare, and public sectors — that retain datasets for 7–10 years (or</a:t>
            </a:r>
            <a:r>
              <a:rPr lang="en-US" sz="1200" baseline="0" dirty="0"/>
              <a:t> more) </a:t>
            </a:r>
            <a:r>
              <a:rPr lang="en-US" sz="1200" dirty="0"/>
              <a:t>to meet regulatory compliance requirements. Amazon S3 Glacier Deep Archive can also be used for backup and disaster recovery use cases.</a:t>
            </a:r>
            <a:r>
              <a:rPr lang="en-US" sz="1200" baseline="0" dirty="0"/>
              <a:t> I</a:t>
            </a:r>
            <a:r>
              <a:rPr lang="en-US" sz="1200" dirty="0"/>
              <a:t>t is a cost-effective and easy-to-manage alternative to magnetic tape systems, whether these</a:t>
            </a:r>
            <a:r>
              <a:rPr lang="en-US" sz="1200" baseline="0" dirty="0"/>
              <a:t> tape systems</a:t>
            </a:r>
            <a:r>
              <a:rPr lang="en-US" sz="1200" dirty="0"/>
              <a:t> are on-premises libraries or off-premises services. Amazon S3 Glacier Deep Archive complements Amazon S3 Glacier, and it is also designed to provide</a:t>
            </a:r>
            <a:r>
              <a:rPr lang="en-US" sz="1200" baseline="0" dirty="0"/>
              <a:t> 11 9s of durability</a:t>
            </a:r>
            <a:r>
              <a:rPr lang="en-US" sz="1200" dirty="0"/>
              <a:t>. All objects that are stored in Amazon S3 Glacier Deep Archive are replicated and stored across at least three geographically dispersed Availability Zones, and these objects</a:t>
            </a:r>
            <a:r>
              <a:rPr lang="en-US" sz="1200" baseline="0" dirty="0"/>
              <a:t> </a:t>
            </a:r>
            <a:r>
              <a:rPr lang="en-US" sz="1200" dirty="0"/>
              <a:t>can be restored within 12 hours.</a:t>
            </a:r>
          </a:p>
          <a:p>
            <a:endParaRPr lang="en-ID" dirty="0"/>
          </a:p>
          <a:p>
            <a:endParaRPr lang="en-US" dirty="0"/>
          </a:p>
        </p:txBody>
      </p:sp>
      <p:sp>
        <p:nvSpPr>
          <p:cNvPr id="4" name="Slide Number Placeholder 3">
            <a:extLst>
              <a:ext uri="{FF2B5EF4-FFF2-40B4-BE49-F238E27FC236}">
                <a16:creationId xmlns:a16="http://schemas.microsoft.com/office/drawing/2014/main" id="{4B29D06D-C971-D2F8-37A7-21EC610A6077}"/>
              </a:ext>
            </a:extLst>
          </p:cNvPr>
          <p:cNvSpPr>
            <a:spLocks noGrp="1"/>
          </p:cNvSpPr>
          <p:nvPr>
            <p:ph type="sldNum" sz="quarter" idx="5"/>
          </p:nvPr>
        </p:nvSpPr>
        <p:spPr/>
        <p:txBody>
          <a:bodyPr/>
          <a:lstStyle/>
          <a:p>
            <a:fld id="{8ED22064-3AC2-4A29-A7DB-87C96F577F71}" type="slidenum">
              <a:rPr lang="en-ID" smtClean="0"/>
              <a:t>14</a:t>
            </a:fld>
            <a:endParaRPr lang="en-ID"/>
          </a:p>
        </p:txBody>
      </p:sp>
    </p:spTree>
    <p:extLst>
      <p:ext uri="{BB962C8B-B14F-4D97-AF65-F5344CB8AC3E}">
        <p14:creationId xmlns:p14="http://schemas.microsoft.com/office/powerpoint/2010/main" val="392682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B59E-1CD2-F555-7925-04BB12816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E9C90-F740-66A8-D515-F16872FA7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212A3-6792-156F-A008-12751A8CBE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CA462A-ABCE-DF17-893C-7A926D11704C}"/>
              </a:ext>
            </a:extLst>
          </p:cNvPr>
          <p:cNvSpPr>
            <a:spLocks noGrp="1"/>
          </p:cNvSpPr>
          <p:nvPr>
            <p:ph type="sldNum" sz="quarter" idx="5"/>
          </p:nvPr>
        </p:nvSpPr>
        <p:spPr/>
        <p:txBody>
          <a:bodyPr/>
          <a:lstStyle/>
          <a:p>
            <a:fld id="{8ED22064-3AC2-4A29-A7DB-87C96F577F71}" type="slidenum">
              <a:rPr lang="en-ID" smtClean="0"/>
              <a:t>15</a:t>
            </a:fld>
            <a:endParaRPr lang="en-ID"/>
          </a:p>
        </p:txBody>
      </p:sp>
    </p:spTree>
    <p:extLst>
      <p:ext uri="{BB962C8B-B14F-4D97-AF65-F5344CB8AC3E}">
        <p14:creationId xmlns:p14="http://schemas.microsoft.com/office/powerpoint/2010/main" val="4250286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5F0F1-F82D-CB31-0513-DBA8B44A0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63E78-BCEF-2F04-D98E-9F24E9891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8EDA6-8D4B-2C5F-D446-C3048A5BDA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E1B82A-F008-307E-68AC-ACB70D7B938B}"/>
              </a:ext>
            </a:extLst>
          </p:cNvPr>
          <p:cNvSpPr>
            <a:spLocks noGrp="1"/>
          </p:cNvSpPr>
          <p:nvPr>
            <p:ph type="sldNum" sz="quarter" idx="5"/>
          </p:nvPr>
        </p:nvSpPr>
        <p:spPr/>
        <p:txBody>
          <a:bodyPr/>
          <a:lstStyle/>
          <a:p>
            <a:fld id="{8ED22064-3AC2-4A29-A7DB-87C96F577F71}" type="slidenum">
              <a:rPr lang="en-ID" smtClean="0"/>
              <a:t>16</a:t>
            </a:fld>
            <a:endParaRPr lang="en-ID"/>
          </a:p>
        </p:txBody>
      </p:sp>
    </p:spTree>
    <p:extLst>
      <p:ext uri="{BB962C8B-B14F-4D97-AF65-F5344CB8AC3E}">
        <p14:creationId xmlns:p14="http://schemas.microsoft.com/office/powerpoint/2010/main" val="3494708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6EFAC-E825-0D82-F079-CC9E2E7B5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3A6F2-723E-9BAC-BDD9-3B46CEE9F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F0F36-EACF-0373-BAEB-CF4365FC23C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This flexibility to store a virtually unlimited amount of data—and to access that data from anywhere—means</a:t>
            </a:r>
            <a:r>
              <a:rPr lang="en-US" sz="1200" kern="1200" baseline="0" dirty="0">
                <a:solidFill>
                  <a:schemeClr val="tx1"/>
                </a:solidFill>
                <a:effectLst/>
                <a:latin typeface="+mn-lt"/>
                <a:ea typeface="+mn-ea"/>
                <a:cs typeface="+mn-cs"/>
              </a:rPr>
              <a:t> that</a:t>
            </a:r>
            <a:r>
              <a:rPr lang="en-US" sz="1200" kern="1200" dirty="0">
                <a:solidFill>
                  <a:schemeClr val="tx1"/>
                </a:solidFill>
                <a:effectLst/>
                <a:latin typeface="+mn-lt"/>
                <a:ea typeface="+mn-ea"/>
                <a:cs typeface="+mn-cs"/>
              </a:rPr>
              <a:t>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is suitable for a variety of scenarios. You will now consider some use cases for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a:t>
            </a:r>
          </a:p>
          <a:p>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As a location for any application data, Amazon S3 buckets provide a shared location for storing objects that any instances of your application can access—including applications on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EC2 or even traditional servers. This feature can be useful for user-generated media files, server logs, or other files that your application must store in a common location. Also, because the content can be fetched directly over the internet, you can offload serving that content from your application and enable clients to directly fetch the data from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themselves.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For static web hosting,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buckets can serve the static contents of your website, including HTML, CSS, JavaScript, and other files.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high durability of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makes it a good candidate for storing backups of your data. For greater availability and disaster recovery capability,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can even be configured to support cross-Region replication so that data in an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bucket in one Region can be automatically replicated to another Amazon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S3 Region.</a:t>
            </a:r>
          </a:p>
          <a:p>
            <a:endParaRPr lang="en-ID" dirty="0"/>
          </a:p>
          <a:p>
            <a:endParaRPr lang="en-US" dirty="0"/>
          </a:p>
        </p:txBody>
      </p:sp>
      <p:sp>
        <p:nvSpPr>
          <p:cNvPr id="4" name="Slide Number Placeholder 3">
            <a:extLst>
              <a:ext uri="{FF2B5EF4-FFF2-40B4-BE49-F238E27FC236}">
                <a16:creationId xmlns:a16="http://schemas.microsoft.com/office/drawing/2014/main" id="{E86B32C7-D4B7-2FB8-84C2-D67EDE4B9118}"/>
              </a:ext>
            </a:extLst>
          </p:cNvPr>
          <p:cNvSpPr>
            <a:spLocks noGrp="1"/>
          </p:cNvSpPr>
          <p:nvPr>
            <p:ph type="sldNum" sz="quarter" idx="5"/>
          </p:nvPr>
        </p:nvSpPr>
        <p:spPr/>
        <p:txBody>
          <a:bodyPr/>
          <a:lstStyle/>
          <a:p>
            <a:fld id="{8ED22064-3AC2-4A29-A7DB-87C96F577F71}" type="slidenum">
              <a:rPr lang="en-ID" smtClean="0"/>
              <a:t>17</a:t>
            </a:fld>
            <a:endParaRPr lang="en-ID"/>
          </a:p>
        </p:txBody>
      </p:sp>
    </p:spTree>
    <p:extLst>
      <p:ext uri="{BB962C8B-B14F-4D97-AF65-F5344CB8AC3E}">
        <p14:creationId xmlns:p14="http://schemas.microsoft.com/office/powerpoint/2010/main" val="3739250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13020-40EA-160A-63EA-F90B38B39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3C15E-B582-B148-AC4B-FEADEFD81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AEC1F-4745-E7E9-5065-986A91F7F252}"/>
              </a:ext>
            </a:extLst>
          </p:cNvPr>
          <p:cNvSpPr>
            <a:spLocks noGrp="1"/>
          </p:cNvSpPr>
          <p:nvPr>
            <p:ph type="body" idx="1"/>
          </p:nvPr>
        </p:nvSpPr>
        <p:spPr/>
        <p:txBody>
          <a:bodyPr/>
          <a:lstStyle/>
          <a:p>
            <a:r>
              <a:rPr lang="en-US" sz="1200" b="1" dirty="0"/>
              <a:t>Backup and storage</a:t>
            </a:r>
            <a:r>
              <a:rPr lang="en-US" sz="1200" b="1" baseline="0" dirty="0"/>
              <a:t> – </a:t>
            </a:r>
            <a:r>
              <a:rPr lang="en-US" sz="1200" dirty="0"/>
              <a:t>Provide data backup and storage services for others</a:t>
            </a:r>
          </a:p>
          <a:p>
            <a:endParaRPr lang="en-US" sz="1200" dirty="0"/>
          </a:p>
          <a:p>
            <a:r>
              <a:rPr lang="en-US" sz="1200" b="1" dirty="0"/>
              <a:t>Application hosting</a:t>
            </a:r>
            <a:r>
              <a:rPr lang="en-US" sz="1200" b="1" baseline="0" dirty="0"/>
              <a:t> –</a:t>
            </a:r>
            <a:r>
              <a:rPr lang="en-US" sz="1200" dirty="0"/>
              <a:t> Provide services that deploy, install, and manage web applications</a:t>
            </a:r>
          </a:p>
          <a:p>
            <a:endParaRPr lang="en-US" sz="1200" dirty="0"/>
          </a:p>
          <a:p>
            <a:r>
              <a:rPr lang="en-US" sz="1200" b="1" dirty="0"/>
              <a:t>Media hosting</a:t>
            </a:r>
            <a:r>
              <a:rPr lang="en-US" sz="1200" b="1" baseline="0" dirty="0"/>
              <a:t> –</a:t>
            </a:r>
            <a:r>
              <a:rPr lang="en-US" sz="1200" dirty="0"/>
              <a:t> Build a redundant, scalable, and highly available infrastructure that hosts video, photo, or music uploads and downloads</a:t>
            </a:r>
          </a:p>
          <a:p>
            <a:endParaRPr lang="en-US" sz="1200" dirty="0"/>
          </a:p>
          <a:p>
            <a:r>
              <a:rPr lang="en-US" sz="1200" b="1" dirty="0"/>
              <a:t>Software delivery</a:t>
            </a:r>
            <a:r>
              <a:rPr lang="en-US" sz="1200" b="1" baseline="0" dirty="0"/>
              <a:t> – </a:t>
            </a:r>
            <a:r>
              <a:rPr lang="en-US" sz="1200" dirty="0"/>
              <a:t>Host your software applications that customers can download</a:t>
            </a:r>
          </a:p>
          <a:p>
            <a:r>
              <a:rPr lang="en-ID" dirty="0"/>
              <a:t>	</a:t>
            </a:r>
          </a:p>
          <a:p>
            <a:endParaRPr lang="en-US" dirty="0"/>
          </a:p>
        </p:txBody>
      </p:sp>
      <p:sp>
        <p:nvSpPr>
          <p:cNvPr id="4" name="Slide Number Placeholder 3">
            <a:extLst>
              <a:ext uri="{FF2B5EF4-FFF2-40B4-BE49-F238E27FC236}">
                <a16:creationId xmlns:a16="http://schemas.microsoft.com/office/drawing/2014/main" id="{C39EBC6D-7808-2FBE-42B1-89C99FFAC836}"/>
              </a:ext>
            </a:extLst>
          </p:cNvPr>
          <p:cNvSpPr>
            <a:spLocks noGrp="1"/>
          </p:cNvSpPr>
          <p:nvPr>
            <p:ph type="sldNum" sz="quarter" idx="5"/>
          </p:nvPr>
        </p:nvSpPr>
        <p:spPr/>
        <p:txBody>
          <a:bodyPr/>
          <a:lstStyle/>
          <a:p>
            <a:fld id="{8ED22064-3AC2-4A29-A7DB-87C96F577F71}" type="slidenum">
              <a:rPr lang="en-ID" smtClean="0"/>
              <a:t>18</a:t>
            </a:fld>
            <a:endParaRPr lang="en-ID"/>
          </a:p>
        </p:txBody>
      </p:sp>
    </p:spTree>
    <p:extLst>
      <p:ext uri="{BB962C8B-B14F-4D97-AF65-F5344CB8AC3E}">
        <p14:creationId xmlns:p14="http://schemas.microsoft.com/office/powerpoint/2010/main" val="2626268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7D6A-5A49-E6A6-856D-79B61F1A1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AB0C1-0788-7A93-43AD-0190088B8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7D171-1B62-7A8E-1A04-1EB7ABC76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4D9383-EF12-7C9F-0A4B-BD547ED7CDD2}"/>
              </a:ext>
            </a:extLst>
          </p:cNvPr>
          <p:cNvSpPr>
            <a:spLocks noGrp="1"/>
          </p:cNvSpPr>
          <p:nvPr>
            <p:ph type="sldNum" sz="quarter" idx="5"/>
          </p:nvPr>
        </p:nvSpPr>
        <p:spPr/>
        <p:txBody>
          <a:bodyPr/>
          <a:lstStyle/>
          <a:p>
            <a:fld id="{8ED22064-3AC2-4A29-A7DB-87C96F577F71}" type="slidenum">
              <a:rPr lang="en-ID" smtClean="0"/>
              <a:t>19</a:t>
            </a:fld>
            <a:endParaRPr lang="en-ID"/>
          </a:p>
        </p:txBody>
      </p:sp>
    </p:spTree>
    <p:extLst>
      <p:ext uri="{BB962C8B-B14F-4D97-AF65-F5344CB8AC3E}">
        <p14:creationId xmlns:p14="http://schemas.microsoft.com/office/powerpoint/2010/main" val="723799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B915-208A-D869-E653-5795589A1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D3E61-0344-68A4-76A0-A2E7D8B29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7F302-4AE5-DCC9-BAB3-27FA7619F762}"/>
              </a:ext>
            </a:extLst>
          </p:cNvPr>
          <p:cNvSpPr>
            <a:spLocks noGrp="1"/>
          </p:cNvSpPr>
          <p:nvPr>
            <p:ph type="body" idx="1"/>
          </p:nvPr>
        </p:nvSpPr>
        <p:spPr/>
        <p:txBody>
          <a:bodyPr/>
          <a:lstStyle/>
          <a:p>
            <a:pPr lvl="0"/>
            <a:r>
              <a:rPr lang="en-US" dirty="0"/>
              <a:t>When you begin to estimate the costs of Amazon S3, you must consider the following:</a:t>
            </a:r>
          </a:p>
          <a:p>
            <a:pPr marL="228600" lvl="0" indent="-228600">
              <a:buFont typeface="+mj-lt"/>
              <a:buAutoNum type="arabicPeriod"/>
            </a:pPr>
            <a:r>
              <a:rPr lang="en-US" b="1" dirty="0"/>
              <a:t>Storage class type </a:t>
            </a:r>
            <a:r>
              <a:rPr lang="en-US" dirty="0"/>
              <a:t>– </a:t>
            </a:r>
          </a:p>
          <a:p>
            <a:pPr marL="685800" lvl="1" indent="-228600">
              <a:buFont typeface="Arial" panose="020B0604020202020204" pitchFamily="34" charset="0"/>
              <a:buChar char="•"/>
            </a:pPr>
            <a:r>
              <a:rPr lang="en-US" b="1" dirty="0"/>
              <a:t>Standard storage </a:t>
            </a:r>
            <a:r>
              <a:rPr lang="en-US" dirty="0"/>
              <a:t>is designed to provide 11 9s of durability and four 9s of availability. </a:t>
            </a:r>
          </a:p>
          <a:p>
            <a:pPr marL="685800" lvl="1" indent="-228600">
              <a:buFont typeface="Arial" panose="020B0604020202020204" pitchFamily="34" charset="0"/>
              <a:buChar char="•"/>
            </a:pPr>
            <a:r>
              <a:rPr lang="en-US" b="1" dirty="0"/>
              <a:t>S3 Standard – Infrequent Access (S-IA)</a:t>
            </a:r>
            <a:r>
              <a:rPr lang="en-US" dirty="0"/>
              <a:t> is a storage option within Amazon S3 that you can use to reduce your costs by storing less frequently accessed data at slightly lower levels of redundancy than Amazon S3 standard storage. Standard – Infrequent Access is designed to provide the same 11 9s of durability as Amazon S3, with three 9s of availability in a given year. Each class has different rates.</a:t>
            </a:r>
          </a:p>
          <a:p>
            <a:pPr marL="228600" lvl="0" indent="-228600">
              <a:buFont typeface="+mj-lt"/>
              <a:buAutoNum type="arabicPeriod" startAt="2"/>
            </a:pPr>
            <a:r>
              <a:rPr lang="en-US" b="1" dirty="0"/>
              <a:t>Amount of storage </a:t>
            </a:r>
            <a:r>
              <a:rPr lang="en-US" dirty="0"/>
              <a:t>– The number and size of objects stored in your Amazon S3 buckets.</a:t>
            </a:r>
          </a:p>
          <a:p>
            <a:endParaRPr lang="en-US" dirty="0"/>
          </a:p>
          <a:p>
            <a:endParaRPr lang="en-US" dirty="0"/>
          </a:p>
        </p:txBody>
      </p:sp>
      <p:sp>
        <p:nvSpPr>
          <p:cNvPr id="4" name="Slide Number Placeholder 3">
            <a:extLst>
              <a:ext uri="{FF2B5EF4-FFF2-40B4-BE49-F238E27FC236}">
                <a16:creationId xmlns:a16="http://schemas.microsoft.com/office/drawing/2014/main" id="{499D59F4-CB24-B57E-643F-7FD31FC2813F}"/>
              </a:ext>
            </a:extLst>
          </p:cNvPr>
          <p:cNvSpPr>
            <a:spLocks noGrp="1"/>
          </p:cNvSpPr>
          <p:nvPr>
            <p:ph type="sldNum" sz="quarter" idx="5"/>
          </p:nvPr>
        </p:nvSpPr>
        <p:spPr/>
        <p:txBody>
          <a:bodyPr/>
          <a:lstStyle/>
          <a:p>
            <a:fld id="{8ED22064-3AC2-4A29-A7DB-87C96F577F71}" type="slidenum">
              <a:rPr lang="en-ID" smtClean="0"/>
              <a:t>20</a:t>
            </a:fld>
            <a:endParaRPr lang="en-ID"/>
          </a:p>
        </p:txBody>
      </p:sp>
    </p:spTree>
    <p:extLst>
      <p:ext uri="{BB962C8B-B14F-4D97-AF65-F5344CB8AC3E}">
        <p14:creationId xmlns:p14="http://schemas.microsoft.com/office/powerpoint/2010/main" val="1309762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AC30E-C7F3-D051-361C-596890A06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C290A-0007-E4DF-1379-C365DFB61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E207F-65FD-496A-1D36-85E734BE3ABD}"/>
              </a:ext>
            </a:extLst>
          </p:cNvPr>
          <p:cNvSpPr>
            <a:spLocks noGrp="1"/>
          </p:cNvSpPr>
          <p:nvPr>
            <p:ph type="body" idx="1"/>
          </p:nvPr>
        </p:nvSpPr>
        <p:spPr/>
        <p:txBody>
          <a:bodyPr/>
          <a:lstStyle/>
          <a:p>
            <a:pPr marL="228600" lvl="0" indent="-228600">
              <a:buFont typeface="+mj-lt"/>
              <a:buAutoNum type="arabicPeriod" startAt="3"/>
            </a:pPr>
            <a:r>
              <a:rPr lang="en-US" b="1" dirty="0"/>
              <a:t>Requests</a:t>
            </a:r>
            <a:r>
              <a:rPr lang="en-US" dirty="0"/>
              <a:t> – Consider the number and type of requests. GET requests incur charges at different rates than other requests, such as PUT and COPY requests.</a:t>
            </a:r>
          </a:p>
          <a:p>
            <a:pPr marL="685800" lvl="1" indent="-228600">
              <a:buFont typeface="Arial" panose="020B0604020202020204" pitchFamily="34" charset="0"/>
              <a:buChar char="•"/>
            </a:pPr>
            <a:r>
              <a:rPr lang="en-US" b="1" dirty="0"/>
              <a:t>GET</a:t>
            </a:r>
            <a:r>
              <a:rPr lang="en-US" dirty="0"/>
              <a:t> – Retrieves an object from Amazon S3. You must have READ access to use this operation.</a:t>
            </a:r>
          </a:p>
          <a:p>
            <a:pPr marL="685800" lvl="1" indent="-228600">
              <a:buFont typeface="Arial" panose="020B0604020202020204" pitchFamily="34" charset="0"/>
              <a:buChar char="•"/>
            </a:pPr>
            <a:r>
              <a:rPr lang="en-US" b="1" dirty="0"/>
              <a:t>PUT</a:t>
            </a:r>
            <a:r>
              <a:rPr lang="en-US" dirty="0"/>
              <a:t> – Adds an object to a bucket. You must have WRITE permissions on a bucket to add an object to it.</a:t>
            </a:r>
          </a:p>
          <a:p>
            <a:pPr marL="685800" lvl="1" indent="-228600">
              <a:buFont typeface="Arial" panose="020B0604020202020204" pitchFamily="34" charset="0"/>
              <a:buChar char="•"/>
            </a:pPr>
            <a:r>
              <a:rPr lang="en-US" b="1" dirty="0"/>
              <a:t>COPY</a:t>
            </a:r>
            <a:r>
              <a:rPr lang="en-US" dirty="0"/>
              <a:t> – Creates a copy of an object that is already stored in Amazon S3. A COPY operation is the same as performing a GET and then a PUT.</a:t>
            </a:r>
          </a:p>
          <a:p>
            <a:pPr marL="228600" lvl="0" indent="-228600">
              <a:buFont typeface="+mj-lt"/>
              <a:buAutoNum type="arabicPeriod" startAt="4"/>
            </a:pPr>
            <a:r>
              <a:rPr lang="en-US" b="1" dirty="0"/>
              <a:t>Data transfer </a:t>
            </a:r>
            <a:r>
              <a:rPr lang="en-US" dirty="0"/>
              <a:t>– Consider the amount of data that is transferred out of the Amazon S3 Region. Remember that data transfer in is free, but there is a charge for data transfer out.</a:t>
            </a:r>
          </a:p>
          <a:p>
            <a:endParaRPr lang="en-US" dirty="0"/>
          </a:p>
          <a:p>
            <a:endParaRPr lang="en-US" dirty="0"/>
          </a:p>
        </p:txBody>
      </p:sp>
      <p:sp>
        <p:nvSpPr>
          <p:cNvPr id="4" name="Slide Number Placeholder 3">
            <a:extLst>
              <a:ext uri="{FF2B5EF4-FFF2-40B4-BE49-F238E27FC236}">
                <a16:creationId xmlns:a16="http://schemas.microsoft.com/office/drawing/2014/main" id="{0DCE6529-B681-A211-E64B-B537A9600F3F}"/>
              </a:ext>
            </a:extLst>
          </p:cNvPr>
          <p:cNvSpPr>
            <a:spLocks noGrp="1"/>
          </p:cNvSpPr>
          <p:nvPr>
            <p:ph type="sldNum" sz="quarter" idx="5"/>
          </p:nvPr>
        </p:nvSpPr>
        <p:spPr/>
        <p:txBody>
          <a:bodyPr/>
          <a:lstStyle/>
          <a:p>
            <a:fld id="{8ED22064-3AC2-4A29-A7DB-87C96F577F71}" type="slidenum">
              <a:rPr lang="en-ID" smtClean="0"/>
              <a:t>21</a:t>
            </a:fld>
            <a:endParaRPr lang="en-ID"/>
          </a:p>
        </p:txBody>
      </p:sp>
    </p:spTree>
    <p:extLst>
      <p:ext uri="{BB962C8B-B14F-4D97-AF65-F5344CB8AC3E}">
        <p14:creationId xmlns:p14="http://schemas.microsoft.com/office/powerpoint/2010/main" val="361464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4179C-AAC4-8513-7888-EE70D5346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64169-529F-F985-8FDE-E5E38200A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71168-636D-441B-3AAF-7336040A3C1A}"/>
              </a:ext>
            </a:extLst>
          </p:cNvPr>
          <p:cNvSpPr>
            <a:spLocks noGrp="1"/>
          </p:cNvSpPr>
          <p:nvPr>
            <p:ph type="body" idx="1"/>
          </p:nvPr>
        </p:nvSpPr>
        <p:spPr/>
        <p:txBody>
          <a:bodyPr/>
          <a:lstStyle/>
          <a:p>
            <a:pPr lvl="0"/>
            <a:r>
              <a:rPr lang="en-US" dirty="0"/>
              <a:t>Amazon EFS is a fully managed service that makes it easy to set up and scale file storage in the AWS Cloud. You can use Amazon EFS to build a file system for big data and analytics, media processing workflows, content management, web serving, and home directories. </a:t>
            </a:r>
          </a:p>
          <a:p>
            <a:pPr lvl="0"/>
            <a:endParaRPr lang="en-US" dirty="0"/>
          </a:p>
          <a:p>
            <a:pPr lvl="0"/>
            <a:r>
              <a:rPr lang="en-US" dirty="0"/>
              <a:t>You can create file systems that are accessible to Amazon EC2 instances through a file system interface (using standard operating system file I/O APIs). These file systems support full file system access semantics, such as strong consistency and file locking.</a:t>
            </a:r>
          </a:p>
          <a:p>
            <a:endParaRPr lang="en-US" dirty="0"/>
          </a:p>
          <a:p>
            <a:r>
              <a:rPr lang="en-US" dirty="0"/>
              <a:t>Amazon EFS file systems can automatically scale from gigabytes to petabytes of data without the need to provision storage. Thousands of Amazon EC2 instances can access an Amazon EFS file system at the same time, and Amazon EFS is designed to provide consistent performance to each Amazon EC2 instance. Amazon EFS is also designed to be highly durable and highly available. Amazon EFS requires no minimum fee or setup costs, and you pay only for the storage that you use.</a:t>
            </a:r>
          </a:p>
          <a:p>
            <a:endParaRPr lang="en-US" dirty="0"/>
          </a:p>
        </p:txBody>
      </p:sp>
      <p:sp>
        <p:nvSpPr>
          <p:cNvPr id="4" name="Slide Number Placeholder 3">
            <a:extLst>
              <a:ext uri="{FF2B5EF4-FFF2-40B4-BE49-F238E27FC236}">
                <a16:creationId xmlns:a16="http://schemas.microsoft.com/office/drawing/2014/main" id="{FB687F80-8E2D-8977-7E8F-6801FCD435CA}"/>
              </a:ext>
            </a:extLst>
          </p:cNvPr>
          <p:cNvSpPr>
            <a:spLocks noGrp="1"/>
          </p:cNvSpPr>
          <p:nvPr>
            <p:ph type="sldNum" sz="quarter" idx="5"/>
          </p:nvPr>
        </p:nvSpPr>
        <p:spPr/>
        <p:txBody>
          <a:bodyPr/>
          <a:lstStyle/>
          <a:p>
            <a:fld id="{8ED22064-3AC2-4A29-A7DB-87C96F577F71}" type="slidenum">
              <a:rPr lang="en-ID" smtClean="0"/>
              <a:t>23</a:t>
            </a:fld>
            <a:endParaRPr lang="en-ID"/>
          </a:p>
        </p:txBody>
      </p:sp>
    </p:spTree>
    <p:extLst>
      <p:ext uri="{BB962C8B-B14F-4D97-AF65-F5344CB8AC3E}">
        <p14:creationId xmlns:p14="http://schemas.microsoft.com/office/powerpoint/2010/main" val="668728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BE59E-2835-73A9-6210-7FD1D9433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1AD30-2987-8974-3852-39C56BA62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9B9A0-5A6F-A139-92EF-17737F2A17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471DAE-1A9A-073D-E332-C5E18D860A41}"/>
              </a:ext>
            </a:extLst>
          </p:cNvPr>
          <p:cNvSpPr>
            <a:spLocks noGrp="1"/>
          </p:cNvSpPr>
          <p:nvPr>
            <p:ph type="sldNum" sz="quarter" idx="5"/>
          </p:nvPr>
        </p:nvSpPr>
        <p:spPr/>
        <p:txBody>
          <a:bodyPr/>
          <a:lstStyle/>
          <a:p>
            <a:fld id="{8ED22064-3AC2-4A29-A7DB-87C96F577F71}" type="slidenum">
              <a:rPr lang="en-ID" smtClean="0"/>
              <a:t>24</a:t>
            </a:fld>
            <a:endParaRPr lang="en-ID"/>
          </a:p>
        </p:txBody>
      </p:sp>
    </p:spTree>
    <p:extLst>
      <p:ext uri="{BB962C8B-B14F-4D97-AF65-F5344CB8AC3E}">
        <p14:creationId xmlns:p14="http://schemas.microsoft.com/office/powerpoint/2010/main" val="38332004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D33F-2002-B773-DB5C-309E10B32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D9188-8E3A-CFD7-07A7-4AB51ECCA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80AB8-731A-E70A-9A92-0B4F74CD4F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0203E-6304-C96E-8560-0C3C37FBE0C2}"/>
              </a:ext>
            </a:extLst>
          </p:cNvPr>
          <p:cNvSpPr>
            <a:spLocks noGrp="1"/>
          </p:cNvSpPr>
          <p:nvPr>
            <p:ph type="sldNum" sz="quarter" idx="5"/>
          </p:nvPr>
        </p:nvSpPr>
        <p:spPr/>
        <p:txBody>
          <a:bodyPr/>
          <a:lstStyle/>
          <a:p>
            <a:fld id="{8ED22064-3AC2-4A29-A7DB-87C96F577F71}" type="slidenum">
              <a:rPr lang="en-ID" smtClean="0"/>
              <a:t>25</a:t>
            </a:fld>
            <a:endParaRPr lang="en-ID"/>
          </a:p>
        </p:txBody>
      </p:sp>
    </p:spTree>
    <p:extLst>
      <p:ext uri="{BB962C8B-B14F-4D97-AF65-F5344CB8AC3E}">
        <p14:creationId xmlns:p14="http://schemas.microsoft.com/office/powerpoint/2010/main" val="1073026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BA3C-353C-3CEE-E68C-CD37D43C8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966F3-F7E6-DF6A-A65F-800117F9A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12E8C-6D86-E760-3ADF-7E6FB11EE847}"/>
              </a:ext>
            </a:extLst>
          </p:cNvPr>
          <p:cNvSpPr>
            <a:spLocks noGrp="1"/>
          </p:cNvSpPr>
          <p:nvPr>
            <p:ph type="body" idx="1"/>
          </p:nvPr>
        </p:nvSpPr>
        <p:spPr/>
        <p:txBody>
          <a:bodyPr/>
          <a:lstStyle/>
          <a:p>
            <a:r>
              <a:rPr lang="en-US" sz="1200" dirty="0"/>
              <a:t>In Amazon EFS, a file system is the primary resource. Each file system has properties such as:</a:t>
            </a:r>
          </a:p>
          <a:p>
            <a:pPr marL="171450" indent="-171450">
              <a:buFont typeface="Arial" panose="020B0604020202020204" pitchFamily="34" charset="0"/>
              <a:buChar char="•"/>
            </a:pPr>
            <a:r>
              <a:rPr lang="en-US" sz="1200" dirty="0"/>
              <a:t>ID</a:t>
            </a:r>
          </a:p>
          <a:p>
            <a:pPr marL="171450" indent="-171450">
              <a:buFont typeface="Arial" panose="020B0604020202020204" pitchFamily="34" charset="0"/>
              <a:buChar char="•"/>
            </a:pPr>
            <a:r>
              <a:rPr lang="en-US" sz="1200" dirty="0"/>
              <a:t>Creation token</a:t>
            </a:r>
          </a:p>
          <a:p>
            <a:pPr marL="171450" indent="-171450">
              <a:buFont typeface="Arial" panose="020B0604020202020204" pitchFamily="34" charset="0"/>
              <a:buChar char="•"/>
            </a:pPr>
            <a:r>
              <a:rPr lang="en-US" sz="1200" dirty="0"/>
              <a:t>Creation time</a:t>
            </a:r>
          </a:p>
          <a:p>
            <a:pPr marL="171450" indent="-171450">
              <a:buFont typeface="Arial" panose="020B0604020202020204" pitchFamily="34" charset="0"/>
              <a:buChar char="•"/>
            </a:pPr>
            <a:r>
              <a:rPr lang="en-US" sz="1200" dirty="0"/>
              <a:t>File system size in bytes</a:t>
            </a:r>
          </a:p>
          <a:p>
            <a:pPr marL="171450" indent="-171450">
              <a:buFont typeface="Arial" panose="020B0604020202020204" pitchFamily="34" charset="0"/>
              <a:buChar char="•"/>
            </a:pPr>
            <a:r>
              <a:rPr lang="en-US" sz="1200" dirty="0"/>
              <a:t>Number of mount targets that are created for the file system</a:t>
            </a:r>
          </a:p>
          <a:p>
            <a:pPr marL="171450" indent="-171450">
              <a:buFont typeface="Arial" panose="020B0604020202020204" pitchFamily="34" charset="0"/>
              <a:buChar char="•"/>
            </a:pPr>
            <a:r>
              <a:rPr lang="en-US" sz="1200" dirty="0"/>
              <a:t>File system state </a:t>
            </a:r>
          </a:p>
          <a:p>
            <a:endParaRPr lang="en-US" sz="1200" dirty="0"/>
          </a:p>
          <a:p>
            <a:r>
              <a:rPr lang="en-US" sz="1200" dirty="0"/>
              <a:t>Amazon EFS also supports other resources to configure the primary resource. These resources include mount targets and tags.</a:t>
            </a:r>
          </a:p>
          <a:p>
            <a:r>
              <a:rPr lang="en-US" sz="1200" baseline="0" dirty="0"/>
              <a:t> </a:t>
            </a:r>
            <a:endParaRPr lang="en-US" sz="1200" dirty="0"/>
          </a:p>
          <a:p>
            <a:r>
              <a:rPr lang="en-US" sz="1200" b="1" dirty="0"/>
              <a:t>Mount target</a:t>
            </a:r>
            <a:r>
              <a:rPr lang="en-US" sz="1200" b="0" dirty="0"/>
              <a:t>:</a:t>
            </a:r>
            <a:r>
              <a:rPr lang="en-US" sz="1200" dirty="0"/>
              <a:t> To access your file system, you must create mount targets in your VPC. </a:t>
            </a:r>
          </a:p>
          <a:p>
            <a:r>
              <a:rPr lang="en-US" sz="1200" dirty="0"/>
              <a:t>Each mount target has the following properties: </a:t>
            </a:r>
          </a:p>
          <a:p>
            <a:pPr marL="171450" indent="-171450">
              <a:buFont typeface="Arial" panose="020B0604020202020204" pitchFamily="34" charset="0"/>
              <a:buChar char="•"/>
            </a:pPr>
            <a:r>
              <a:rPr lang="en-US" sz="1200" dirty="0"/>
              <a:t>The mount target ID</a:t>
            </a:r>
          </a:p>
          <a:p>
            <a:pPr marL="171450" indent="-171450">
              <a:buFont typeface="Arial" panose="020B0604020202020204" pitchFamily="34" charset="0"/>
              <a:buChar char="•"/>
            </a:pPr>
            <a:r>
              <a:rPr lang="en-US" sz="1200" dirty="0"/>
              <a:t>The subnet ID </a:t>
            </a:r>
            <a:r>
              <a:rPr lang="en-US" sz="1200" baseline="0" dirty="0"/>
              <a:t>for the subnet where </a:t>
            </a:r>
            <a:r>
              <a:rPr lang="en-US" sz="1200" dirty="0"/>
              <a:t>it was created</a:t>
            </a:r>
          </a:p>
          <a:p>
            <a:pPr marL="171450" indent="-171450">
              <a:buFont typeface="Arial" panose="020B0604020202020204" pitchFamily="34" charset="0"/>
              <a:buChar char="•"/>
            </a:pPr>
            <a:r>
              <a:rPr lang="en-US" sz="1200" dirty="0"/>
              <a:t>The file system ID for the file system where it was</a:t>
            </a:r>
            <a:r>
              <a:rPr lang="en-US" sz="1200" baseline="0" dirty="0"/>
              <a:t> </a:t>
            </a:r>
            <a:r>
              <a:rPr lang="en-US" sz="1200" dirty="0"/>
              <a:t>created</a:t>
            </a:r>
          </a:p>
          <a:p>
            <a:pPr marL="171450" indent="-171450">
              <a:buFont typeface="Arial" panose="020B0604020202020204" pitchFamily="34" charset="0"/>
              <a:buChar char="•"/>
            </a:pPr>
            <a:r>
              <a:rPr lang="en-US" sz="1200" dirty="0"/>
              <a:t>An IP address where the file system can be mounted</a:t>
            </a:r>
          </a:p>
          <a:p>
            <a:pPr marL="171450" indent="-171450">
              <a:buFont typeface="Arial" panose="020B0604020202020204" pitchFamily="34" charset="0"/>
              <a:buChar char="•"/>
            </a:pPr>
            <a:r>
              <a:rPr lang="en-US" sz="1200" dirty="0"/>
              <a:t>The mount target state</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You can use the IP address or the Domain Name </a:t>
            </a:r>
            <a:r>
              <a:rPr lang="en-US" sz="1200" i="0" dirty="0"/>
              <a:t>System (DNS) name </a:t>
            </a:r>
            <a:r>
              <a:rPr lang="en-US" sz="1200" dirty="0"/>
              <a:t>in your mount command.</a:t>
            </a:r>
          </a:p>
          <a:p>
            <a:endParaRPr lang="en-US" sz="1200" b="1" dirty="0"/>
          </a:p>
          <a:p>
            <a:r>
              <a:rPr lang="en-US" sz="1200" b="1" dirty="0"/>
              <a:t>Tags</a:t>
            </a:r>
            <a:r>
              <a:rPr lang="en-US" sz="1200" dirty="0"/>
              <a:t>: To help organize your file systems, you can assign your own metadata to each of the file systems that you create. Each tag is a key-value pair. </a:t>
            </a:r>
          </a:p>
          <a:p>
            <a:endParaRPr lang="en-US" sz="1200" dirty="0"/>
          </a:p>
          <a:p>
            <a:r>
              <a:rPr lang="en-US" sz="1200" dirty="0"/>
              <a:t>Think of mount targets and tags as </a:t>
            </a:r>
            <a:r>
              <a:rPr lang="en-US" sz="1200" i="0" dirty="0" err="1"/>
              <a:t>subresources</a:t>
            </a:r>
            <a:r>
              <a:rPr lang="en-US" sz="1200" dirty="0"/>
              <a:t> that do not exist unless they</a:t>
            </a:r>
            <a:r>
              <a:rPr lang="en-US" sz="1200" baseline="0" dirty="0"/>
              <a:t> are </a:t>
            </a:r>
            <a:r>
              <a:rPr lang="en-US" sz="1200" dirty="0"/>
              <a:t>associated with a file system.</a:t>
            </a:r>
          </a:p>
          <a:p>
            <a:endParaRPr lang="en-ID" dirty="0"/>
          </a:p>
          <a:p>
            <a:endParaRPr lang="en-US" dirty="0"/>
          </a:p>
        </p:txBody>
      </p:sp>
      <p:sp>
        <p:nvSpPr>
          <p:cNvPr id="4" name="Slide Number Placeholder 3">
            <a:extLst>
              <a:ext uri="{FF2B5EF4-FFF2-40B4-BE49-F238E27FC236}">
                <a16:creationId xmlns:a16="http://schemas.microsoft.com/office/drawing/2014/main" id="{5F421646-1D99-EC0D-FF48-76BD4270F4D7}"/>
              </a:ext>
            </a:extLst>
          </p:cNvPr>
          <p:cNvSpPr>
            <a:spLocks noGrp="1"/>
          </p:cNvSpPr>
          <p:nvPr>
            <p:ph type="sldNum" sz="quarter" idx="5"/>
          </p:nvPr>
        </p:nvSpPr>
        <p:spPr/>
        <p:txBody>
          <a:bodyPr/>
          <a:lstStyle/>
          <a:p>
            <a:fld id="{8ED22064-3AC2-4A29-A7DB-87C96F577F71}" type="slidenum">
              <a:rPr lang="en-ID" smtClean="0"/>
              <a:t>26</a:t>
            </a:fld>
            <a:endParaRPr lang="en-ID"/>
          </a:p>
        </p:txBody>
      </p:sp>
    </p:spTree>
    <p:extLst>
      <p:ext uri="{BB962C8B-B14F-4D97-AF65-F5344CB8AC3E}">
        <p14:creationId xmlns:p14="http://schemas.microsoft.com/office/powerpoint/2010/main" val="4253230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90EEC-3BE4-4FAC-E739-E51359C2E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68A54-9473-C12D-8F69-50356202D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0D339-64C5-30D2-27A5-2102EA37CA41}"/>
              </a:ext>
            </a:extLst>
          </p:cNvPr>
          <p:cNvSpPr>
            <a:spLocks noGrp="1"/>
          </p:cNvSpPr>
          <p:nvPr>
            <p:ph type="body" idx="1"/>
          </p:nvPr>
        </p:nvSpPr>
        <p:spPr/>
        <p:txBody>
          <a:bodyPr/>
          <a:lstStyle/>
          <a:p>
            <a:r>
              <a:rPr lang="en-US" sz="1200" kern="1200" dirty="0">
                <a:solidFill>
                  <a:schemeClr val="tx1"/>
                </a:solidFill>
                <a:effectLst/>
              </a:rPr>
              <a:t>When you use Amazon S3 Glacier to archive data,</a:t>
            </a:r>
            <a:r>
              <a:rPr lang="en-US" sz="1200" kern="1200" baseline="0" dirty="0">
                <a:solidFill>
                  <a:schemeClr val="tx1"/>
                </a:solidFill>
                <a:effectLst/>
              </a:rPr>
              <a:t> </a:t>
            </a:r>
            <a:r>
              <a:rPr lang="en-US" sz="1200" kern="1200" dirty="0">
                <a:solidFill>
                  <a:schemeClr val="tx1"/>
                </a:solidFill>
                <a:effectLst/>
              </a:rPr>
              <a:t>you can store your data at an extremely low cost (even in comparison to Amazon S3), but you cannot retrieve your data immediately when you want it. </a:t>
            </a:r>
          </a:p>
          <a:p>
            <a:endParaRPr lang="en-US" sz="1200" kern="1200" dirty="0">
              <a:solidFill>
                <a:schemeClr val="tx1"/>
              </a:solidFill>
              <a:effectLst/>
            </a:endParaRPr>
          </a:p>
          <a:p>
            <a:r>
              <a:rPr lang="en-US" sz="1200" kern="1200" dirty="0">
                <a:solidFill>
                  <a:schemeClr val="tx1"/>
                </a:solidFill>
                <a:effectLst/>
              </a:rPr>
              <a:t>Data that is stored in Amazon S3 Glacier can take several hours to retrieve, which is why it works well for archiving.</a:t>
            </a:r>
          </a:p>
          <a:p>
            <a:endParaRPr lang="en-US" sz="1200" kern="1200" dirty="0">
              <a:solidFill>
                <a:schemeClr val="tx1"/>
              </a:solidFill>
              <a:effectLst/>
            </a:endParaRPr>
          </a:p>
          <a:p>
            <a:r>
              <a:rPr lang="en-US" sz="1200" kern="1200" dirty="0">
                <a:solidFill>
                  <a:schemeClr val="tx1"/>
                </a:solidFill>
                <a:effectLst/>
              </a:rPr>
              <a:t>There are three key Amazon S3 Glacier terms you should be familiar with:</a:t>
            </a:r>
          </a:p>
          <a:p>
            <a:pPr marL="171450" indent="-171450">
              <a:buFont typeface="Arial" panose="020B0604020202020204" pitchFamily="34" charset="0"/>
              <a:buChar char="•"/>
            </a:pPr>
            <a:r>
              <a:rPr lang="en-US" sz="1200" b="1" kern="1200" dirty="0">
                <a:solidFill>
                  <a:schemeClr val="tx1"/>
                </a:solidFill>
                <a:effectLst/>
              </a:rPr>
              <a:t>Archive</a:t>
            </a:r>
            <a:r>
              <a:rPr lang="en-US" sz="1200" b="0" kern="1200" baseline="0" dirty="0">
                <a:solidFill>
                  <a:schemeClr val="tx1"/>
                </a:solidFill>
                <a:effectLst/>
              </a:rPr>
              <a:t> –</a:t>
            </a:r>
            <a:r>
              <a:rPr lang="en-US" sz="1200" kern="1200" dirty="0">
                <a:solidFill>
                  <a:schemeClr val="tx1"/>
                </a:solidFill>
                <a:effectLst/>
              </a:rPr>
              <a:t> Any object (such as a photo, video, file, or document)</a:t>
            </a:r>
            <a:r>
              <a:rPr lang="en-US" sz="1200" kern="1200" baseline="0" dirty="0">
                <a:solidFill>
                  <a:schemeClr val="tx1"/>
                </a:solidFill>
                <a:effectLst/>
              </a:rPr>
              <a:t> </a:t>
            </a:r>
            <a:r>
              <a:rPr lang="en-US" sz="1200" kern="1200" dirty="0">
                <a:solidFill>
                  <a:schemeClr val="tx1"/>
                </a:solidFill>
                <a:effectLst/>
              </a:rPr>
              <a:t>that you store in Amazon S3 Glacier. It is the base unit of storage in Amazon S3 Glacier. Each archive has its own unique ID and it can also have a description.</a:t>
            </a:r>
          </a:p>
          <a:p>
            <a:pPr marL="171450" indent="-171450">
              <a:buFont typeface="Arial" panose="020B0604020202020204" pitchFamily="34" charset="0"/>
              <a:buChar char="•"/>
            </a:pPr>
            <a:r>
              <a:rPr lang="en-US" sz="1200" b="1" kern="1200" dirty="0">
                <a:solidFill>
                  <a:schemeClr val="tx1"/>
                </a:solidFill>
                <a:effectLst/>
              </a:rPr>
              <a:t>Vault</a:t>
            </a:r>
            <a:r>
              <a:rPr lang="en-US" sz="1200" b="0" kern="1200" baseline="0" dirty="0">
                <a:solidFill>
                  <a:schemeClr val="tx1"/>
                </a:solidFill>
                <a:effectLst/>
              </a:rPr>
              <a:t> –</a:t>
            </a:r>
            <a:r>
              <a:rPr lang="en-US" sz="1200" kern="1200" dirty="0">
                <a:solidFill>
                  <a:schemeClr val="tx1"/>
                </a:solidFill>
                <a:effectLst/>
              </a:rPr>
              <a:t> A container for storing archives. When you create a vault, you specify the vault name and the Region where you want to locate the vault.</a:t>
            </a:r>
          </a:p>
          <a:p>
            <a:pPr marL="171450" indent="-171450">
              <a:buFont typeface="Arial" panose="020B0604020202020204" pitchFamily="34" charset="0"/>
              <a:buChar char="•"/>
            </a:pPr>
            <a:r>
              <a:rPr lang="en-US" sz="1200" b="1" kern="1200" dirty="0">
                <a:solidFill>
                  <a:schemeClr val="tx1"/>
                </a:solidFill>
                <a:effectLst/>
              </a:rPr>
              <a:t>Vault access policy</a:t>
            </a:r>
            <a:r>
              <a:rPr lang="en-US" sz="1200" b="0" kern="1200" baseline="0" dirty="0">
                <a:solidFill>
                  <a:schemeClr val="tx1"/>
                </a:solidFill>
                <a:effectLst/>
              </a:rPr>
              <a:t> –</a:t>
            </a:r>
            <a:r>
              <a:rPr lang="en-US" sz="1200" kern="1200" dirty="0">
                <a:solidFill>
                  <a:schemeClr val="tx1"/>
                </a:solidFill>
                <a:effectLst/>
              </a:rPr>
              <a:t> Determine who can and cannot access the data that is stored in the vault, and what operations users can and cannot perform. One vault access permissions policy can be created for each vault to manage access permissions for that vault. You can also use a vault lock policy to make sure that a vault cannot be altered. Each vault can have one vault access policy and one vault lock policy that are attached to it.</a:t>
            </a:r>
          </a:p>
          <a:p>
            <a:endParaRPr lang="en-US" sz="1200" kern="1200" dirty="0">
              <a:solidFill>
                <a:schemeClr val="tx1"/>
              </a:solidFill>
              <a:effectLst/>
            </a:endParaRPr>
          </a:p>
          <a:p>
            <a:r>
              <a:rPr lang="en-US" sz="1200" dirty="0"/>
              <a:t>You</a:t>
            </a:r>
            <a:r>
              <a:rPr lang="en-US" sz="1200" baseline="0" dirty="0"/>
              <a:t> have t</a:t>
            </a:r>
            <a:r>
              <a:rPr lang="en-US" sz="1200" dirty="0"/>
              <a:t>hree options for retrieving data,</a:t>
            </a:r>
            <a:r>
              <a:rPr lang="en-US" sz="1200" baseline="0" dirty="0"/>
              <a:t> each</a:t>
            </a:r>
            <a:r>
              <a:rPr lang="en-US" sz="1200" dirty="0"/>
              <a:t> with varying access times and cost</a:t>
            </a:r>
            <a:r>
              <a:rPr lang="en-US" sz="1200" baseline="0" dirty="0"/>
              <a:t>:</a:t>
            </a:r>
            <a:endParaRPr lang="en-US" sz="1200" kern="1200" baseline="0" dirty="0">
              <a:solidFill>
                <a:schemeClr val="tx1"/>
              </a:solidFill>
              <a:effectLst/>
            </a:endParaRPr>
          </a:p>
          <a:p>
            <a:pPr marL="171450" indent="-171450">
              <a:buFont typeface="Arial" panose="020B0604020202020204" pitchFamily="34" charset="0"/>
              <a:buChar char="•"/>
            </a:pPr>
            <a:r>
              <a:rPr lang="en-US" sz="1200" b="1" dirty="0"/>
              <a:t>Expedited</a:t>
            </a:r>
            <a:r>
              <a:rPr lang="en-US" sz="1200" dirty="0"/>
              <a:t> retrievals are typically made available within 1–5 minutes (highest cost).</a:t>
            </a:r>
          </a:p>
          <a:p>
            <a:pPr marL="171450" indent="-171450">
              <a:buFont typeface="Arial" panose="020B0604020202020204" pitchFamily="34" charset="0"/>
              <a:buChar char="•"/>
            </a:pPr>
            <a:r>
              <a:rPr lang="en-US" sz="1200" b="1" dirty="0"/>
              <a:t>Standard</a:t>
            </a:r>
            <a:r>
              <a:rPr lang="en-US" sz="1200" dirty="0"/>
              <a:t> retrievals typically complete within 3–5 hours (less time than expedited, more time than bulk).</a:t>
            </a:r>
          </a:p>
          <a:p>
            <a:pPr marL="171450" indent="-171450">
              <a:buFont typeface="Arial" panose="020B0604020202020204" pitchFamily="34" charset="0"/>
              <a:buChar char="•"/>
            </a:pPr>
            <a:r>
              <a:rPr lang="en-US" sz="1200" b="1" dirty="0"/>
              <a:t>Bulk</a:t>
            </a:r>
            <a:r>
              <a:rPr lang="en-US" sz="1200" dirty="0"/>
              <a:t> retrievals typically complete within 5–12 hours (lowest cost).</a:t>
            </a:r>
            <a:endParaRPr lang="en-ID" dirty="0"/>
          </a:p>
          <a:p>
            <a:endParaRPr lang="en-US" dirty="0"/>
          </a:p>
        </p:txBody>
      </p:sp>
      <p:sp>
        <p:nvSpPr>
          <p:cNvPr id="4" name="Slide Number Placeholder 3">
            <a:extLst>
              <a:ext uri="{FF2B5EF4-FFF2-40B4-BE49-F238E27FC236}">
                <a16:creationId xmlns:a16="http://schemas.microsoft.com/office/drawing/2014/main" id="{8FA4DE1F-7AD1-8F09-18E5-E9BCC61A4E93}"/>
              </a:ext>
            </a:extLst>
          </p:cNvPr>
          <p:cNvSpPr>
            <a:spLocks noGrp="1"/>
          </p:cNvSpPr>
          <p:nvPr>
            <p:ph type="sldNum" sz="quarter" idx="5"/>
          </p:nvPr>
        </p:nvSpPr>
        <p:spPr/>
        <p:txBody>
          <a:bodyPr/>
          <a:lstStyle/>
          <a:p>
            <a:fld id="{8ED22064-3AC2-4A29-A7DB-87C96F577F71}" type="slidenum">
              <a:rPr lang="en-ID" smtClean="0"/>
              <a:t>28</a:t>
            </a:fld>
            <a:endParaRPr lang="en-ID"/>
          </a:p>
        </p:txBody>
      </p:sp>
    </p:spTree>
    <p:extLst>
      <p:ext uri="{BB962C8B-B14F-4D97-AF65-F5344CB8AC3E}">
        <p14:creationId xmlns:p14="http://schemas.microsoft.com/office/powerpoint/2010/main" val="3037566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A49F-B5AD-2D49-54C4-85B6222C0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67A7C-39FD-D2E1-CFBE-AB5CF040F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7ED72-88A8-C5CD-7A91-4D993AEDF48F}"/>
              </a:ext>
            </a:extLst>
          </p:cNvPr>
          <p:cNvSpPr>
            <a:spLocks noGrp="1"/>
          </p:cNvSpPr>
          <p:nvPr>
            <p:ph type="body" idx="1"/>
          </p:nvPr>
        </p:nvSpPr>
        <p:spPr/>
        <p:txBody>
          <a:bodyPr/>
          <a:lstStyle/>
          <a:p>
            <a:r>
              <a:rPr lang="en-US" sz="1200" kern="1200" dirty="0">
                <a:solidFill>
                  <a:schemeClr val="tx1"/>
                </a:solidFill>
                <a:effectLst/>
              </a:rPr>
              <a:t>Amazon S3 Glacier's data archiving means that although you can store your data at an extremely low cost (even in comparison to Amazon S3), you cannot retrieve your data immediately when you want it. </a:t>
            </a:r>
          </a:p>
          <a:p>
            <a:endParaRPr lang="en-US" sz="1200" kern="1200" dirty="0">
              <a:solidFill>
                <a:schemeClr val="tx1"/>
              </a:solidFill>
              <a:effectLst/>
            </a:endParaRPr>
          </a:p>
          <a:p>
            <a:r>
              <a:rPr lang="en-US" sz="1200" kern="1200" dirty="0">
                <a:solidFill>
                  <a:schemeClr val="tx1"/>
                </a:solidFill>
                <a:effectLst/>
              </a:rPr>
              <a:t>Data stored in Amazon S3 Glacier can take several hours to retrieve.</a:t>
            </a:r>
          </a:p>
          <a:p>
            <a:endParaRPr lang="en-US" sz="1200" kern="1200" dirty="0">
              <a:solidFill>
                <a:schemeClr val="tx1"/>
              </a:solidFill>
              <a:effectLst/>
            </a:endParaRPr>
          </a:p>
          <a:p>
            <a:r>
              <a:rPr lang="en-US" sz="1200" kern="1200" dirty="0">
                <a:solidFill>
                  <a:schemeClr val="tx1"/>
                </a:solidFill>
                <a:effectLst/>
              </a:rPr>
              <a:t>You should be familiar with three key Amazon S3 Glacier terms:</a:t>
            </a:r>
          </a:p>
          <a:p>
            <a:pPr marL="171450" indent="-171450">
              <a:buFont typeface="Arial" panose="020B0604020202020204" pitchFamily="34" charset="0"/>
              <a:buChar char="•"/>
            </a:pPr>
            <a:r>
              <a:rPr lang="en-US" sz="1200" b="1" kern="1200" dirty="0">
                <a:solidFill>
                  <a:schemeClr val="tx1"/>
                </a:solidFill>
                <a:effectLst/>
              </a:rPr>
              <a:t>Archive</a:t>
            </a:r>
            <a:r>
              <a:rPr lang="en-US" sz="1200" kern="1200" dirty="0">
                <a:solidFill>
                  <a:schemeClr val="tx1"/>
                </a:solidFill>
                <a:effectLst/>
              </a:rPr>
              <a:t>: Any object such as a photo, video, file, or document that you store in Amazon S3 Glacier. It is the base unit of storage in Amazon S3 Glacier. Each archive has its own unique ID and can also have a description.</a:t>
            </a:r>
          </a:p>
          <a:p>
            <a:pPr marL="171450" indent="-171450">
              <a:buFont typeface="Arial" panose="020B0604020202020204" pitchFamily="34" charset="0"/>
              <a:buChar char="•"/>
            </a:pPr>
            <a:r>
              <a:rPr lang="en-US" sz="1200" b="1" kern="1200" dirty="0">
                <a:solidFill>
                  <a:schemeClr val="tx1"/>
                </a:solidFill>
                <a:effectLst/>
              </a:rPr>
              <a:t>Vault</a:t>
            </a:r>
            <a:r>
              <a:rPr lang="en-US" sz="1200" kern="1200" dirty="0">
                <a:solidFill>
                  <a:schemeClr val="tx1"/>
                </a:solidFill>
                <a:effectLst/>
              </a:rPr>
              <a:t>: A container for storing archives. When you create a vault, you specify the vault name and the region in which you would like to locate the vault.</a:t>
            </a:r>
          </a:p>
          <a:p>
            <a:pPr marL="171450" indent="-171450">
              <a:buFont typeface="Arial" panose="020B0604020202020204" pitchFamily="34" charset="0"/>
              <a:buChar char="•"/>
            </a:pPr>
            <a:r>
              <a:rPr lang="en-US" sz="1200" b="1" kern="1200" dirty="0">
                <a:solidFill>
                  <a:schemeClr val="tx1"/>
                </a:solidFill>
                <a:effectLst/>
              </a:rPr>
              <a:t>Vault Access Policy</a:t>
            </a:r>
            <a:r>
              <a:rPr lang="en-US" sz="1200" kern="1200" dirty="0">
                <a:solidFill>
                  <a:schemeClr val="tx1"/>
                </a:solidFill>
                <a:effectLst/>
              </a:rPr>
              <a:t>: Determine who can and cannot access the data stored in the vault and what operations users can and cannot perform. One vault access policy can be created for each vault to manage access permissions for that vault. You can also use a vault lock policy to make sure a vault cannot be altered. Each vault can have one vault access policy and one vault lock policy that is attached to it.</a:t>
            </a:r>
          </a:p>
          <a:p>
            <a:endParaRPr lang="en-US" sz="1200" kern="1200" dirty="0">
              <a:solidFill>
                <a:schemeClr val="tx1"/>
              </a:solidFill>
              <a:effectLst/>
            </a:endParaRPr>
          </a:p>
          <a:p>
            <a:r>
              <a:rPr lang="en-US" sz="1200" dirty="0"/>
              <a:t>Three options are available for retrieving data with varying access times and cost: expedited, standard, and bulk retrievals. They are listed</a:t>
            </a:r>
            <a:r>
              <a:rPr lang="en-US" sz="1200" baseline="0" dirty="0"/>
              <a:t> as follows:</a:t>
            </a:r>
            <a:endParaRPr lang="en-US" sz="1200" kern="1200" baseline="0" dirty="0">
              <a:solidFill>
                <a:schemeClr val="tx1"/>
              </a:solidFill>
              <a:effectLst/>
            </a:endParaRPr>
          </a:p>
          <a:p>
            <a:pPr marL="171450" indent="-171450">
              <a:buFont typeface="Arial" panose="020B0604020202020204" pitchFamily="34" charset="0"/>
              <a:buChar char="•"/>
            </a:pPr>
            <a:r>
              <a:rPr lang="en-US" sz="1200" b="1" dirty="0"/>
              <a:t>Expedited</a:t>
            </a:r>
            <a:r>
              <a:rPr lang="en-US" sz="1200" dirty="0"/>
              <a:t> retrievals are typically made available within 1 – 5 minutes (highest cost).</a:t>
            </a:r>
          </a:p>
          <a:p>
            <a:pPr marL="171450" indent="-171450">
              <a:buFont typeface="Arial" panose="020B0604020202020204" pitchFamily="34" charset="0"/>
              <a:buChar char="•"/>
            </a:pPr>
            <a:r>
              <a:rPr lang="en-US" sz="1200" b="1" dirty="0"/>
              <a:t>Standard</a:t>
            </a:r>
            <a:r>
              <a:rPr lang="en-US" sz="1200" dirty="0"/>
              <a:t> retrievals typically complete within 3 – 5 hours (less than expedited, more than bulk).</a:t>
            </a:r>
          </a:p>
          <a:p>
            <a:pPr marL="171450" indent="-171450">
              <a:buFont typeface="Arial" panose="020B0604020202020204" pitchFamily="34" charset="0"/>
              <a:buChar char="•"/>
            </a:pPr>
            <a:r>
              <a:rPr lang="en-US" sz="1200" b="1" dirty="0"/>
              <a:t>Bulk</a:t>
            </a:r>
            <a:r>
              <a:rPr lang="en-US" sz="1200" dirty="0"/>
              <a:t> retrievals typically complete within 5 – 12 hours (lowest cost).</a:t>
            </a:r>
            <a:endParaRPr lang="en-ID" dirty="0"/>
          </a:p>
          <a:p>
            <a:endParaRPr lang="en-US" dirty="0"/>
          </a:p>
        </p:txBody>
      </p:sp>
      <p:sp>
        <p:nvSpPr>
          <p:cNvPr id="4" name="Slide Number Placeholder 3">
            <a:extLst>
              <a:ext uri="{FF2B5EF4-FFF2-40B4-BE49-F238E27FC236}">
                <a16:creationId xmlns:a16="http://schemas.microsoft.com/office/drawing/2014/main" id="{045D79F0-0C75-2D59-D401-2C61BD22B3C3}"/>
              </a:ext>
            </a:extLst>
          </p:cNvPr>
          <p:cNvSpPr>
            <a:spLocks noGrp="1"/>
          </p:cNvSpPr>
          <p:nvPr>
            <p:ph type="sldNum" sz="quarter" idx="5"/>
          </p:nvPr>
        </p:nvSpPr>
        <p:spPr/>
        <p:txBody>
          <a:bodyPr/>
          <a:lstStyle/>
          <a:p>
            <a:fld id="{8ED22064-3AC2-4A29-A7DB-87C96F577F71}" type="slidenum">
              <a:rPr lang="en-ID" smtClean="0"/>
              <a:t>29</a:t>
            </a:fld>
            <a:endParaRPr lang="en-ID"/>
          </a:p>
        </p:txBody>
      </p:sp>
    </p:spTree>
    <p:extLst>
      <p:ext uri="{BB962C8B-B14F-4D97-AF65-F5344CB8AC3E}">
        <p14:creationId xmlns:p14="http://schemas.microsoft.com/office/powerpoint/2010/main" val="3919221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51D22-1302-E3BA-64F2-43D4E71EE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DDB77-930C-C12C-9CD1-D067DD778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69FA0-5176-F86D-76FA-D52873D3C63C}"/>
              </a:ext>
            </a:extLst>
          </p:cNvPr>
          <p:cNvSpPr>
            <a:spLocks noGrp="1"/>
          </p:cNvSpPr>
          <p:nvPr>
            <p:ph type="body" idx="1"/>
          </p:nvPr>
        </p:nvSpPr>
        <p:spPr/>
        <p:txBody>
          <a:bodyPr/>
          <a:lstStyle/>
          <a:p>
            <a:r>
              <a:rPr lang="en-US" sz="1200" b="1" dirty="0"/>
              <a:t>Media asset </a:t>
            </a:r>
            <a:r>
              <a:rPr lang="en-US" sz="1200" b="1" kern="1200" dirty="0">
                <a:solidFill>
                  <a:schemeClr val="tx1"/>
                </a:solidFill>
                <a:latin typeface="+mn-lt"/>
                <a:ea typeface="+mn-ea"/>
                <a:cs typeface="+mn-cs"/>
              </a:rPr>
              <a:t>archiving</a:t>
            </a:r>
            <a:endParaRPr lang="en-US" sz="1200" b="1" dirty="0"/>
          </a:p>
          <a:p>
            <a:r>
              <a:rPr lang="en-US" sz="1200" dirty="0"/>
              <a:t>Media assets—such as video and news footage—require durable storage and can grow to many petabytes over time. Amazon S3 Glacier enables you to archive older media content affordably and then move it to Amazon S3 for distribution when it is needed.</a:t>
            </a:r>
          </a:p>
          <a:p>
            <a:endParaRPr lang="en-US" sz="1200" dirty="0"/>
          </a:p>
          <a:p>
            <a:pPr marL="0" algn="l" defTabSz="914400" rtl="0" eaLnBrk="1" latinLnBrk="0" hangingPunct="1"/>
            <a:r>
              <a:rPr lang="en-US" sz="1200" b="1" kern="1200" dirty="0">
                <a:solidFill>
                  <a:schemeClr val="tx1"/>
                </a:solidFill>
                <a:latin typeface="+mn-lt"/>
                <a:ea typeface="+mn-ea"/>
                <a:cs typeface="+mn-cs"/>
              </a:rPr>
              <a:t>Healthcare information archiving</a:t>
            </a:r>
          </a:p>
          <a:p>
            <a:r>
              <a:rPr lang="en-US" sz="1200" dirty="0"/>
              <a:t>To meet regulatory requirements, hospital systems must retain petabytes of patient records—such</a:t>
            </a:r>
            <a:r>
              <a:rPr lang="en-US" sz="1200" baseline="0" dirty="0"/>
              <a:t> as </a:t>
            </a:r>
            <a:r>
              <a:rPr lang="en-US" sz="1200" b="0" i="0" kern="1200" dirty="0">
                <a:solidFill>
                  <a:schemeClr val="tx1"/>
                </a:solidFill>
                <a:effectLst/>
                <a:latin typeface="+mn-lt"/>
                <a:ea typeface="+mn-ea"/>
                <a:cs typeface="+mn-cs"/>
              </a:rPr>
              <a:t>Low-Income Subsidy </a:t>
            </a:r>
            <a:r>
              <a:rPr lang="en-US" sz="1200" dirty="0"/>
              <a:t>(LIS) information, picture archiving and communication system (PACS) data, or </a:t>
            </a:r>
            <a:r>
              <a:rPr lang="en-US" sz="1200" b="0" i="0" kern="1200" dirty="0">
                <a:solidFill>
                  <a:schemeClr val="tx1"/>
                </a:solidFill>
                <a:effectLst/>
                <a:latin typeface="+mn-lt"/>
                <a:ea typeface="+mn-ea"/>
                <a:cs typeface="+mn-cs"/>
              </a:rPr>
              <a:t>Electronic Health Records (</a:t>
            </a:r>
            <a:r>
              <a:rPr lang="en-US" sz="1200" dirty="0"/>
              <a:t>EHR)—for decades. Amazon S3 Glacier can</a:t>
            </a:r>
            <a:r>
              <a:rPr lang="en-US" sz="1200" baseline="0" dirty="0"/>
              <a:t> help</a:t>
            </a:r>
            <a:r>
              <a:rPr lang="en-US" sz="1200" dirty="0"/>
              <a:t> you reliably archive patient record data securely at a very low cost.</a:t>
            </a:r>
          </a:p>
          <a:p>
            <a:endParaRPr lang="en-US" sz="1200" dirty="0"/>
          </a:p>
          <a:p>
            <a:pPr marL="0" algn="l" defTabSz="914400" rtl="0" eaLnBrk="1" latinLnBrk="0" hangingPunct="1"/>
            <a:r>
              <a:rPr lang="en-US" sz="1200" b="1" kern="1200" dirty="0">
                <a:solidFill>
                  <a:schemeClr val="tx1"/>
                </a:solidFill>
                <a:latin typeface="+mn-lt"/>
                <a:ea typeface="+mn-ea"/>
                <a:cs typeface="+mn-cs"/>
              </a:rPr>
              <a:t>Regulatory and compliance archiving</a:t>
            </a:r>
          </a:p>
          <a:p>
            <a:r>
              <a:rPr lang="en-US" sz="1200" dirty="0"/>
              <a:t>Many enterprises, like those in financial services and healthcare, must retain regulatory and compliance archives for extended durations. Amazon S3 Glacier Vault Lock can help you set compliance controls so you can work towards meeting your compliance objectives, such as the U.S. Securities and Exchange Commission (SEC) Rule 17a-4(f).</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mn-cs"/>
              </a:rPr>
              <a:t>Scientific data archiving</a:t>
            </a:r>
          </a:p>
          <a:p>
            <a:r>
              <a:rPr lang="en-US" sz="1200" dirty="0"/>
              <a:t>Research organizations generate, analyze, and archive large amounts of data.</a:t>
            </a:r>
            <a:r>
              <a:rPr lang="en-US" sz="1200" baseline="0" dirty="0"/>
              <a:t> By using</a:t>
            </a:r>
            <a:r>
              <a:rPr lang="en-US" sz="1200" dirty="0"/>
              <a:t> Amazon S3 Glacier, you can reduce the complexities of hardware and facility management and capacity planning.</a:t>
            </a:r>
          </a:p>
          <a:p>
            <a:endParaRPr lang="en-US" sz="1200" dirty="0"/>
          </a:p>
          <a:p>
            <a:pPr marL="0" algn="l" defTabSz="914400" rtl="0" eaLnBrk="1" latinLnBrk="0" hangingPunct="1"/>
            <a:r>
              <a:rPr lang="en-US" sz="1200" b="1" kern="1200" dirty="0">
                <a:solidFill>
                  <a:schemeClr val="tx1"/>
                </a:solidFill>
                <a:latin typeface="+mn-lt"/>
                <a:ea typeface="+mn-ea"/>
                <a:cs typeface="+mn-cs"/>
              </a:rPr>
              <a:t>Digital preservation</a:t>
            </a:r>
          </a:p>
          <a:p>
            <a:r>
              <a:rPr lang="en-US" sz="1200" dirty="0"/>
              <a:t>Libraries and government agencies must handle data integrity challenges in their digital preservation efforts. Unlike traditional systems—which can require laborious data verification and manual repair—Amazon S3 Glacier performs regular, systematic data integrity checks, and it</a:t>
            </a:r>
            <a:r>
              <a:rPr lang="en-US" sz="1200" baseline="0" dirty="0"/>
              <a:t> is designed </a:t>
            </a:r>
            <a:r>
              <a:rPr lang="en-US" sz="1200" dirty="0"/>
              <a:t>to be automatically self-healing.</a:t>
            </a:r>
          </a:p>
          <a:p>
            <a:endParaRPr lang="en-US" sz="1200" dirty="0"/>
          </a:p>
          <a:p>
            <a:pPr marL="0" algn="l" defTabSz="914400" rtl="0" eaLnBrk="1" latinLnBrk="0" hangingPunct="1"/>
            <a:r>
              <a:rPr lang="en-US" sz="1200" b="1" kern="1200" dirty="0">
                <a:solidFill>
                  <a:schemeClr val="tx1"/>
                </a:solidFill>
                <a:latin typeface="+mn-lt"/>
                <a:ea typeface="+mn-ea"/>
                <a:cs typeface="+mn-cs"/>
              </a:rPr>
              <a:t>Magnetic tape replacement</a:t>
            </a:r>
          </a:p>
          <a:p>
            <a:r>
              <a:rPr lang="en-US" sz="1200" dirty="0"/>
              <a:t>On-premises or offsite tape libraries can lower storage costs, but they can require large upfront investments and specialized maintenance. Amazon S3 Glacier has no upfront cost and reduces the cost and burden of maintenance.</a:t>
            </a:r>
          </a:p>
          <a:p>
            <a:endParaRPr lang="en-ID" dirty="0"/>
          </a:p>
          <a:p>
            <a:endParaRPr lang="en-US" dirty="0"/>
          </a:p>
        </p:txBody>
      </p:sp>
      <p:sp>
        <p:nvSpPr>
          <p:cNvPr id="4" name="Slide Number Placeholder 3">
            <a:extLst>
              <a:ext uri="{FF2B5EF4-FFF2-40B4-BE49-F238E27FC236}">
                <a16:creationId xmlns:a16="http://schemas.microsoft.com/office/drawing/2014/main" id="{27889EF5-42B1-A5A6-C980-7C54941635B1}"/>
              </a:ext>
            </a:extLst>
          </p:cNvPr>
          <p:cNvSpPr>
            <a:spLocks noGrp="1"/>
          </p:cNvSpPr>
          <p:nvPr>
            <p:ph type="sldNum" sz="quarter" idx="5"/>
          </p:nvPr>
        </p:nvSpPr>
        <p:spPr/>
        <p:txBody>
          <a:bodyPr/>
          <a:lstStyle/>
          <a:p>
            <a:fld id="{8ED22064-3AC2-4A29-A7DB-87C96F577F71}" type="slidenum">
              <a:rPr lang="en-ID" smtClean="0"/>
              <a:t>30</a:t>
            </a:fld>
            <a:endParaRPr lang="en-ID"/>
          </a:p>
        </p:txBody>
      </p:sp>
    </p:spTree>
    <p:extLst>
      <p:ext uri="{BB962C8B-B14F-4D97-AF65-F5344CB8AC3E}">
        <p14:creationId xmlns:p14="http://schemas.microsoft.com/office/powerpoint/2010/main" val="592356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D8B71-B062-43EA-5E37-1F0AC9C1F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CD308-062B-E633-2817-953682368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54AE4-7B56-08AD-C9BB-199ED3AA8363}"/>
              </a:ext>
            </a:extLst>
          </p:cNvPr>
          <p:cNvSpPr>
            <a:spLocks noGrp="1"/>
          </p:cNvSpPr>
          <p:nvPr>
            <p:ph type="body" idx="1"/>
          </p:nvPr>
        </p:nvSpPr>
        <p:spPr/>
        <p:txBody>
          <a:bodyPr/>
          <a:lstStyle/>
          <a:p>
            <a:r>
              <a:rPr lang="en-US" sz="1200" kern="1200" dirty="0">
                <a:solidFill>
                  <a:schemeClr val="tx1"/>
                </a:solidFill>
                <a:effectLst/>
                <a:ea typeface="+mn-ea"/>
                <a:cs typeface="+mn-cs"/>
              </a:rPr>
              <a:t>You should automate the lifecycle of the data that you</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store in Amazon S3. By using lifecycle policies, you can cycle data at regular intervals between different Amazon S3 storage types. This automation reduces your overall cost, because you pay less for data as it becomes less important with time.</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In addition to setting lifecycle rules per object, you can also set lifecycle rules per bucket.</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Consider an example of a lifecycle policy that moves data as it ages from </a:t>
            </a:r>
            <a:r>
              <a:rPr lang="en-US" sz="1200" b="1" kern="1200" dirty="0">
                <a:solidFill>
                  <a:schemeClr val="tx1"/>
                </a:solidFill>
                <a:effectLst/>
                <a:ea typeface="+mn-ea"/>
                <a:cs typeface="+mn-cs"/>
              </a:rPr>
              <a:t>Amazon S3 Standard </a:t>
            </a:r>
            <a:r>
              <a:rPr lang="en-US" sz="1200" kern="1200" dirty="0">
                <a:solidFill>
                  <a:schemeClr val="tx1"/>
                </a:solidFill>
                <a:effectLst/>
                <a:ea typeface="+mn-ea"/>
                <a:cs typeface="+mn-cs"/>
              </a:rPr>
              <a:t>to </a:t>
            </a:r>
            <a:r>
              <a:rPr lang="en-US" sz="1200" b="1" kern="1200" dirty="0">
                <a:solidFill>
                  <a:schemeClr val="tx1"/>
                </a:solidFill>
                <a:effectLst/>
                <a:ea typeface="+mn-ea"/>
                <a:cs typeface="+mn-cs"/>
              </a:rPr>
              <a:t>Amazon S3 Standard – Infrequent Access</a:t>
            </a:r>
            <a:r>
              <a:rPr lang="en-US" sz="1200" b="0" kern="1200" dirty="0">
                <a:solidFill>
                  <a:schemeClr val="tx1"/>
                </a:solidFill>
                <a:effectLst/>
                <a:ea typeface="+mn-ea"/>
                <a:cs typeface="+mn-cs"/>
              </a:rPr>
              <a:t>, and finally</a:t>
            </a:r>
            <a:r>
              <a:rPr lang="en-US" sz="1200" kern="1200" dirty="0">
                <a:solidFill>
                  <a:schemeClr val="tx1"/>
                </a:solidFill>
                <a:effectLst/>
                <a:ea typeface="+mn-ea"/>
                <a:cs typeface="+mn-cs"/>
              </a:rPr>
              <a:t>, into </a:t>
            </a:r>
            <a:r>
              <a:rPr lang="en-US" sz="1200" b="1" kern="1200" dirty="0">
                <a:solidFill>
                  <a:schemeClr val="tx1"/>
                </a:solidFill>
                <a:effectLst/>
                <a:ea typeface="+mn-ea"/>
                <a:cs typeface="+mn-cs"/>
              </a:rPr>
              <a:t>Amazon S3 Glacier </a:t>
            </a:r>
            <a:r>
              <a:rPr lang="en-US" sz="1200" kern="1200" dirty="0">
                <a:solidFill>
                  <a:schemeClr val="tx1"/>
                </a:solidFill>
                <a:effectLst/>
                <a:ea typeface="+mn-ea"/>
                <a:cs typeface="+mn-cs"/>
              </a:rPr>
              <a:t>before it is deleted. Suppose that a user uploads a video to your application and your application generates a thumbnail preview of the video. This video preview is stored to Amazon S3 Standard, because it is likely that the user wants to access it right away.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Your usage data indicates that most thumbnail previews are not accessed after 30 days. Your lifecycle policy takes these previews and moves them to Amazon S3 –</a:t>
            </a:r>
            <a:r>
              <a:rPr lang="en-US" sz="1200" kern="1200" baseline="0" dirty="0">
                <a:solidFill>
                  <a:schemeClr val="tx1"/>
                </a:solidFill>
                <a:effectLst/>
                <a:ea typeface="+mn-ea"/>
                <a:cs typeface="+mn-cs"/>
              </a:rPr>
              <a:t> I</a:t>
            </a:r>
            <a:r>
              <a:rPr lang="en-US" sz="1200" kern="1200" dirty="0">
                <a:solidFill>
                  <a:schemeClr val="tx1"/>
                </a:solidFill>
                <a:effectLst/>
                <a:ea typeface="+mn-ea"/>
                <a:cs typeface="+mn-cs"/>
              </a:rPr>
              <a:t>nfrequent Access after 30 days. After another 30 days elapse, the preview is unlikely to be accessed again.</a:t>
            </a:r>
            <a:r>
              <a:rPr lang="en-US" sz="1200" kern="1200" baseline="0" dirty="0">
                <a:solidFill>
                  <a:schemeClr val="tx1"/>
                </a:solidFill>
                <a:effectLst/>
                <a:ea typeface="+mn-ea"/>
                <a:cs typeface="+mn-cs"/>
              </a:rPr>
              <a:t> The preview</a:t>
            </a:r>
            <a:r>
              <a:rPr lang="en-US" sz="1200" kern="1200" dirty="0">
                <a:solidFill>
                  <a:schemeClr val="tx1"/>
                </a:solidFill>
                <a:effectLst/>
                <a:ea typeface="+mn-ea"/>
                <a:cs typeface="+mn-cs"/>
              </a:rPr>
              <a:t> is then moved to Amazon S3 Glacier, where it remains for 1 year. After 1 year, the preview is deleted. The important thing is that the lifecycle policy manages all this movement automatically.</a:t>
            </a:r>
            <a:br>
              <a:rPr lang="en-US" sz="1200" kern="1200" dirty="0">
                <a:solidFill>
                  <a:schemeClr val="tx1"/>
                </a:solidFill>
                <a:effectLst/>
                <a:ea typeface="+mn-ea"/>
                <a:cs typeface="+mn-cs"/>
              </a:rPr>
            </a:b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C6938B25-C10C-5EDC-6119-99284107DF28}"/>
              </a:ext>
            </a:extLst>
          </p:cNvPr>
          <p:cNvSpPr>
            <a:spLocks noGrp="1"/>
          </p:cNvSpPr>
          <p:nvPr>
            <p:ph type="sldNum" sz="quarter" idx="5"/>
          </p:nvPr>
        </p:nvSpPr>
        <p:spPr/>
        <p:txBody>
          <a:bodyPr/>
          <a:lstStyle/>
          <a:p>
            <a:fld id="{8ED22064-3AC2-4A29-A7DB-87C96F577F71}" type="slidenum">
              <a:rPr lang="en-ID" smtClean="0"/>
              <a:t>31</a:t>
            </a:fld>
            <a:endParaRPr lang="en-ID"/>
          </a:p>
        </p:txBody>
      </p:sp>
    </p:spTree>
    <p:extLst>
      <p:ext uri="{BB962C8B-B14F-4D97-AF65-F5344CB8AC3E}">
        <p14:creationId xmlns:p14="http://schemas.microsoft.com/office/powerpoint/2010/main" val="2591005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17AC-FF6E-AC3A-29CA-0553C4205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2DBBF-6E30-69CD-1DA7-F067C88FF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3781C-4FBA-BB6E-45AF-3C39B9F7D3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23FC82-A4D7-A2AC-B285-A5892C4A19D8}"/>
              </a:ext>
            </a:extLst>
          </p:cNvPr>
          <p:cNvSpPr>
            <a:spLocks noGrp="1"/>
          </p:cNvSpPr>
          <p:nvPr>
            <p:ph type="sldNum" sz="quarter" idx="5"/>
          </p:nvPr>
        </p:nvSpPr>
        <p:spPr/>
        <p:txBody>
          <a:bodyPr/>
          <a:lstStyle/>
          <a:p>
            <a:fld id="{8ED22064-3AC2-4A29-A7DB-87C96F577F71}" type="slidenum">
              <a:rPr lang="en-ID" smtClean="0"/>
              <a:t>32</a:t>
            </a:fld>
            <a:endParaRPr lang="en-ID"/>
          </a:p>
        </p:txBody>
      </p:sp>
    </p:spTree>
    <p:extLst>
      <p:ext uri="{BB962C8B-B14F-4D97-AF65-F5344CB8AC3E}">
        <p14:creationId xmlns:p14="http://schemas.microsoft.com/office/powerpoint/2010/main" val="3758920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BCC6A-50B6-666E-AF60-6296E38A0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8EF72-32E2-A389-2BA4-A1C21DAD5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079C2F-FF60-0C13-9289-734052568190}"/>
              </a:ext>
            </a:extLst>
          </p:cNvPr>
          <p:cNvSpPr>
            <a:spLocks noGrp="1"/>
          </p:cNvSpPr>
          <p:nvPr>
            <p:ph type="body" idx="1"/>
          </p:nvPr>
        </p:nvSpPr>
        <p:spPr/>
        <p:txBody>
          <a:bodyPr/>
          <a:lstStyle/>
          <a:p>
            <a:pPr marL="0" indent="0">
              <a:buFont typeface="+mj-lt"/>
              <a:buNone/>
            </a:pPr>
            <a:r>
              <a:rPr lang="en-US" sz="1200" kern="1200" dirty="0">
                <a:solidFill>
                  <a:schemeClr val="tx1"/>
                </a:solidFill>
                <a:effectLst/>
                <a:ea typeface="+mn-ea"/>
                <a:cs typeface="+mn-cs"/>
              </a:rPr>
              <a:t>Another important difference between Amazon S3 and Amazon S3 Glacier is how data is encrypted. </a:t>
            </a:r>
            <a:r>
              <a:rPr lang="en-US" sz="1200" b="0" i="0" kern="1200" dirty="0">
                <a:solidFill>
                  <a:schemeClr val="tx1"/>
                </a:solidFill>
                <a:effectLst/>
                <a:latin typeface="+mn-lt"/>
                <a:ea typeface="+mn-ea"/>
                <a:cs typeface="+mn-cs"/>
              </a:rPr>
              <a:t>Server-side encryption is focused on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protecting data at rest. </a:t>
            </a:r>
            <a:r>
              <a:rPr lang="en-US" sz="1200" kern="1200" dirty="0">
                <a:solidFill>
                  <a:schemeClr val="tx1"/>
                </a:solidFill>
                <a:effectLst/>
                <a:ea typeface="+mn-ea"/>
                <a:cs typeface="+mn-cs"/>
              </a:rPr>
              <a:t>With both solutions, you can securely transfer your data over HTTPS. Any data that is archived</a:t>
            </a:r>
            <a:r>
              <a:rPr lang="en-US" sz="1200" kern="1200" baseline="0" dirty="0">
                <a:solidFill>
                  <a:schemeClr val="tx1"/>
                </a:solidFill>
                <a:effectLst/>
                <a:ea typeface="+mn-ea"/>
                <a:cs typeface="+mn-cs"/>
              </a:rPr>
              <a:t> in</a:t>
            </a:r>
            <a:r>
              <a:rPr lang="en-US" sz="1200" kern="1200" dirty="0">
                <a:solidFill>
                  <a:schemeClr val="tx1"/>
                </a:solidFill>
                <a:effectLst/>
                <a:ea typeface="+mn-ea"/>
                <a:cs typeface="+mn-cs"/>
              </a:rPr>
              <a:t> Amazon S3 Glacier is encrypted by default. With Amazon S3, your application must initiate server-side encryption. You can accomplish server-side</a:t>
            </a:r>
            <a:r>
              <a:rPr lang="en-US" sz="1200" kern="1200" baseline="0" dirty="0">
                <a:solidFill>
                  <a:schemeClr val="tx1"/>
                </a:solidFill>
                <a:effectLst/>
                <a:ea typeface="+mn-ea"/>
                <a:cs typeface="+mn-cs"/>
              </a:rPr>
              <a:t> encryption in Amazon S3</a:t>
            </a:r>
            <a:r>
              <a:rPr lang="en-US" sz="1200" kern="1200" dirty="0">
                <a:solidFill>
                  <a:schemeClr val="tx1"/>
                </a:solidFill>
                <a:effectLst/>
                <a:ea typeface="+mn-ea"/>
                <a:cs typeface="+mn-cs"/>
              </a:rPr>
              <a:t> in several ways:</a:t>
            </a:r>
          </a:p>
          <a:p>
            <a:pPr marL="0" indent="0">
              <a:buFont typeface="+mj-lt"/>
              <a:buNone/>
            </a:pPr>
            <a:endParaRPr lang="en-US" sz="1200" kern="1200" dirty="0">
              <a:solidFill>
                <a:schemeClr val="tx1"/>
              </a:solidFill>
              <a:effectLs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Server-side encryption with </a:t>
            </a:r>
            <a:r>
              <a:rPr lang="en-US" sz="1200" b="1" i="0" kern="1200" dirty="0">
                <a:solidFill>
                  <a:schemeClr val="tx1"/>
                </a:solidFill>
                <a:effectLst/>
                <a:latin typeface="+mn-lt"/>
                <a:ea typeface="+mn-ea"/>
                <a:cs typeface="+mn-cs"/>
              </a:rPr>
              <a:t>Amazon S3-managed encryption keys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SSE-S3</a:t>
            </a:r>
            <a:r>
              <a:rPr lang="en-US" sz="1200" b="0" i="0" kern="1200" dirty="0">
                <a:solidFill>
                  <a:schemeClr val="tx1"/>
                </a:solidFill>
                <a:effectLst/>
                <a:latin typeface="+mn-lt"/>
                <a:ea typeface="+mn-ea"/>
                <a:cs typeface="+mn-cs"/>
              </a:rPr>
              <a:t>) employs strong multi-factor encryption. Amazon S3 encrypts each object with a unique key. As an additional safeguard, it encrypts the key with a main key that it regularly rotates. Amazon S3 server-side encryption uses one of the strongest block ciphers available, 256-bit Advanced Encryption Standard (AES-256), to encrypt your data.</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Using server-side encryption with </a:t>
            </a:r>
            <a:r>
              <a:rPr lang="en-US" sz="1200" b="1" i="0" kern="1200" dirty="0">
                <a:solidFill>
                  <a:schemeClr val="tx1"/>
                </a:solidFill>
                <a:effectLst/>
                <a:latin typeface="+mn-lt"/>
                <a:ea typeface="+mn-ea"/>
                <a:cs typeface="+mn-cs"/>
              </a:rPr>
              <a:t>Customer-provided Encryption Keys (SSE-C)</a:t>
            </a:r>
            <a:r>
              <a:rPr lang="en-US" sz="1200" b="0" i="0" kern="1200" dirty="0">
                <a:solidFill>
                  <a:schemeClr val="tx1"/>
                </a:solidFill>
                <a:effectLst/>
                <a:latin typeface="+mn-lt"/>
                <a:ea typeface="+mn-ea"/>
                <a:cs typeface="+mn-cs"/>
              </a:rPr>
              <a:t> enables you to set your own encryption keys. You include the encryption key as part of your request, and Amazon S3 manages both encryption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as it writes to disks), and decryption (when you access your objects).</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Using server-side encryption with </a:t>
            </a:r>
            <a:r>
              <a:rPr lang="en-US" sz="1200" b="1" i="0" kern="1200" dirty="0">
                <a:solidFill>
                  <a:schemeClr val="tx1"/>
                </a:solidFill>
                <a:effectLst/>
                <a:latin typeface="+mn-lt"/>
                <a:ea typeface="+mn-ea"/>
                <a:cs typeface="+mn-cs"/>
              </a:rPr>
              <a:t>AWS Key Management Service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(AWS KMS) </a:t>
            </a:r>
            <a:r>
              <a:rPr lang="en-US" sz="1200" b="0" i="0" kern="1200" dirty="0">
                <a:solidFill>
                  <a:schemeClr val="tx1"/>
                </a:solidFill>
                <a:effectLst/>
                <a:latin typeface="+mn-lt"/>
                <a:ea typeface="+mn-ea"/>
                <a:cs typeface="+mn-cs"/>
              </a:rPr>
              <a:t>is a service that combines secure, highly available hardware and software to provide a key management system that is scaled for the cloud. AWS KMS uses </a:t>
            </a:r>
            <a:r>
              <a:rPr lang="en-US" sz="1200" b="1" i="0" kern="1200" dirty="0">
                <a:solidFill>
                  <a:schemeClr val="tx1"/>
                </a:solidFill>
                <a:effectLst/>
                <a:latin typeface="+mn-lt"/>
                <a:ea typeface="+mn-ea"/>
                <a:cs typeface="+mn-cs"/>
              </a:rPr>
              <a:t>Customer Master Keys (CMKs)</a:t>
            </a:r>
            <a:r>
              <a:rPr lang="en-US" sz="1200" b="0" i="0" kern="1200" dirty="0">
                <a:solidFill>
                  <a:schemeClr val="tx1"/>
                </a:solidFill>
                <a:effectLst/>
                <a:latin typeface="+mn-lt"/>
                <a:ea typeface="+mn-ea"/>
                <a:cs typeface="+mn-cs"/>
              </a:rPr>
              <a:t> to encrypt your Amazon S3 objects. You use AWS KMS through the </a:t>
            </a:r>
            <a:r>
              <a:rPr lang="en-US" sz="1200" b="1" i="0" kern="1200" dirty="0">
                <a:solidFill>
                  <a:schemeClr val="tx1"/>
                </a:solidFill>
                <a:effectLst/>
                <a:latin typeface="+mn-lt"/>
                <a:ea typeface="+mn-ea"/>
                <a:cs typeface="+mn-cs"/>
              </a:rPr>
              <a:t>Encryption Keys </a:t>
            </a:r>
            <a:r>
              <a:rPr lang="en-US" sz="1200" b="0" i="0" kern="1200" dirty="0">
                <a:solidFill>
                  <a:schemeClr val="tx1"/>
                </a:solidFill>
                <a:effectLst/>
                <a:latin typeface="+mn-lt"/>
                <a:ea typeface="+mn-ea"/>
                <a:cs typeface="+mn-cs"/>
              </a:rPr>
              <a:t>section in the IAM console.</a:t>
            </a:r>
            <a:r>
              <a:rPr lang="en-US" sz="1200" b="0" i="0" kern="1200" baseline="0" dirty="0">
                <a:solidFill>
                  <a:schemeClr val="tx1"/>
                </a:solidFill>
                <a:effectLst/>
                <a:latin typeface="+mn-lt"/>
                <a:ea typeface="+mn-ea"/>
                <a:cs typeface="+mn-cs"/>
              </a:rPr>
              <a:t> You can also access </a:t>
            </a:r>
            <a:r>
              <a:rPr lang="en-US" sz="1200" b="0" i="0" kern="1200" dirty="0">
                <a:solidFill>
                  <a:schemeClr val="tx1"/>
                </a:solidFill>
                <a:effectLst/>
                <a:latin typeface="+mn-lt"/>
                <a:ea typeface="+mn-ea"/>
                <a:cs typeface="+mn-cs"/>
              </a:rPr>
              <a:t>AWS KMS through the API to centrally create encryption keys, define the policies that control how keys can be used, and audit key usage to prove that they are being used correctly. You can use these keys to protect your data in Amazon S3 buckets.</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endParaRPr lang="en-ID" dirty="0"/>
          </a:p>
          <a:p>
            <a:endParaRPr lang="en-US" dirty="0"/>
          </a:p>
        </p:txBody>
      </p:sp>
      <p:sp>
        <p:nvSpPr>
          <p:cNvPr id="4" name="Slide Number Placeholder 3">
            <a:extLst>
              <a:ext uri="{FF2B5EF4-FFF2-40B4-BE49-F238E27FC236}">
                <a16:creationId xmlns:a16="http://schemas.microsoft.com/office/drawing/2014/main" id="{80A1DAE0-0CAB-8653-AFC7-C3E88FE3C31E}"/>
              </a:ext>
            </a:extLst>
          </p:cNvPr>
          <p:cNvSpPr>
            <a:spLocks noGrp="1"/>
          </p:cNvSpPr>
          <p:nvPr>
            <p:ph type="sldNum" sz="quarter" idx="5"/>
          </p:nvPr>
        </p:nvSpPr>
        <p:spPr/>
        <p:txBody>
          <a:bodyPr/>
          <a:lstStyle/>
          <a:p>
            <a:fld id="{8ED22064-3AC2-4A29-A7DB-87C96F577F71}" type="slidenum">
              <a:rPr lang="en-ID" smtClean="0"/>
              <a:t>33</a:t>
            </a:fld>
            <a:endParaRPr lang="en-ID"/>
          </a:p>
        </p:txBody>
      </p:sp>
    </p:spTree>
    <p:extLst>
      <p:ext uri="{BB962C8B-B14F-4D97-AF65-F5344CB8AC3E}">
        <p14:creationId xmlns:p14="http://schemas.microsoft.com/office/powerpoint/2010/main" val="1952548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D22064-3AC2-4A29-A7DB-87C96F577F71}" type="slidenum">
              <a:rPr lang="en-ID" smtClean="0"/>
              <a:t>34</a:t>
            </a:fld>
            <a:endParaRPr lang="en-ID"/>
          </a:p>
        </p:txBody>
      </p:sp>
    </p:spTree>
    <p:extLst>
      <p:ext uri="{BB962C8B-B14F-4D97-AF65-F5344CB8AC3E}">
        <p14:creationId xmlns:p14="http://schemas.microsoft.com/office/powerpoint/2010/main" val="3890930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AWS solutions typically fall into one of two categories: unmanaged or managed.</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Unmanaged services are typically provisioned in discrete portions as specified by the user.</a:t>
            </a:r>
            <a:r>
              <a:rPr lang="en-US" kern="1200" baseline="0" dirty="0">
                <a:solidFill>
                  <a:schemeClr val="tx1"/>
                </a:solidFill>
                <a:effectLst/>
                <a:latin typeface="+mn-lt"/>
                <a:ea typeface="+mn-ea"/>
                <a:cs typeface="+mn-cs"/>
              </a:rPr>
              <a:t> You must </a:t>
            </a:r>
            <a:r>
              <a:rPr lang="en-US" kern="1200" dirty="0">
                <a:solidFill>
                  <a:schemeClr val="tx1"/>
                </a:solidFill>
                <a:effectLst/>
                <a:latin typeface="+mn-lt"/>
                <a:ea typeface="+mn-ea"/>
                <a:cs typeface="+mn-cs"/>
              </a:rPr>
              <a:t>manage how the service responds to changes in load, errors, and situations where resources become unavailable. Say that you launch a web server on an Amazon Elastic Compute Cloud (Amazon EC2) instance. Because Amazon EC2 is an unmanaged solution, that web server will not scale to handle increased traffic load or replace unhealthy instances with healthy ones</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unless you specify that it use a scaling solution, such as AWS Automatic Scaling. The benefit to using an unmanaged service is that you have more fine-tuned control over how your solution handles changes in load, errors, and situations where resources become unavailable.</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Managed services require the user to configure them. For example, you create</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an Amazon Simple Storage Service (Amazon S3) bucket and then set permissions for it. However, managed services typically require less configuration. Say that you</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have a static website that you</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host in a cloud-based storage solution, such as Amazon S3. The static</a:t>
            </a:r>
            <a:r>
              <a:rPr lang="en-US" kern="1200" baseline="0" dirty="0">
                <a:solidFill>
                  <a:schemeClr val="tx1"/>
                </a:solidFill>
                <a:effectLst/>
                <a:latin typeface="+mn-lt"/>
                <a:ea typeface="+mn-ea"/>
                <a:cs typeface="+mn-cs"/>
              </a:rPr>
              <a:t> website does not have a</a:t>
            </a:r>
            <a:r>
              <a:rPr lang="en-US" kern="1200" dirty="0">
                <a:solidFill>
                  <a:schemeClr val="tx1"/>
                </a:solidFill>
                <a:effectLst/>
                <a:latin typeface="+mn-lt"/>
                <a:ea typeface="+mn-ea"/>
                <a:cs typeface="+mn-cs"/>
              </a:rPr>
              <a:t> web server.</a:t>
            </a:r>
            <a:r>
              <a:rPr lang="en-US" kern="1200" baseline="0" dirty="0">
                <a:solidFill>
                  <a:schemeClr val="tx1"/>
                </a:solidFill>
                <a:effectLst/>
                <a:latin typeface="+mn-lt"/>
                <a:ea typeface="+mn-ea"/>
                <a:cs typeface="+mn-cs"/>
              </a:rPr>
              <a:t> However, because Amazon S3 is a managed solution,</a:t>
            </a:r>
            <a:r>
              <a:rPr lang="en-US" kern="1200" dirty="0">
                <a:solidFill>
                  <a:schemeClr val="tx1"/>
                </a:solidFill>
                <a:effectLst/>
                <a:latin typeface="+mn-lt"/>
                <a:ea typeface="+mn-ea"/>
                <a:cs typeface="+mn-cs"/>
              </a:rPr>
              <a:t> features</a:t>
            </a:r>
            <a:r>
              <a:rPr lang="en-US" kern="1200" baseline="0" dirty="0">
                <a:solidFill>
                  <a:schemeClr val="tx1"/>
                </a:solidFill>
                <a:effectLst/>
                <a:latin typeface="+mn-lt"/>
                <a:ea typeface="+mn-ea"/>
                <a:cs typeface="+mn-cs"/>
              </a:rPr>
              <a:t> such as </a:t>
            </a:r>
            <a:r>
              <a:rPr lang="en-US" kern="1200" dirty="0">
                <a:solidFill>
                  <a:schemeClr val="tx1"/>
                </a:solidFill>
                <a:effectLst/>
                <a:latin typeface="+mn-lt"/>
                <a:ea typeface="+mn-ea"/>
                <a:cs typeface="+mn-cs"/>
              </a:rPr>
              <a:t>scaling, fault-tolerance, and availability would be handled automatically and internally by Amazon S3. </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Now, you</a:t>
            </a:r>
            <a:r>
              <a:rPr lang="en-US" kern="1200" baseline="0" dirty="0">
                <a:solidFill>
                  <a:schemeClr val="tx1"/>
                </a:solidFill>
                <a:effectLst/>
                <a:latin typeface="+mn-lt"/>
                <a:ea typeface="+mn-ea"/>
                <a:cs typeface="+mn-cs"/>
              </a:rPr>
              <a:t> will </a:t>
            </a:r>
            <a:r>
              <a:rPr lang="en-US" kern="1200" dirty="0">
                <a:solidFill>
                  <a:schemeClr val="tx1"/>
                </a:solidFill>
                <a:effectLst/>
                <a:latin typeface="+mn-lt"/>
                <a:ea typeface="+mn-ea"/>
                <a:cs typeface="+mn-cs"/>
              </a:rPr>
              <a:t>look at the challenges of running an unmanaged, standalone relational database. Then, you will learn how Amazon RDS addresses these challenges.</a:t>
            </a:r>
          </a:p>
          <a:p>
            <a:endParaRPr lang="en-US" dirty="0"/>
          </a:p>
        </p:txBody>
      </p:sp>
      <p:sp>
        <p:nvSpPr>
          <p:cNvPr id="4" name="Slide Number Placeholder 3"/>
          <p:cNvSpPr>
            <a:spLocks noGrp="1"/>
          </p:cNvSpPr>
          <p:nvPr>
            <p:ph type="sldNum" sz="quarter" idx="5"/>
          </p:nvPr>
        </p:nvSpPr>
        <p:spPr/>
        <p:txBody>
          <a:bodyPr/>
          <a:lstStyle/>
          <a:p>
            <a:fld id="{8ED22064-3AC2-4A29-A7DB-87C96F577F71}" type="slidenum">
              <a:rPr lang="en-ID" smtClean="0"/>
              <a:t>35</a:t>
            </a:fld>
            <a:endParaRPr lang="en-ID"/>
          </a:p>
        </p:txBody>
      </p:sp>
    </p:spTree>
    <p:extLst>
      <p:ext uri="{BB962C8B-B14F-4D97-AF65-F5344CB8AC3E}">
        <p14:creationId xmlns:p14="http://schemas.microsoft.com/office/powerpoint/2010/main" val="17524554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5A535-629B-9A4A-4315-3721BC433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52449-1E7F-1A1C-6178-1BE22C721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58263-05F4-05B2-2582-75433605A5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2ED1EC-7969-59A0-CCB9-0F4678682F66}"/>
              </a:ext>
            </a:extLst>
          </p:cNvPr>
          <p:cNvSpPr>
            <a:spLocks noGrp="1"/>
          </p:cNvSpPr>
          <p:nvPr>
            <p:ph type="sldNum" sz="quarter" idx="5"/>
          </p:nvPr>
        </p:nvSpPr>
        <p:spPr/>
        <p:txBody>
          <a:bodyPr/>
          <a:lstStyle/>
          <a:p>
            <a:fld id="{8ED22064-3AC2-4A29-A7DB-87C96F577F71}" type="slidenum">
              <a:rPr lang="en-ID" smtClean="0"/>
              <a:t>36</a:t>
            </a:fld>
            <a:endParaRPr lang="en-ID"/>
          </a:p>
        </p:txBody>
      </p:sp>
    </p:spTree>
    <p:extLst>
      <p:ext uri="{BB962C8B-B14F-4D97-AF65-F5344CB8AC3E}">
        <p14:creationId xmlns:p14="http://schemas.microsoft.com/office/powerpoint/2010/main" val="3856853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5E3C3-51F8-D1B9-D251-BF0C46276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FDB5D-BFB2-75FE-FC43-6CFBB85F6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19743-1311-06B8-6E2C-923A60BC3302}"/>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Amazon RDS is a managed service that sets up and operates a relational database in the cloud.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address the challenges of running an unmanaged, standalone relational database, AWS provides a service that sets up, operates, and scales the relational database without any ongoing administration. Amazon RDS provides cost-efficient and resizable capacity, while automating time-consuming administrative tasks.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Amazon RDS enables you to focus on your application, so you can give applications the performance, high availability, security, and compatibility that they need. With Amazon RDS, your primary focus is your data and optimizing your application. </a:t>
            </a:r>
          </a:p>
          <a:p>
            <a:endParaRPr lang="en-ID" dirty="0"/>
          </a:p>
          <a:p>
            <a:endParaRPr lang="en-US" dirty="0"/>
          </a:p>
        </p:txBody>
      </p:sp>
      <p:sp>
        <p:nvSpPr>
          <p:cNvPr id="4" name="Slide Number Placeholder 3">
            <a:extLst>
              <a:ext uri="{FF2B5EF4-FFF2-40B4-BE49-F238E27FC236}">
                <a16:creationId xmlns:a16="http://schemas.microsoft.com/office/drawing/2014/main" id="{16CF41D8-1064-C7DA-77D4-8EE9BEC0830B}"/>
              </a:ext>
            </a:extLst>
          </p:cNvPr>
          <p:cNvSpPr>
            <a:spLocks noGrp="1"/>
          </p:cNvSpPr>
          <p:nvPr>
            <p:ph type="sldNum" sz="quarter" idx="5"/>
          </p:nvPr>
        </p:nvSpPr>
        <p:spPr/>
        <p:txBody>
          <a:bodyPr/>
          <a:lstStyle/>
          <a:p>
            <a:fld id="{8ED22064-3AC2-4A29-A7DB-87C96F577F71}" type="slidenum">
              <a:rPr lang="en-ID" smtClean="0"/>
              <a:t>37</a:t>
            </a:fld>
            <a:endParaRPr lang="en-ID"/>
          </a:p>
        </p:txBody>
      </p:sp>
    </p:spTree>
    <p:extLst>
      <p:ext uri="{BB962C8B-B14F-4D97-AF65-F5344CB8AC3E}">
        <p14:creationId xmlns:p14="http://schemas.microsoft.com/office/powerpoint/2010/main" val="9102640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56153-A791-7294-CA7F-E7D04492B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C2CF0-999C-F578-D6E6-AFA496CD2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EB50A-DB96-FCB4-F0A2-7CE0D8B46886}"/>
              </a:ext>
            </a:extLst>
          </p:cNvPr>
          <p:cNvSpPr>
            <a:spLocks noGrp="1"/>
          </p:cNvSpPr>
          <p:nvPr>
            <p:ph type="body" idx="1"/>
          </p:nvPr>
        </p:nvSpPr>
        <p:spPr/>
        <p:txBody>
          <a:bodyPr/>
          <a:lstStyle/>
          <a:p>
            <a:r>
              <a:rPr lang="en-US" sz="1200" kern="1200" dirty="0">
                <a:solidFill>
                  <a:schemeClr val="tx1"/>
                </a:solidFill>
                <a:effectLst/>
                <a:ea typeface="+mn-ea"/>
                <a:cs typeface="+mn-cs"/>
              </a:rPr>
              <a:t>What does the term </a:t>
            </a:r>
            <a:r>
              <a:rPr lang="en-US" sz="1200" b="1" i="0" kern="1200" dirty="0">
                <a:solidFill>
                  <a:schemeClr val="tx1"/>
                </a:solidFill>
                <a:effectLst/>
                <a:ea typeface="+mn-ea"/>
                <a:cs typeface="+mn-cs"/>
              </a:rPr>
              <a:t>managed services</a:t>
            </a:r>
            <a:r>
              <a:rPr lang="en-US" sz="1200" b="0" i="0" kern="1200" baseline="0" dirty="0">
                <a:solidFill>
                  <a:schemeClr val="tx1"/>
                </a:solidFill>
                <a:effectLst/>
                <a:ea typeface="+mn-ea"/>
                <a:cs typeface="+mn-cs"/>
              </a:rPr>
              <a:t> mean?</a:t>
            </a:r>
            <a:r>
              <a:rPr lang="en-US" sz="1200" kern="1200" dirty="0">
                <a:solidFill>
                  <a:schemeClr val="tx1"/>
                </a:solidFill>
                <a:effectLst/>
                <a:ea typeface="+mn-ea"/>
                <a:cs typeface="+mn-cs"/>
              </a:rPr>
              <a:t>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When your database is on</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premises, the database administrator is responsible for everything.</a:t>
            </a:r>
            <a:r>
              <a:rPr lang="en-US" sz="1200" kern="1200" baseline="0" dirty="0">
                <a:solidFill>
                  <a:schemeClr val="tx1"/>
                </a:solidFill>
                <a:effectLst/>
                <a:ea typeface="+mn-ea"/>
                <a:cs typeface="+mn-cs"/>
              </a:rPr>
              <a:t> Database administration tasks include </a:t>
            </a:r>
            <a:r>
              <a:rPr lang="en-US" sz="1200" kern="1200" dirty="0">
                <a:solidFill>
                  <a:schemeClr val="tx1"/>
                </a:solidFill>
                <a:effectLst/>
                <a:ea typeface="+mn-ea"/>
                <a:cs typeface="+mn-cs"/>
              </a:rPr>
              <a:t>optimizing</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applications</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and queries; setting up the hardware; patching the hardware;</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setting up networking</a:t>
            </a:r>
            <a:r>
              <a:rPr lang="en-US" sz="1200" kern="1200" baseline="0" dirty="0">
                <a:solidFill>
                  <a:schemeClr val="tx1"/>
                </a:solidFill>
                <a:effectLst/>
                <a:ea typeface="+mn-ea"/>
                <a:cs typeface="+mn-cs"/>
              </a:rPr>
              <a:t> and </a:t>
            </a:r>
            <a:r>
              <a:rPr lang="en-US" sz="1200" kern="1200" dirty="0">
                <a:solidFill>
                  <a:schemeClr val="tx1"/>
                </a:solidFill>
                <a:effectLst/>
                <a:ea typeface="+mn-ea"/>
                <a:cs typeface="+mn-cs"/>
              </a:rPr>
              <a:t>power; and</a:t>
            </a:r>
            <a:r>
              <a:rPr lang="en-US" sz="1200" kern="1200" baseline="0" dirty="0">
                <a:solidFill>
                  <a:schemeClr val="tx1"/>
                </a:solidFill>
                <a:effectLst/>
                <a:ea typeface="+mn-ea"/>
                <a:cs typeface="+mn-cs"/>
              </a:rPr>
              <a:t> managing heating, ventilation, and air conditioning (</a:t>
            </a:r>
            <a:r>
              <a:rPr lang="en-US" sz="1200" kern="1200" dirty="0">
                <a:solidFill>
                  <a:schemeClr val="tx1"/>
                </a:solidFill>
                <a:effectLst/>
                <a:ea typeface="+mn-ea"/>
                <a:cs typeface="+mn-cs"/>
              </a:rPr>
              <a:t>HVAC).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If you move to a database that runs on an </a:t>
            </a:r>
            <a:r>
              <a:rPr lang="en-US" sz="1200" b="1" kern="1200" dirty="0">
                <a:solidFill>
                  <a:schemeClr val="tx1"/>
                </a:solidFill>
                <a:effectLst/>
                <a:ea typeface="+mn-ea"/>
                <a:cs typeface="+mn-cs"/>
              </a:rPr>
              <a:t>Amazon Elastic Compute Cloud</a:t>
            </a:r>
            <a:r>
              <a:rPr lang="en-US" sz="1200" b="1" kern="1200" baseline="0" dirty="0">
                <a:solidFill>
                  <a:schemeClr val="tx1"/>
                </a:solidFill>
                <a:effectLst/>
                <a:ea typeface="+mn-ea"/>
                <a:cs typeface="+mn-cs"/>
              </a:rPr>
              <a:t> (Amazon </a:t>
            </a:r>
            <a:r>
              <a:rPr lang="en-US" sz="1200" b="1" kern="1200" dirty="0">
                <a:solidFill>
                  <a:schemeClr val="tx1"/>
                </a:solidFill>
                <a:effectLst/>
                <a:ea typeface="+mn-ea"/>
                <a:cs typeface="+mn-cs"/>
              </a:rPr>
              <a:t>EC2) instance</a:t>
            </a:r>
            <a:r>
              <a:rPr lang="en-US" sz="1200" kern="1200" dirty="0">
                <a:solidFill>
                  <a:schemeClr val="tx1"/>
                </a:solidFill>
                <a:effectLst/>
                <a:ea typeface="+mn-ea"/>
                <a:cs typeface="+mn-cs"/>
              </a:rPr>
              <a:t>, you no longer need to manage the underlying hardware or handle data center operations. However, you</a:t>
            </a:r>
            <a:r>
              <a:rPr lang="en-US" sz="1200" kern="1200" baseline="0" dirty="0">
                <a:solidFill>
                  <a:schemeClr val="tx1"/>
                </a:solidFill>
                <a:effectLst/>
                <a:ea typeface="+mn-ea"/>
                <a:cs typeface="+mn-cs"/>
              </a:rPr>
              <a:t> a</a:t>
            </a:r>
            <a:r>
              <a:rPr lang="en-US" sz="1200" kern="1200" dirty="0">
                <a:solidFill>
                  <a:schemeClr val="tx1"/>
                </a:solidFill>
                <a:effectLst/>
                <a:ea typeface="+mn-ea"/>
                <a:cs typeface="+mn-cs"/>
              </a:rPr>
              <a:t>re still responsible for patching the OS and handling all software and backup operations.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If you set up your database on </a:t>
            </a:r>
            <a:r>
              <a:rPr lang="en-US" sz="1200" b="1" kern="1200" dirty="0">
                <a:solidFill>
                  <a:schemeClr val="tx1"/>
                </a:solidFill>
                <a:effectLst/>
                <a:ea typeface="+mn-ea"/>
                <a:cs typeface="+mn-cs"/>
              </a:rPr>
              <a:t>Amazon RDS</a:t>
            </a:r>
            <a:r>
              <a:rPr lang="en-US" sz="1200" b="0" kern="1200" dirty="0">
                <a:solidFill>
                  <a:schemeClr val="tx1"/>
                </a:solidFill>
                <a:effectLst/>
                <a:ea typeface="+mn-ea"/>
                <a:cs typeface="+mn-cs"/>
              </a:rPr>
              <a:t> or </a:t>
            </a:r>
            <a:r>
              <a:rPr lang="en-US" sz="1200" b="1" kern="1200" dirty="0">
                <a:solidFill>
                  <a:schemeClr val="tx1"/>
                </a:solidFill>
                <a:effectLst/>
                <a:ea typeface="+mn-ea"/>
                <a:cs typeface="+mn-cs"/>
              </a:rPr>
              <a:t>Amazon Aurora</a:t>
            </a:r>
            <a:r>
              <a:rPr lang="en-US" sz="1200" kern="1200" dirty="0">
                <a:solidFill>
                  <a:schemeClr val="tx1"/>
                </a:solidFill>
                <a:effectLst/>
                <a:ea typeface="+mn-ea"/>
                <a:cs typeface="+mn-cs"/>
              </a:rPr>
              <a:t>, you reduce your administrative responsibilities. By moving to the cloud, you can automatically scale your database, enable high availability, manage backups,</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and perform patching.</a:t>
            </a:r>
            <a:r>
              <a:rPr lang="en-US" sz="1200" kern="1200" baseline="0" dirty="0">
                <a:solidFill>
                  <a:schemeClr val="tx1"/>
                </a:solidFill>
                <a:effectLst/>
                <a:ea typeface="+mn-ea"/>
                <a:cs typeface="+mn-cs"/>
              </a:rPr>
              <a:t> Thus, </a:t>
            </a:r>
            <a:r>
              <a:rPr lang="en-US" sz="1200" kern="1200" dirty="0">
                <a:solidFill>
                  <a:schemeClr val="tx1"/>
                </a:solidFill>
                <a:effectLst/>
                <a:ea typeface="+mn-ea"/>
                <a:cs typeface="+mn-cs"/>
              </a:rPr>
              <a:t>you can focus on what really matters most—optimizing your application.</a:t>
            </a:r>
          </a:p>
          <a:p>
            <a:endParaRPr lang="en-ID" dirty="0"/>
          </a:p>
          <a:p>
            <a:endParaRPr lang="en-US" dirty="0"/>
          </a:p>
        </p:txBody>
      </p:sp>
      <p:sp>
        <p:nvSpPr>
          <p:cNvPr id="4" name="Slide Number Placeholder 3">
            <a:extLst>
              <a:ext uri="{FF2B5EF4-FFF2-40B4-BE49-F238E27FC236}">
                <a16:creationId xmlns:a16="http://schemas.microsoft.com/office/drawing/2014/main" id="{84818444-86B4-F31E-FEB7-54C956C211CD}"/>
              </a:ext>
            </a:extLst>
          </p:cNvPr>
          <p:cNvSpPr>
            <a:spLocks noGrp="1"/>
          </p:cNvSpPr>
          <p:nvPr>
            <p:ph type="sldNum" sz="quarter" idx="5"/>
          </p:nvPr>
        </p:nvSpPr>
        <p:spPr/>
        <p:txBody>
          <a:bodyPr/>
          <a:lstStyle/>
          <a:p>
            <a:fld id="{8ED22064-3AC2-4A29-A7DB-87C96F577F71}" type="slidenum">
              <a:rPr lang="en-ID" smtClean="0"/>
              <a:t>38</a:t>
            </a:fld>
            <a:endParaRPr lang="en-ID"/>
          </a:p>
        </p:txBody>
      </p:sp>
    </p:spTree>
    <p:extLst>
      <p:ext uri="{BB962C8B-B14F-4D97-AF65-F5344CB8AC3E}">
        <p14:creationId xmlns:p14="http://schemas.microsoft.com/office/powerpoint/2010/main" val="12827625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4BDE1-0D29-7042-408A-A7F865A3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EC184-E3BE-AB59-A67D-BAA77AEFC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92359-43CB-A1F6-CC9B-32F12D5FD9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F88888-B106-94B0-CDB6-789FE339B3DB}"/>
              </a:ext>
            </a:extLst>
          </p:cNvPr>
          <p:cNvSpPr>
            <a:spLocks noGrp="1"/>
          </p:cNvSpPr>
          <p:nvPr>
            <p:ph type="sldNum" sz="quarter" idx="5"/>
          </p:nvPr>
        </p:nvSpPr>
        <p:spPr/>
        <p:txBody>
          <a:bodyPr/>
          <a:lstStyle/>
          <a:p>
            <a:fld id="{8ED22064-3AC2-4A29-A7DB-87C96F577F71}" type="slidenum">
              <a:rPr lang="en-ID" smtClean="0"/>
              <a:t>39</a:t>
            </a:fld>
            <a:endParaRPr lang="en-ID"/>
          </a:p>
        </p:txBody>
      </p:sp>
    </p:spTree>
    <p:extLst>
      <p:ext uri="{BB962C8B-B14F-4D97-AF65-F5344CB8AC3E}">
        <p14:creationId xmlns:p14="http://schemas.microsoft.com/office/powerpoint/2010/main" val="35758343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2C30-72C4-BD4B-8FD6-32C4CF873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DE5AA-90D6-F690-6EE0-272F9809C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5E53-081F-1E70-542D-602DA28E626E}"/>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basic building block of Amazon RDS is the database instance. A </a:t>
            </a:r>
            <a:r>
              <a:rPr lang="en-US" sz="1200" b="1" i="0" kern="1200" dirty="0">
                <a:solidFill>
                  <a:schemeClr val="tx1"/>
                </a:solidFill>
                <a:effectLst/>
                <a:latin typeface="+mn-lt"/>
                <a:ea typeface="+mn-ea"/>
                <a:cs typeface="+mn-cs"/>
              </a:rPr>
              <a:t>database instance </a:t>
            </a:r>
            <a:r>
              <a:rPr lang="en-US" sz="1200" kern="1200" dirty="0">
                <a:solidFill>
                  <a:schemeClr val="tx1"/>
                </a:solidFill>
                <a:effectLst/>
                <a:latin typeface="+mn-lt"/>
                <a:ea typeface="+mn-ea"/>
                <a:cs typeface="+mn-cs"/>
              </a:rPr>
              <a:t>is an isolated database environment that can contain multiple user-created databases.</a:t>
            </a:r>
            <a:r>
              <a:rPr lang="en-US" sz="1200" kern="1200" baseline="0" dirty="0">
                <a:solidFill>
                  <a:schemeClr val="tx1"/>
                </a:solidFill>
                <a:effectLst/>
                <a:latin typeface="+mn-lt"/>
                <a:ea typeface="+mn-ea"/>
                <a:cs typeface="+mn-cs"/>
              </a:rPr>
              <a:t> It </a:t>
            </a:r>
            <a:r>
              <a:rPr lang="en-US" sz="1200" kern="1200" dirty="0">
                <a:solidFill>
                  <a:schemeClr val="tx1"/>
                </a:solidFill>
                <a:effectLst/>
                <a:latin typeface="+mn-lt"/>
                <a:ea typeface="+mn-ea"/>
                <a:cs typeface="+mn-cs"/>
              </a:rPr>
              <a:t>can be accessed by using the same tools and applications that you use with a standalone database instance. The resources in a database instance are determined by its database instance class, and the type of storage is dictated by the type of disks.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Database instances and storage differ in performance characteristics and price, which enable you to customize your performance and cost to the needs of your database. When you choose to create a database instance, you must first specify which database engine to run. Amazon RDS currently supports six databases: MySQL, Amazon Aurora, Microsoft SQL Server, PostgreSQL, MariaDB, and Oracle.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946C0E0D-9876-2B5A-F41C-35DCB9BAF933}"/>
              </a:ext>
            </a:extLst>
          </p:cNvPr>
          <p:cNvSpPr>
            <a:spLocks noGrp="1"/>
          </p:cNvSpPr>
          <p:nvPr>
            <p:ph type="sldNum" sz="quarter" idx="5"/>
          </p:nvPr>
        </p:nvSpPr>
        <p:spPr/>
        <p:txBody>
          <a:bodyPr/>
          <a:lstStyle/>
          <a:p>
            <a:fld id="{8ED22064-3AC2-4A29-A7DB-87C96F577F71}" type="slidenum">
              <a:rPr lang="en-ID" smtClean="0"/>
              <a:t>40</a:t>
            </a:fld>
            <a:endParaRPr lang="en-ID"/>
          </a:p>
        </p:txBody>
      </p:sp>
    </p:spTree>
    <p:extLst>
      <p:ext uri="{BB962C8B-B14F-4D97-AF65-F5344CB8AC3E}">
        <p14:creationId xmlns:p14="http://schemas.microsoft.com/office/powerpoint/2010/main" val="6703856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203ED-ACD3-F45D-CD21-7C9315C35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77761-74BE-F826-E89E-C7847DFD1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38414-AF21-8921-F2CE-89BF18AF09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run an instance by using </a:t>
            </a:r>
            <a:r>
              <a:rPr lang="en-US" sz="1200" b="1" kern="1200" dirty="0">
                <a:solidFill>
                  <a:schemeClr val="tx1"/>
                </a:solidFill>
                <a:effectLst/>
                <a:latin typeface="+mn-lt"/>
                <a:ea typeface="+mn-ea"/>
                <a:cs typeface="+mn-cs"/>
              </a:rPr>
              <a:t>Amazon Virtual Private Cloud (Amazon VPC). </a:t>
            </a:r>
            <a:r>
              <a:rPr lang="en-US" sz="1200" kern="1200" dirty="0">
                <a:solidFill>
                  <a:schemeClr val="tx1"/>
                </a:solidFill>
                <a:effectLst/>
                <a:latin typeface="+mn-lt"/>
                <a:ea typeface="+mn-ea"/>
                <a:cs typeface="+mn-cs"/>
              </a:rPr>
              <a:t>When you use a</a:t>
            </a:r>
            <a:r>
              <a:rPr lang="en-US" sz="1200" kern="1200" baseline="0" dirty="0">
                <a:solidFill>
                  <a:schemeClr val="tx1"/>
                </a:solidFill>
                <a:effectLst/>
                <a:latin typeface="+mn-lt"/>
                <a:ea typeface="+mn-ea"/>
                <a:cs typeface="+mn-cs"/>
              </a:rPr>
              <a:t> virtual private cloud (</a:t>
            </a:r>
            <a:r>
              <a:rPr lang="en-US" sz="1200" kern="1200" dirty="0">
                <a:solidFill>
                  <a:schemeClr val="tx1"/>
                </a:solidFill>
                <a:effectLst/>
                <a:latin typeface="+mn-lt"/>
                <a:ea typeface="+mn-ea"/>
                <a:cs typeface="+mn-cs"/>
              </a:rPr>
              <a:t>VPC), you have control over your virtual networking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select your own IP address range, create subnets, and configure routing and access control lists (ACLs). The basic functionality of Amazon RDS is the same whether or not it runs in a</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VPC. Usually, the database instance is isolated in a private subnet and is only made directly accessible to indicated application instances. Subnets in a</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VPC are associated with a single Availability Zone, so when you select the subnet, you</a:t>
            </a:r>
            <a:r>
              <a:rPr lang="en-US" sz="1200" kern="1200" baseline="0" dirty="0">
                <a:solidFill>
                  <a:schemeClr val="tx1"/>
                </a:solidFill>
                <a:effectLst/>
                <a:latin typeface="+mn-lt"/>
                <a:ea typeface="+mn-ea"/>
                <a:cs typeface="+mn-cs"/>
              </a:rPr>
              <a:t> are</a:t>
            </a:r>
            <a:r>
              <a:rPr lang="en-US" sz="1200" kern="1200" dirty="0">
                <a:solidFill>
                  <a:schemeClr val="tx1"/>
                </a:solidFill>
                <a:effectLst/>
                <a:latin typeface="+mn-lt"/>
                <a:ea typeface="+mn-ea"/>
                <a:cs typeface="+mn-cs"/>
              </a:rPr>
              <a:t> also choosing the Availability Zone (or physical location) for your database instance.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CE151F57-F4E0-27FE-8805-44BCDB55BDFD}"/>
              </a:ext>
            </a:extLst>
          </p:cNvPr>
          <p:cNvSpPr>
            <a:spLocks noGrp="1"/>
          </p:cNvSpPr>
          <p:nvPr>
            <p:ph type="sldNum" sz="quarter" idx="5"/>
          </p:nvPr>
        </p:nvSpPr>
        <p:spPr/>
        <p:txBody>
          <a:bodyPr/>
          <a:lstStyle/>
          <a:p>
            <a:fld id="{8ED22064-3AC2-4A29-A7DB-87C96F577F71}" type="slidenum">
              <a:rPr lang="en-ID" smtClean="0"/>
              <a:t>41</a:t>
            </a:fld>
            <a:endParaRPr lang="en-ID"/>
          </a:p>
        </p:txBody>
      </p:sp>
    </p:spTree>
    <p:extLst>
      <p:ext uri="{BB962C8B-B14F-4D97-AF65-F5344CB8AC3E}">
        <p14:creationId xmlns:p14="http://schemas.microsoft.com/office/powerpoint/2010/main" val="4033116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840F6-2A50-8F7D-6BCB-FF6EA07BF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3BADA-ADAB-250D-27B4-679094D1F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B44C1-B5DC-7442-D71D-1929C001AA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of the most powerful features of Amazon RDS is the ability to configure your database instance for high availability with a Multi-AZ deployment. After a</a:t>
            </a:r>
            <a:r>
              <a:rPr lang="en-US" sz="1200" kern="1200" baseline="0" dirty="0">
                <a:solidFill>
                  <a:schemeClr val="tx1"/>
                </a:solidFill>
                <a:effectLst/>
                <a:latin typeface="+mn-lt"/>
                <a:ea typeface="+mn-ea"/>
                <a:cs typeface="+mn-cs"/>
              </a:rPr>
              <a:t> Multi-AZ deployment is</a:t>
            </a:r>
            <a:r>
              <a:rPr lang="en-US" sz="1200" kern="1200" dirty="0">
                <a:solidFill>
                  <a:schemeClr val="tx1"/>
                </a:solidFill>
                <a:effectLst/>
                <a:latin typeface="+mn-lt"/>
                <a:ea typeface="+mn-ea"/>
                <a:cs typeface="+mn-cs"/>
              </a:rPr>
              <a:t> configured, Amazon RDS automatically generates a standby copy of the database instance in another Availability Zone within the same VPC. After seeding the database copy, transactions are synchronously replicated to the standby copy. Running a database instance in a Multi-AZ</a:t>
            </a:r>
            <a:r>
              <a:rPr lang="en-US" sz="1200" kern="1200" baseline="0" dirty="0">
                <a:solidFill>
                  <a:schemeClr val="tx1"/>
                </a:solidFill>
                <a:effectLst/>
                <a:latin typeface="+mn-lt"/>
                <a:ea typeface="+mn-ea"/>
                <a:cs typeface="+mn-cs"/>
              </a:rPr>
              <a:t> deployment </a:t>
            </a:r>
            <a:r>
              <a:rPr lang="en-US" sz="1200" kern="1200" dirty="0">
                <a:solidFill>
                  <a:schemeClr val="tx1"/>
                </a:solidFill>
                <a:effectLst/>
                <a:latin typeface="+mn-lt"/>
                <a:ea typeface="+mn-ea"/>
                <a:cs typeface="+mn-cs"/>
              </a:rPr>
              <a:t>can enhance availability during planned system maintenance, and it can help protect your databases against database instance failure and Availability Zone disruption.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425FF024-F86E-1BF2-6F68-7BE2B1D64721}"/>
              </a:ext>
            </a:extLst>
          </p:cNvPr>
          <p:cNvSpPr>
            <a:spLocks noGrp="1"/>
          </p:cNvSpPr>
          <p:nvPr>
            <p:ph type="sldNum" sz="quarter" idx="5"/>
          </p:nvPr>
        </p:nvSpPr>
        <p:spPr/>
        <p:txBody>
          <a:bodyPr/>
          <a:lstStyle/>
          <a:p>
            <a:fld id="{8ED22064-3AC2-4A29-A7DB-87C96F577F71}" type="slidenum">
              <a:rPr lang="en-ID" smtClean="0"/>
              <a:t>42</a:t>
            </a:fld>
            <a:endParaRPr lang="en-ID"/>
          </a:p>
        </p:txBody>
      </p:sp>
    </p:spTree>
    <p:extLst>
      <p:ext uri="{BB962C8B-B14F-4D97-AF65-F5344CB8AC3E}">
        <p14:creationId xmlns:p14="http://schemas.microsoft.com/office/powerpoint/2010/main" val="33800958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C1D5-BC78-2283-350A-0171F8F87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DB873-46DD-DEBD-CA47-7FF04DB97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519B4-7FC0-9A42-3992-2B79B90945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Therefore</a:t>
            </a:r>
            <a:r>
              <a:rPr lang="en-US" sz="1200" kern="1200" baseline="0" dirty="0">
                <a:solidFill>
                  <a:schemeClr val="tx1"/>
                </a:solidFill>
                <a:effectLst/>
                <a:latin typeface="+mn-lt"/>
                <a:ea typeface="+mn-ea"/>
                <a:cs typeface="+mn-cs"/>
              </a:rPr>
              <a:t>, i</a:t>
            </a:r>
            <a:r>
              <a:rPr lang="en-US" sz="1200" kern="1200" dirty="0">
                <a:solidFill>
                  <a:schemeClr val="tx1"/>
                </a:solidFill>
                <a:effectLst/>
                <a:latin typeface="+mn-lt"/>
                <a:ea typeface="+mn-ea"/>
                <a:cs typeface="+mn-cs"/>
              </a:rPr>
              <a:t>f the main database instance fails in a Multi-AZ</a:t>
            </a:r>
            <a:r>
              <a:rPr lang="en-US" sz="1200" kern="1200" baseline="0" dirty="0">
                <a:solidFill>
                  <a:schemeClr val="tx1"/>
                </a:solidFill>
                <a:effectLst/>
                <a:latin typeface="+mn-lt"/>
                <a:ea typeface="+mn-ea"/>
                <a:cs typeface="+mn-cs"/>
              </a:rPr>
              <a:t> deployment</a:t>
            </a:r>
            <a:r>
              <a:rPr lang="en-US" sz="1200" kern="1200" dirty="0">
                <a:solidFill>
                  <a:schemeClr val="tx1"/>
                </a:solidFill>
                <a:effectLst/>
                <a:latin typeface="+mn-lt"/>
                <a:ea typeface="+mn-ea"/>
                <a:cs typeface="+mn-cs"/>
              </a:rPr>
              <a:t>, Amazon RDS automatically brings the standby database instance online as the new main instance. The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synchronous replication</a:t>
            </a:r>
            <a:r>
              <a:rPr lang="en-US" sz="1200" kern="1200" baseline="0" dirty="0">
                <a:solidFill>
                  <a:schemeClr val="tx1"/>
                </a:solidFill>
                <a:effectLst/>
                <a:latin typeface="+mn-lt"/>
                <a:ea typeface="+mn-ea"/>
                <a:cs typeface="+mn-cs"/>
              </a:rPr>
              <a:t> minimizes </a:t>
            </a:r>
            <a:r>
              <a:rPr lang="en-US" sz="1200" kern="1200" dirty="0">
                <a:solidFill>
                  <a:schemeClr val="tx1"/>
                </a:solidFill>
                <a:effectLst/>
                <a:latin typeface="+mn-lt"/>
                <a:ea typeface="+mn-ea"/>
                <a:cs typeface="+mn-cs"/>
              </a:rPr>
              <a:t>the potential for data loss. Because your applications reference the database by name by using the Amazon RDS Domain</a:t>
            </a:r>
            <a:r>
              <a:rPr lang="en-US" sz="1200" kern="1200" baseline="0" dirty="0">
                <a:solidFill>
                  <a:schemeClr val="tx1"/>
                </a:solidFill>
                <a:effectLst/>
                <a:latin typeface="+mn-lt"/>
                <a:ea typeface="+mn-ea"/>
                <a:cs typeface="+mn-cs"/>
              </a:rPr>
              <a:t> Name System (</a:t>
            </a:r>
            <a:r>
              <a:rPr lang="en-US" sz="1200" kern="1200" dirty="0">
                <a:solidFill>
                  <a:schemeClr val="tx1"/>
                </a:solidFill>
                <a:effectLst/>
                <a:latin typeface="+mn-lt"/>
                <a:ea typeface="+mn-ea"/>
                <a:cs typeface="+mn-cs"/>
              </a:rPr>
              <a:t>DNS) endpoint, you don't need to change anything in your application code to use the standby copy for failover.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082518B4-0D66-8698-F67F-6EFB943FBF38}"/>
              </a:ext>
            </a:extLst>
          </p:cNvPr>
          <p:cNvSpPr>
            <a:spLocks noGrp="1"/>
          </p:cNvSpPr>
          <p:nvPr>
            <p:ph type="sldNum" sz="quarter" idx="5"/>
          </p:nvPr>
        </p:nvSpPr>
        <p:spPr/>
        <p:txBody>
          <a:bodyPr/>
          <a:lstStyle/>
          <a:p>
            <a:fld id="{8ED22064-3AC2-4A29-A7DB-87C96F577F71}" type="slidenum">
              <a:rPr lang="en-ID" smtClean="0"/>
              <a:t>43</a:t>
            </a:fld>
            <a:endParaRPr lang="en-ID"/>
          </a:p>
        </p:txBody>
      </p:sp>
    </p:spTree>
    <p:extLst>
      <p:ext uri="{BB962C8B-B14F-4D97-AF65-F5344CB8AC3E}">
        <p14:creationId xmlns:p14="http://schemas.microsoft.com/office/powerpoint/2010/main" val="21239223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66B4D-7BC7-EDE0-322F-BDAE89C36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6BEC9-C3D5-9CD9-CA34-C7F1BB9F4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95BAB-2F4B-91CA-9C6C-7A930A27F2B8}"/>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Amazon RDS also supports the creation of read replicas for MySQL, MariaDB, PostgreSQL, and Amazon Aurora. Updates that are made to the source database instance are asynchronously copied to the read replica instance. You can reduce the load on your source database instance by routing read queries from your applications to the read replica. Using read replicas, you can also scale out beyond the capacity constraints of a single database instance for read-heavy database workloads. Read replicas can also be promoted to become the primary database instance, but this</a:t>
            </a:r>
            <a:r>
              <a:rPr lang="en-US" sz="1200" kern="1200" baseline="0" dirty="0">
                <a:solidFill>
                  <a:schemeClr val="tx1"/>
                </a:solidFill>
                <a:effectLst/>
                <a:latin typeface="+mn-lt"/>
                <a:ea typeface="+mn-ea"/>
                <a:cs typeface="+mn-cs"/>
              </a:rPr>
              <a:t> requires manual action because of </a:t>
            </a:r>
            <a:r>
              <a:rPr lang="en-US" sz="1200" kern="1200" dirty="0">
                <a:solidFill>
                  <a:schemeClr val="tx1"/>
                </a:solidFill>
                <a:effectLst/>
                <a:latin typeface="+mn-lt"/>
                <a:ea typeface="+mn-ea"/>
                <a:cs typeface="+mn-cs"/>
              </a:rPr>
              <a:t>asynchronous replication.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Read replicas can be created in a different Region than the primary database. This feature can help satisfy disaster recovery requirements or reduce latency by directing reads to a read replica that is closer to the user. </a:t>
            </a:r>
          </a:p>
          <a:p>
            <a:endParaRPr lang="en-US" sz="1200" kern="1200" dirty="0">
              <a:solidFill>
                <a:schemeClr val="tx1"/>
              </a:solidFill>
              <a:effectLst/>
              <a:latin typeface="+mn-lt"/>
              <a:ea typeface="+mn-ea"/>
              <a:cs typeface="+mn-cs"/>
            </a:endParaRPr>
          </a:p>
          <a:p>
            <a:endParaRPr lang="en-ID" dirty="0"/>
          </a:p>
          <a:p>
            <a:endParaRPr lang="en-US" dirty="0"/>
          </a:p>
        </p:txBody>
      </p:sp>
      <p:sp>
        <p:nvSpPr>
          <p:cNvPr id="4" name="Slide Number Placeholder 3">
            <a:extLst>
              <a:ext uri="{FF2B5EF4-FFF2-40B4-BE49-F238E27FC236}">
                <a16:creationId xmlns:a16="http://schemas.microsoft.com/office/drawing/2014/main" id="{B0372876-F4CB-4609-55FA-0C6EE07A4A8A}"/>
              </a:ext>
            </a:extLst>
          </p:cNvPr>
          <p:cNvSpPr>
            <a:spLocks noGrp="1"/>
          </p:cNvSpPr>
          <p:nvPr>
            <p:ph type="sldNum" sz="quarter" idx="5"/>
          </p:nvPr>
        </p:nvSpPr>
        <p:spPr/>
        <p:txBody>
          <a:bodyPr/>
          <a:lstStyle/>
          <a:p>
            <a:fld id="{8ED22064-3AC2-4A29-A7DB-87C96F577F71}" type="slidenum">
              <a:rPr lang="en-ID" smtClean="0"/>
              <a:t>44</a:t>
            </a:fld>
            <a:endParaRPr lang="en-ID"/>
          </a:p>
        </p:txBody>
      </p:sp>
    </p:spTree>
    <p:extLst>
      <p:ext uri="{BB962C8B-B14F-4D97-AF65-F5344CB8AC3E}">
        <p14:creationId xmlns:p14="http://schemas.microsoft.com/office/powerpoint/2010/main" val="418681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1E9C-7E76-7F30-EB4F-A88332230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493E2-DFE9-D7F5-DA7A-DA9318EFF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EC773-4645-B69C-D177-B9C926EAC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D41D1-83A6-31DD-4066-241383C6C9AC}"/>
              </a:ext>
            </a:extLst>
          </p:cNvPr>
          <p:cNvSpPr>
            <a:spLocks noGrp="1"/>
          </p:cNvSpPr>
          <p:nvPr>
            <p:ph type="sldNum" sz="quarter" idx="5"/>
          </p:nvPr>
        </p:nvSpPr>
        <p:spPr/>
        <p:txBody>
          <a:bodyPr/>
          <a:lstStyle/>
          <a:p>
            <a:fld id="{8ED22064-3AC2-4A29-A7DB-87C96F577F71}" type="slidenum">
              <a:rPr lang="en-ID" smtClean="0"/>
              <a:t>45</a:t>
            </a:fld>
            <a:endParaRPr lang="en-ID"/>
          </a:p>
        </p:txBody>
      </p:sp>
    </p:spTree>
    <p:extLst>
      <p:ext uri="{BB962C8B-B14F-4D97-AF65-F5344CB8AC3E}">
        <p14:creationId xmlns:p14="http://schemas.microsoft.com/office/powerpoint/2010/main" val="3570190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CDB16-19B6-BA9D-BAAA-3B454E1B9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922B8-800B-2F81-C020-C30AA54E6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42966-E489-686B-5504-A7EDCFA02CE7}"/>
              </a:ext>
            </a:extLst>
          </p:cNvPr>
          <p:cNvSpPr>
            <a:spLocks noGrp="1"/>
          </p:cNvSpPr>
          <p:nvPr>
            <p:ph type="body" idx="1"/>
          </p:nvPr>
        </p:nvSpPr>
        <p:spPr/>
        <p:txBody>
          <a:bodyPr/>
          <a:lstStyle/>
          <a:p>
            <a:r>
              <a:rPr lang="en-US" dirty="0"/>
              <a:t>Use Amazon RDS when your application requires: </a:t>
            </a:r>
          </a:p>
          <a:p>
            <a:pPr marL="171450" lvl="0" indent="-171450">
              <a:buFont typeface="Arial" panose="020B0604020202020204" pitchFamily="34" charset="0"/>
              <a:buChar char="•"/>
            </a:pPr>
            <a:r>
              <a:rPr lang="en-US" dirty="0"/>
              <a:t>Complex transactions or complex queries</a:t>
            </a:r>
          </a:p>
          <a:p>
            <a:pPr marL="171450" lvl="0" indent="-171450">
              <a:buFont typeface="Arial" panose="020B0604020202020204" pitchFamily="34" charset="0"/>
              <a:buChar char="•"/>
            </a:pPr>
            <a:r>
              <a:rPr lang="en-US" dirty="0"/>
              <a:t>A medium to high query</a:t>
            </a:r>
            <a:r>
              <a:rPr lang="en-US" baseline="0" dirty="0"/>
              <a:t> or </a:t>
            </a:r>
            <a:r>
              <a:rPr lang="en-US" dirty="0"/>
              <a:t>write rate – up to 30,000 IOPS (15,000 reads + 15,000 writes)</a:t>
            </a:r>
          </a:p>
          <a:p>
            <a:pPr marL="171450" lvl="0" indent="-171450">
              <a:buFont typeface="Arial" panose="020B0604020202020204" pitchFamily="34" charset="0"/>
              <a:buChar char="•"/>
            </a:pPr>
            <a:r>
              <a:rPr lang="en-US" dirty="0"/>
              <a:t>No more than a single worker node</a:t>
            </a:r>
            <a:r>
              <a:rPr lang="en-US" baseline="0" dirty="0"/>
              <a:t> or </a:t>
            </a:r>
            <a:r>
              <a:rPr lang="en-US" dirty="0"/>
              <a:t>shard</a:t>
            </a:r>
          </a:p>
          <a:p>
            <a:pPr marL="171450" lvl="0" indent="-171450">
              <a:buFont typeface="Arial" panose="020B0604020202020204" pitchFamily="34" charset="0"/>
              <a:buChar char="•"/>
            </a:pPr>
            <a:r>
              <a:rPr lang="en-US" dirty="0"/>
              <a:t>High durability</a:t>
            </a:r>
          </a:p>
          <a:p>
            <a:r>
              <a:rPr lang="en-US" dirty="0"/>
              <a:t> </a:t>
            </a:r>
          </a:p>
          <a:p>
            <a:r>
              <a:rPr lang="en-US" dirty="0"/>
              <a:t>Do not use Amazon RDS when your application requires:</a:t>
            </a:r>
          </a:p>
          <a:p>
            <a:pPr marL="171450" lvl="0" indent="-171450">
              <a:buFont typeface="Arial" panose="020B0604020202020204" pitchFamily="34" charset="0"/>
              <a:buChar char="•"/>
            </a:pPr>
            <a:r>
              <a:rPr lang="en-US" dirty="0"/>
              <a:t>Massive read/write rates (for example 150,000 writes per second)</a:t>
            </a:r>
          </a:p>
          <a:p>
            <a:pPr marL="171450" lvl="0" indent="-171450">
              <a:buFont typeface="Arial" panose="020B0604020202020204" pitchFamily="34" charset="0"/>
              <a:buChar char="•"/>
            </a:pPr>
            <a:r>
              <a:rPr lang="en-US" dirty="0"/>
              <a:t>Sharding due to high data size or throughput demands </a:t>
            </a:r>
          </a:p>
          <a:p>
            <a:pPr marL="171450" lvl="0" indent="-171450">
              <a:buFont typeface="Arial" panose="020B0604020202020204" pitchFamily="34" charset="0"/>
              <a:buChar char="•"/>
            </a:pPr>
            <a:r>
              <a:rPr lang="en-US" dirty="0"/>
              <a:t>Simple GET</a:t>
            </a:r>
            <a:r>
              <a:rPr lang="en-US" baseline="0" dirty="0"/>
              <a:t> or </a:t>
            </a:r>
            <a:r>
              <a:rPr lang="en-US" dirty="0"/>
              <a:t>PUT requests and queries that a NoSQL database can handle</a:t>
            </a:r>
          </a:p>
          <a:p>
            <a:pPr marL="171450" lvl="0" indent="-171450">
              <a:buFont typeface="Arial" panose="020B0604020202020204" pitchFamily="34" charset="0"/>
              <a:buChar char="•"/>
            </a:pPr>
            <a:r>
              <a:rPr lang="en-US" dirty="0"/>
              <a:t>Or, relational database management system (RDBMS) customization</a:t>
            </a:r>
          </a:p>
          <a:p>
            <a:r>
              <a:rPr lang="en-US" dirty="0"/>
              <a:t> </a:t>
            </a:r>
          </a:p>
          <a:p>
            <a:r>
              <a:rPr lang="en-US" dirty="0"/>
              <a:t>For circumstances when you should not use Amazon RDS, consider either using a NoSQL database solution</a:t>
            </a:r>
            <a:r>
              <a:rPr lang="en-US" baseline="0" dirty="0"/>
              <a:t> (</a:t>
            </a:r>
            <a:r>
              <a:rPr lang="en-US" dirty="0"/>
              <a:t>such as DynamoDB) or running your relational database engine on Amazon EC2 instances instead of Amazon RDS</a:t>
            </a:r>
            <a:r>
              <a:rPr lang="en-US" baseline="0" dirty="0"/>
              <a:t> (</a:t>
            </a:r>
            <a:r>
              <a:rPr lang="en-US" dirty="0"/>
              <a:t>which will provide you with more options for customizing your database).</a:t>
            </a:r>
          </a:p>
          <a:p>
            <a:endParaRPr lang="en-US" dirty="0"/>
          </a:p>
        </p:txBody>
      </p:sp>
      <p:sp>
        <p:nvSpPr>
          <p:cNvPr id="4" name="Slide Number Placeholder 3">
            <a:extLst>
              <a:ext uri="{FF2B5EF4-FFF2-40B4-BE49-F238E27FC236}">
                <a16:creationId xmlns:a16="http://schemas.microsoft.com/office/drawing/2014/main" id="{2D08812C-1F1C-5664-3D4C-BA452904B27E}"/>
              </a:ext>
            </a:extLst>
          </p:cNvPr>
          <p:cNvSpPr>
            <a:spLocks noGrp="1"/>
          </p:cNvSpPr>
          <p:nvPr>
            <p:ph type="sldNum" sz="quarter" idx="5"/>
          </p:nvPr>
        </p:nvSpPr>
        <p:spPr/>
        <p:txBody>
          <a:bodyPr/>
          <a:lstStyle/>
          <a:p>
            <a:fld id="{8ED22064-3AC2-4A29-A7DB-87C96F577F71}" type="slidenum">
              <a:rPr lang="en-ID" smtClean="0"/>
              <a:t>46</a:t>
            </a:fld>
            <a:endParaRPr lang="en-ID"/>
          </a:p>
        </p:txBody>
      </p:sp>
    </p:spTree>
    <p:extLst>
      <p:ext uri="{BB962C8B-B14F-4D97-AF65-F5344CB8AC3E}">
        <p14:creationId xmlns:p14="http://schemas.microsoft.com/office/powerpoint/2010/main" val="3600664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102DE-7486-B1BE-7506-32708AF2F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19D01-0981-848D-A16C-22A779174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82D31-EC74-B13A-5978-BB6C5DA923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With DynamoDB, this module transitions from relational databases to non-relational databases. Here is a review of the differences between these two types of databases:</a:t>
            </a:r>
          </a:p>
          <a:p>
            <a:pPr marL="171450" indent="-171450" algn="l">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lgn="l">
              <a:buFont typeface="Arial" panose="020B0604020202020204" pitchFamily="34" charset="0"/>
              <a:buChar char="•"/>
            </a:pPr>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relational database </a:t>
            </a:r>
            <a:r>
              <a:rPr lang="en-US" sz="1200" b="0" i="0" kern="1200" dirty="0">
                <a:solidFill>
                  <a:schemeClr val="tx1"/>
                </a:solidFill>
                <a:effectLst/>
                <a:latin typeface="+mn-lt"/>
                <a:ea typeface="+mn-ea"/>
                <a:cs typeface="+mn-cs"/>
              </a:rPr>
              <a:t>(RDB) works with structured data that is organized by tables, records, and columns. RDBs establish a well-defined relationship between database tables. RDBs use structured query language (SQL), which is a standard user application that provides a</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programming interface for database interaction. Relational databases might have difficulties scaling out horizontally</a:t>
            </a:r>
            <a:r>
              <a:rPr lang="en-US" sz="1200" b="0" i="0" kern="1200" baseline="0" dirty="0">
                <a:solidFill>
                  <a:schemeClr val="tx1"/>
                </a:solidFill>
                <a:effectLst/>
                <a:latin typeface="+mn-lt"/>
                <a:ea typeface="+mn-ea"/>
                <a:cs typeface="+mn-cs"/>
              </a:rPr>
              <a:t> or </a:t>
            </a:r>
            <a:r>
              <a:rPr lang="en-US" sz="1200" b="0" i="0" kern="1200" dirty="0">
                <a:solidFill>
                  <a:schemeClr val="tx1"/>
                </a:solidFill>
                <a:effectLst/>
                <a:latin typeface="+mn-lt"/>
                <a:ea typeface="+mn-ea"/>
                <a:cs typeface="+mn-cs"/>
              </a:rPr>
              <a:t>working with </a:t>
            </a:r>
            <a:r>
              <a:rPr lang="en-US" sz="1200" b="0" i="0" kern="1200" dirty="0" err="1">
                <a:solidFill>
                  <a:schemeClr val="tx1"/>
                </a:solidFill>
                <a:effectLst/>
                <a:latin typeface="+mn-lt"/>
                <a:ea typeface="+mn-ea"/>
                <a:cs typeface="+mn-cs"/>
              </a:rPr>
              <a:t>semistructured</a:t>
            </a:r>
            <a:r>
              <a:rPr lang="en-US" sz="1200" b="0" i="0" kern="1200" dirty="0">
                <a:solidFill>
                  <a:schemeClr val="tx1"/>
                </a:solidFill>
                <a:effectLst/>
                <a:latin typeface="+mn-lt"/>
                <a:ea typeface="+mn-ea"/>
                <a:cs typeface="+mn-cs"/>
              </a:rPr>
              <a:t> data, and might</a:t>
            </a:r>
            <a:r>
              <a:rPr lang="en-US" sz="1200" b="0" i="0" kern="1200" baseline="0" dirty="0">
                <a:solidFill>
                  <a:schemeClr val="tx1"/>
                </a:solidFill>
                <a:effectLst/>
                <a:latin typeface="+mn-lt"/>
                <a:ea typeface="+mn-ea"/>
                <a:cs typeface="+mn-cs"/>
              </a:rPr>
              <a:t> also </a:t>
            </a:r>
            <a:r>
              <a:rPr lang="en-US" sz="1200" b="0" i="0" kern="1200" dirty="0">
                <a:solidFill>
                  <a:schemeClr val="tx1"/>
                </a:solidFill>
                <a:effectLst/>
                <a:latin typeface="+mn-lt"/>
                <a:ea typeface="+mn-ea"/>
                <a:cs typeface="+mn-cs"/>
              </a:rPr>
              <a:t>require many joins for normalized data.</a:t>
            </a:r>
          </a:p>
          <a:p>
            <a:pPr marL="171450" indent="-171450" algn="l">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lgn="l">
              <a:buFont typeface="Arial" panose="020B0604020202020204" pitchFamily="34" charset="0"/>
              <a:buChar char="•"/>
            </a:pPr>
            <a:r>
              <a:rPr lang="en-US" sz="1200" b="0" i="0" kern="1200" dirty="0">
                <a:solidFill>
                  <a:schemeClr val="tx1"/>
                </a:solidFill>
                <a:effectLst/>
                <a:latin typeface="+mn-lt"/>
                <a:ea typeface="+mn-ea"/>
                <a:cs typeface="+mn-cs"/>
              </a:rPr>
              <a:t>A</a:t>
            </a:r>
            <a:r>
              <a:rPr lang="en-US" sz="1200" b="1" i="0" kern="1200" dirty="0">
                <a:solidFill>
                  <a:schemeClr val="tx1"/>
                </a:solidFill>
                <a:effectLst/>
                <a:latin typeface="+mn-lt"/>
                <a:ea typeface="+mn-ea"/>
                <a:cs typeface="+mn-cs"/>
              </a:rPr>
              <a:t> non-relational database</a:t>
            </a:r>
            <a:r>
              <a:rPr lang="en-US" sz="1200" b="1"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is any database that does not follow the relational model that is provided by traditional relational database management systems (RDBMS). Non-relational databases have grown in popularity because they were designed to overcome the limitations of relational databases for handling the demands of variable structured data. Non-relational databases scale out horizontally,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and they can work with unstructured and </a:t>
            </a:r>
            <a:r>
              <a:rPr lang="en-US" sz="1200" b="0" i="0" kern="1200" dirty="0" err="1">
                <a:solidFill>
                  <a:schemeClr val="tx1"/>
                </a:solidFill>
                <a:effectLst/>
                <a:latin typeface="+mn-lt"/>
                <a:ea typeface="+mn-ea"/>
                <a:cs typeface="+mn-cs"/>
              </a:rPr>
              <a:t>semistructured</a:t>
            </a:r>
            <a:r>
              <a:rPr lang="en-US" sz="1200" b="0" i="0" kern="1200" dirty="0">
                <a:solidFill>
                  <a:schemeClr val="tx1"/>
                </a:solidFill>
                <a:effectLst/>
                <a:latin typeface="+mn-lt"/>
                <a:ea typeface="+mn-ea"/>
                <a:cs typeface="+mn-cs"/>
              </a:rPr>
              <a: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baseline="0" dirty="0"/>
          </a:p>
          <a:p>
            <a:endParaRPr lang="en-ID" dirty="0"/>
          </a:p>
          <a:p>
            <a:endParaRPr lang="en-US" dirty="0"/>
          </a:p>
        </p:txBody>
      </p:sp>
      <p:sp>
        <p:nvSpPr>
          <p:cNvPr id="4" name="Slide Number Placeholder 3">
            <a:extLst>
              <a:ext uri="{FF2B5EF4-FFF2-40B4-BE49-F238E27FC236}">
                <a16:creationId xmlns:a16="http://schemas.microsoft.com/office/drawing/2014/main" id="{A8149054-35D3-2CAA-6CA0-31E1A3256A0D}"/>
              </a:ext>
            </a:extLst>
          </p:cNvPr>
          <p:cNvSpPr>
            <a:spLocks noGrp="1"/>
          </p:cNvSpPr>
          <p:nvPr>
            <p:ph type="sldNum" sz="quarter" idx="5"/>
          </p:nvPr>
        </p:nvSpPr>
        <p:spPr/>
        <p:txBody>
          <a:bodyPr/>
          <a:lstStyle/>
          <a:p>
            <a:fld id="{8ED22064-3AC2-4A29-A7DB-87C96F577F71}" type="slidenum">
              <a:rPr lang="en-ID" smtClean="0"/>
              <a:t>48</a:t>
            </a:fld>
            <a:endParaRPr lang="en-ID"/>
          </a:p>
        </p:txBody>
      </p:sp>
    </p:spTree>
    <p:extLst>
      <p:ext uri="{BB962C8B-B14F-4D97-AF65-F5344CB8AC3E}">
        <p14:creationId xmlns:p14="http://schemas.microsoft.com/office/powerpoint/2010/main" val="18869089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37837-9746-FE55-8716-06C5A0B43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A9303-DF28-94A2-CDCB-C2B8E1B2C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BAEF3-C471-3385-5DA9-634E448EBE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DynamoDB is a fast and flexible NoSQL database service for all applications that need consistent, single-digit-millisecond latency at any scale. </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Amazon manages all the underlying data infrastructure for this service and redundantly stores data across multiple facilities in a native US Region as part of the fault-tolerant architecture. With DynamoDB, you can create tables and items. You can add items to a table. The system automatically partitions your data and has table storage to meet workload requirements. There is no practical limit on the number of items that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you can store in a table. For instance, some customers have production tables that contain billions of items.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of the benefits of a NoSQL database is that items in the same table can have different attributes. This gives you the flexibility to add attributes as your application evolves. You can store newer format items side by side with older format items in the same table without needing to perform schema migrations.</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your application becomes more popular and as users continue to interact with it, your storage can grow with your application's needs. All the data in DynamoDB is stored on solid</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state drives (SSDs) and its simple query language enables consistent low-latency query performance. In addition to scaling storage, DynamoDB also enables you to provision the amount of read or write throughput that you need for your table. As the number of application users grows, DynamoDB tables can be scaled to handle the increased numbers of read/write requests with manual provisioning. Alternatively, you can enable automatic</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scaling so that DynamoDB monitors the load on the table and automatically increases or decreases the provisioned throughput.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Some additional key</a:t>
            </a:r>
            <a:r>
              <a:rPr lang="en-US" sz="1200" kern="1200" baseline="0" dirty="0">
                <a:solidFill>
                  <a:schemeClr val="tx1"/>
                </a:solidFill>
                <a:effectLst/>
                <a:latin typeface="+mn-lt"/>
                <a:ea typeface="+mn-ea"/>
                <a:cs typeface="+mn-cs"/>
              </a:rPr>
              <a:t> features include global tables that enable you to automatically replicate across your choice of AWS Regions, encryption at rest, and item Time-to-Live (TTL). </a:t>
            </a:r>
            <a:endParaRPr lang="en-US" sz="1200" kern="1200" dirty="0">
              <a:solidFill>
                <a:schemeClr val="tx1"/>
              </a:solidFill>
              <a:effectLst/>
              <a:latin typeface="+mn-lt"/>
              <a:ea typeface="+mn-ea"/>
              <a:cs typeface="+mn-cs"/>
            </a:endParaRPr>
          </a:p>
          <a:p>
            <a:endParaRPr lang="en-ID" dirty="0"/>
          </a:p>
          <a:p>
            <a:endParaRPr lang="en-US" dirty="0"/>
          </a:p>
        </p:txBody>
      </p:sp>
      <p:sp>
        <p:nvSpPr>
          <p:cNvPr id="4" name="Slide Number Placeholder 3">
            <a:extLst>
              <a:ext uri="{FF2B5EF4-FFF2-40B4-BE49-F238E27FC236}">
                <a16:creationId xmlns:a16="http://schemas.microsoft.com/office/drawing/2014/main" id="{3414CEDF-B89F-F820-0582-4F0F3D59996F}"/>
              </a:ext>
            </a:extLst>
          </p:cNvPr>
          <p:cNvSpPr>
            <a:spLocks noGrp="1"/>
          </p:cNvSpPr>
          <p:nvPr>
            <p:ph type="sldNum" sz="quarter" idx="5"/>
          </p:nvPr>
        </p:nvSpPr>
        <p:spPr/>
        <p:txBody>
          <a:bodyPr/>
          <a:lstStyle/>
          <a:p>
            <a:fld id="{8ED22064-3AC2-4A29-A7DB-87C96F577F71}" type="slidenum">
              <a:rPr lang="en-ID" smtClean="0"/>
              <a:t>49</a:t>
            </a:fld>
            <a:endParaRPr lang="en-ID"/>
          </a:p>
        </p:txBody>
      </p:sp>
    </p:spTree>
    <p:extLst>
      <p:ext uri="{BB962C8B-B14F-4D97-AF65-F5344CB8AC3E}">
        <p14:creationId xmlns:p14="http://schemas.microsoft.com/office/powerpoint/2010/main" val="38883402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66BBC-0366-6867-E845-83BE41C20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2347B-C01E-11FF-69CF-2572FE920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62F21-01B5-C99B-E3B0-7D9E1AB742DE}"/>
              </a:ext>
            </a:extLst>
          </p:cNvPr>
          <p:cNvSpPr>
            <a:spLocks noGrp="1"/>
          </p:cNvSpPr>
          <p:nvPr>
            <p:ph type="body" idx="1"/>
          </p:nvPr>
        </p:nvSpPr>
        <p:spPr/>
        <p:txBody>
          <a:bodyPr/>
          <a:lstStyle/>
          <a:p>
            <a:r>
              <a:rPr lang="en-US" sz="1200" dirty="0"/>
              <a:t>The core DynamoDB components are tables, items, and attributes.</a:t>
            </a:r>
          </a:p>
          <a:p>
            <a:pPr marL="171450" indent="-171450">
              <a:buFont typeface="Arial" panose="020B0604020202020204" pitchFamily="34" charset="0"/>
              <a:buChar char="•"/>
            </a:pPr>
            <a:r>
              <a:rPr lang="en-US" sz="1200" dirty="0"/>
              <a:t>A table is a collection of data.</a:t>
            </a:r>
          </a:p>
          <a:p>
            <a:pPr marL="171450" indent="-171450">
              <a:buFont typeface="Arial" panose="020B0604020202020204" pitchFamily="34" charset="0"/>
              <a:buChar char="•"/>
            </a:pPr>
            <a:r>
              <a:rPr lang="en-US" sz="1200" dirty="0"/>
              <a:t>Items are a group of attributes that is uniquely identifiable among all the other items.</a:t>
            </a:r>
          </a:p>
          <a:p>
            <a:pPr marL="171450" indent="-171450">
              <a:buFont typeface="Arial" panose="020B0604020202020204" pitchFamily="34" charset="0"/>
              <a:buChar char="•"/>
            </a:pPr>
            <a:r>
              <a:rPr lang="en-US" sz="1200" dirty="0"/>
              <a:t>Attributes are a fundamental data element, something that does not need to be broken down any further.</a:t>
            </a:r>
          </a:p>
          <a:p>
            <a:r>
              <a:rPr lang="en-US" sz="1200" dirty="0"/>
              <a:t> </a:t>
            </a:r>
          </a:p>
          <a:p>
            <a:r>
              <a:rPr lang="en-US" sz="1200" dirty="0"/>
              <a:t>DynamoDB supports two different kinds of primary keys. </a:t>
            </a:r>
          </a:p>
          <a:p>
            <a:r>
              <a:rPr lang="en-US" sz="1200" dirty="0"/>
              <a:t>The </a:t>
            </a:r>
            <a:r>
              <a:rPr lang="en-US" sz="1200" b="1" dirty="0"/>
              <a:t>partition key </a:t>
            </a:r>
            <a:r>
              <a:rPr lang="en-US" sz="1200" dirty="0"/>
              <a:t>is a simple primary key, which is composed of one attribute called the </a:t>
            </a:r>
            <a:r>
              <a:rPr lang="en-US" sz="1200" b="1" dirty="0"/>
              <a:t>sort</a:t>
            </a:r>
            <a:r>
              <a:rPr lang="en-US" sz="1200" dirty="0"/>
              <a:t> key.</a:t>
            </a:r>
          </a:p>
          <a:p>
            <a:r>
              <a:rPr lang="en-US" sz="1200" dirty="0"/>
              <a:t>The partition key and sort key are also known as the </a:t>
            </a:r>
            <a:r>
              <a:rPr lang="en-US" sz="1200" b="1" dirty="0"/>
              <a:t>composite primary key</a:t>
            </a:r>
            <a:r>
              <a:rPr lang="en-US" sz="1200" b="0" dirty="0"/>
              <a:t>,</a:t>
            </a:r>
            <a:r>
              <a:rPr lang="en-US" sz="1200" b="1" dirty="0"/>
              <a:t> </a:t>
            </a:r>
            <a:r>
              <a:rPr lang="en-US" sz="1200" dirty="0"/>
              <a:t>which is composed of two attributes.</a:t>
            </a:r>
          </a:p>
          <a:p>
            <a:endParaRPr lang="en-US" sz="1200" kern="1200" dirty="0">
              <a:solidFill>
                <a:schemeClr val="tx1"/>
              </a:solidFill>
              <a:effectLst/>
              <a:ea typeface="+mn-ea"/>
              <a:cs typeface="+mn-cs"/>
              <a:hlinkClick r:id="rId3"/>
            </a:endParaRPr>
          </a:p>
          <a:p>
            <a:endParaRPr lang="en-US" sz="1200" kern="1200" dirty="0">
              <a:solidFill>
                <a:schemeClr val="tx1"/>
              </a:solidFill>
              <a:effectLst/>
              <a:ea typeface="+mn-ea"/>
              <a:cs typeface="+mn-cs"/>
              <a:hlinkClick r:id="rId3"/>
            </a:endParaRPr>
          </a:p>
          <a:p>
            <a:endParaRPr lang="en-ID" dirty="0"/>
          </a:p>
          <a:p>
            <a:endParaRPr lang="en-US" dirty="0"/>
          </a:p>
        </p:txBody>
      </p:sp>
      <p:sp>
        <p:nvSpPr>
          <p:cNvPr id="4" name="Slide Number Placeholder 3">
            <a:extLst>
              <a:ext uri="{FF2B5EF4-FFF2-40B4-BE49-F238E27FC236}">
                <a16:creationId xmlns:a16="http://schemas.microsoft.com/office/drawing/2014/main" id="{F55B39AC-0F7C-6028-620C-2B15A937D534}"/>
              </a:ext>
            </a:extLst>
          </p:cNvPr>
          <p:cNvSpPr>
            <a:spLocks noGrp="1"/>
          </p:cNvSpPr>
          <p:nvPr>
            <p:ph type="sldNum" sz="quarter" idx="5"/>
          </p:nvPr>
        </p:nvSpPr>
        <p:spPr/>
        <p:txBody>
          <a:bodyPr/>
          <a:lstStyle/>
          <a:p>
            <a:fld id="{8ED22064-3AC2-4A29-A7DB-87C96F577F71}" type="slidenum">
              <a:rPr lang="en-ID" smtClean="0"/>
              <a:t>50</a:t>
            </a:fld>
            <a:endParaRPr lang="en-ID"/>
          </a:p>
        </p:txBody>
      </p:sp>
    </p:spTree>
    <p:extLst>
      <p:ext uri="{BB962C8B-B14F-4D97-AF65-F5344CB8AC3E}">
        <p14:creationId xmlns:p14="http://schemas.microsoft.com/office/powerpoint/2010/main" val="9962033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E2749-EA2E-A694-DE80-2EA235978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CBF93-A58B-B52F-850B-B528ACC5B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52A12-2230-3DBE-032A-36AFA8A03E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data grows, table data is partitioned and indexed by the primary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retrieve data from a DynamoDB table in two different ways: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In the first method, the query operation takes advantage of partitioning to effectively locate items by using the primary key.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second method is via a scan, which enables you to locate items in the table by matching conditions on non-key attributes. The second method gives you the flexibility to locate items by other attributes. However, the operation is less efficient</a:t>
            </a:r>
            <a:r>
              <a:rPr lang="en-US" sz="1200" kern="1200" baseline="0" dirty="0">
                <a:solidFill>
                  <a:schemeClr val="tx1"/>
                </a:solidFill>
                <a:effectLst/>
                <a:latin typeface="+mn-lt"/>
                <a:ea typeface="+mn-ea"/>
                <a:cs typeface="+mn-cs"/>
              </a:rPr>
              <a:t> because </a:t>
            </a:r>
            <a:r>
              <a:rPr lang="en-US" sz="1200" kern="1200" dirty="0">
                <a:solidFill>
                  <a:schemeClr val="tx1"/>
                </a:solidFill>
                <a:effectLst/>
                <a:latin typeface="+mn-lt"/>
                <a:ea typeface="+mn-ea"/>
                <a:cs typeface="+mn-cs"/>
              </a:rPr>
              <a:t>DynamoDB will scan through all the items in the table to find the ones that match your criteria.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34255DD0-4A3A-FF50-070F-1D4242AC135E}"/>
              </a:ext>
            </a:extLst>
          </p:cNvPr>
          <p:cNvSpPr>
            <a:spLocks noGrp="1"/>
          </p:cNvSpPr>
          <p:nvPr>
            <p:ph type="sldNum" sz="quarter" idx="5"/>
          </p:nvPr>
        </p:nvSpPr>
        <p:spPr/>
        <p:txBody>
          <a:bodyPr/>
          <a:lstStyle/>
          <a:p>
            <a:fld id="{8ED22064-3AC2-4A29-A7DB-87C96F577F71}" type="slidenum">
              <a:rPr lang="en-ID" smtClean="0"/>
              <a:t>51</a:t>
            </a:fld>
            <a:endParaRPr lang="en-ID"/>
          </a:p>
        </p:txBody>
      </p:sp>
    </p:spTree>
    <p:extLst>
      <p:ext uri="{BB962C8B-B14F-4D97-AF65-F5344CB8AC3E}">
        <p14:creationId xmlns:p14="http://schemas.microsoft.com/office/powerpoint/2010/main" val="3694536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990F5-E56D-1D40-4A0E-11B6400E9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5AC1C-0402-0D21-6CDC-142374584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500D9-965B-1748-593F-A636D2456F08}"/>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To take full advantage of query operations and DynamoDB, it's important to think about the key that you use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to uniquely identify items in the DynamoDB table. You can set up a simple primary key that is based on a single attribute of the data values with a uniform distribution, such as the </a:t>
            </a:r>
            <a:r>
              <a:rPr lang="en-US" sz="1200" b="1" kern="1200" dirty="0">
                <a:solidFill>
                  <a:schemeClr val="tx1"/>
                </a:solidFill>
                <a:effectLst/>
                <a:latin typeface="+mn-lt"/>
                <a:ea typeface="+mn-ea"/>
                <a:cs typeface="+mn-cs"/>
              </a:rPr>
              <a:t>Globally Unique Identifier (GUID) </a:t>
            </a:r>
            <a:r>
              <a:rPr lang="en-US" sz="1200" kern="1200" dirty="0">
                <a:solidFill>
                  <a:schemeClr val="tx1"/>
                </a:solidFill>
                <a:effectLst/>
                <a:latin typeface="+mn-lt"/>
                <a:ea typeface="+mn-ea"/>
                <a:cs typeface="+mn-cs"/>
              </a:rPr>
              <a:t>or other random identifiers.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if you wanted to model a table with products, you could use some attributes</a:t>
            </a:r>
            <a:r>
              <a:rPr lang="en-US" sz="1200" kern="1200" baseline="0" dirty="0">
                <a:solidFill>
                  <a:schemeClr val="tx1"/>
                </a:solidFill>
                <a:effectLst/>
                <a:latin typeface="+mn-lt"/>
                <a:ea typeface="+mn-ea"/>
                <a:cs typeface="+mn-cs"/>
              </a:rPr>
              <a:t> like </a:t>
            </a:r>
            <a:r>
              <a:rPr lang="en-US" sz="1200" kern="1200" dirty="0">
                <a:solidFill>
                  <a:schemeClr val="tx1"/>
                </a:solidFill>
                <a:effectLst/>
                <a:latin typeface="+mn-lt"/>
                <a:ea typeface="+mn-ea"/>
                <a:cs typeface="+mn-cs"/>
              </a:rPr>
              <a:t>the product ID. Alternatively, you can specify a compound key, which is composed of a partition key and a secondary key. In this example, if you had a table with books, you</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might use the combination of author and title to uniquely identify table items. This method could be useful if you expect to frequently look at books by author</a:t>
            </a:r>
            <a:r>
              <a:rPr lang="en-US" sz="1200" kern="1200" baseline="0" dirty="0">
                <a:solidFill>
                  <a:schemeClr val="tx1"/>
                </a:solidFill>
                <a:effectLst/>
                <a:latin typeface="+mn-lt"/>
                <a:ea typeface="+mn-ea"/>
                <a:cs typeface="+mn-cs"/>
              </a:rPr>
              <a:t> because you could</a:t>
            </a:r>
            <a:r>
              <a:rPr lang="en-US" sz="1200" kern="1200" dirty="0">
                <a:solidFill>
                  <a:schemeClr val="tx1"/>
                </a:solidFill>
                <a:effectLst/>
                <a:latin typeface="+mn-lt"/>
                <a:ea typeface="+mn-ea"/>
                <a:cs typeface="+mn-cs"/>
              </a:rPr>
              <a:t> then use query. </a:t>
            </a:r>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ABABAD6C-695C-D6CB-7FD9-5450ABA6F195}"/>
              </a:ext>
            </a:extLst>
          </p:cNvPr>
          <p:cNvSpPr>
            <a:spLocks noGrp="1"/>
          </p:cNvSpPr>
          <p:nvPr>
            <p:ph type="sldNum" sz="quarter" idx="5"/>
          </p:nvPr>
        </p:nvSpPr>
        <p:spPr/>
        <p:txBody>
          <a:bodyPr/>
          <a:lstStyle/>
          <a:p>
            <a:fld id="{8ED22064-3AC2-4A29-A7DB-87C96F577F71}" type="slidenum">
              <a:rPr lang="en-ID" smtClean="0"/>
              <a:t>52</a:t>
            </a:fld>
            <a:endParaRPr lang="en-ID"/>
          </a:p>
        </p:txBody>
      </p:sp>
    </p:spTree>
    <p:extLst>
      <p:ext uri="{BB962C8B-B14F-4D97-AF65-F5344CB8AC3E}">
        <p14:creationId xmlns:p14="http://schemas.microsoft.com/office/powerpoint/2010/main" val="20815127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8BBD1-30F4-FDD2-81B4-911D4EE87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B964C-1A2D-7C37-0FA0-E49C7224B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7A8FB-EB9F-3501-307B-7C79EF06CA7E}"/>
              </a:ext>
            </a:extLst>
          </p:cNvPr>
          <p:cNvSpPr>
            <a:spLocks noGrp="1"/>
          </p:cNvSpPr>
          <p:nvPr>
            <p:ph type="body" idx="1"/>
          </p:nvPr>
        </p:nvSpPr>
        <p:spPr/>
        <p:txBody>
          <a:bodyPr/>
          <a:lstStyle/>
          <a:p>
            <a:r>
              <a:rPr lang="en-US" sz="1200" kern="1200" dirty="0">
                <a:solidFill>
                  <a:schemeClr val="tx1"/>
                </a:solidFill>
                <a:effectLst/>
                <a:ea typeface="+mn-ea"/>
                <a:cs typeface="+mn-cs"/>
              </a:rPr>
              <a:t>Analytics is important for businesses today, but building a data warehouse is complex and expensive. Data warehouses can</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take months and significant financial resources to set up.</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Amazon Redshift is a fast and powerful, fully</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managed data warehouse that is simple and cost-effective to set up, use, and scale. It enables you to run complex analytic queries against petabytes of structured data by using sophisticated query optimization, columnar storage on high-performance local disks, and massively parallel data processing. Most results come back in seconds.</a:t>
            </a:r>
          </a:p>
          <a:p>
            <a:endParaRPr lang="en-ID" dirty="0"/>
          </a:p>
          <a:p>
            <a:endParaRPr lang="en-US" dirty="0"/>
          </a:p>
        </p:txBody>
      </p:sp>
      <p:sp>
        <p:nvSpPr>
          <p:cNvPr id="4" name="Slide Number Placeholder 3">
            <a:extLst>
              <a:ext uri="{FF2B5EF4-FFF2-40B4-BE49-F238E27FC236}">
                <a16:creationId xmlns:a16="http://schemas.microsoft.com/office/drawing/2014/main" id="{9B56B696-EF7D-B52E-86E5-99E397414FFC}"/>
              </a:ext>
            </a:extLst>
          </p:cNvPr>
          <p:cNvSpPr>
            <a:spLocks noGrp="1"/>
          </p:cNvSpPr>
          <p:nvPr>
            <p:ph type="sldNum" sz="quarter" idx="5"/>
          </p:nvPr>
        </p:nvSpPr>
        <p:spPr/>
        <p:txBody>
          <a:bodyPr/>
          <a:lstStyle/>
          <a:p>
            <a:fld id="{8ED22064-3AC2-4A29-A7DB-87C96F577F71}" type="slidenum">
              <a:rPr lang="en-ID" smtClean="0"/>
              <a:t>54</a:t>
            </a:fld>
            <a:endParaRPr lang="en-ID"/>
          </a:p>
        </p:txBody>
      </p:sp>
    </p:spTree>
    <p:extLst>
      <p:ext uri="{BB962C8B-B14F-4D97-AF65-F5344CB8AC3E}">
        <p14:creationId xmlns:p14="http://schemas.microsoft.com/office/powerpoint/2010/main" val="11474869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1E6E1-3D45-A2CC-E4B7-2D098BCFB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F2D59-4556-FB1B-126F-8DA1CA5B9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45992-2DAA-3EEF-BD1D-B86EE15496F7}"/>
              </a:ext>
            </a:extLst>
          </p:cNvPr>
          <p:cNvSpPr>
            <a:spLocks noGrp="1"/>
          </p:cNvSpPr>
          <p:nvPr>
            <p:ph type="body" idx="1"/>
          </p:nvPr>
        </p:nvSpPr>
        <p:spPr/>
        <p:txBody>
          <a:bodyPr/>
          <a:lstStyle/>
          <a:p>
            <a:r>
              <a:rPr lang="en-US" sz="1200" dirty="0"/>
              <a:t>The leader node manages communications with client programs and all communication with compute nodes. It parses and develops plans to carry out database operations—specifically, the series of steps that are needed to obtain results for complex queries. The leader node compiles code for individual elements of the plan and assigns the code to individual compute nodes. The compute nodes run the compiled code and send intermediate results back to the leader node for final aggregation.</a:t>
            </a:r>
          </a:p>
          <a:p>
            <a:r>
              <a:rPr lang="en-US" sz="1200" dirty="0"/>
              <a:t> </a:t>
            </a:r>
          </a:p>
          <a:p>
            <a:r>
              <a:rPr lang="en-US" sz="1200" dirty="0"/>
              <a:t>Like</a:t>
            </a:r>
            <a:r>
              <a:rPr lang="en-US" sz="1200" baseline="0" dirty="0"/>
              <a:t> other </a:t>
            </a:r>
            <a:r>
              <a:rPr lang="en-US" sz="1200" dirty="0"/>
              <a:t>AWS services, you only pay for what you use. You can get started for as little as 25 cents per hour and, at scale, Amazon Redshift can deliver storage and processing for approximately $1,000 dollars per terabyte per year (with 3-Year Partial</a:t>
            </a:r>
            <a:r>
              <a:rPr lang="en-US" sz="1200" baseline="0" dirty="0"/>
              <a:t> Upfront Reserved Instance pricing)</a:t>
            </a:r>
            <a:r>
              <a:rPr lang="en-US" sz="1200" dirty="0"/>
              <a:t>. </a:t>
            </a:r>
          </a:p>
          <a:p>
            <a:r>
              <a:rPr lang="en-US" sz="1200" dirty="0"/>
              <a:t> </a:t>
            </a:r>
          </a:p>
          <a:p>
            <a:r>
              <a:rPr lang="en-US" sz="1200" dirty="0"/>
              <a:t>The Amazon Redshift Spectrum feature enables you to run queries against exabytes of data directly in Amazon S3.</a:t>
            </a:r>
          </a:p>
          <a:p>
            <a:endParaRPr lang="en-ID" dirty="0"/>
          </a:p>
          <a:p>
            <a:endParaRPr lang="en-US" dirty="0"/>
          </a:p>
        </p:txBody>
      </p:sp>
      <p:sp>
        <p:nvSpPr>
          <p:cNvPr id="4" name="Slide Number Placeholder 3">
            <a:extLst>
              <a:ext uri="{FF2B5EF4-FFF2-40B4-BE49-F238E27FC236}">
                <a16:creationId xmlns:a16="http://schemas.microsoft.com/office/drawing/2014/main" id="{F89B7BF3-C4E5-BCA5-37ED-9BD6F4D8643A}"/>
              </a:ext>
            </a:extLst>
          </p:cNvPr>
          <p:cNvSpPr>
            <a:spLocks noGrp="1"/>
          </p:cNvSpPr>
          <p:nvPr>
            <p:ph type="sldNum" sz="quarter" idx="5"/>
          </p:nvPr>
        </p:nvSpPr>
        <p:spPr/>
        <p:txBody>
          <a:bodyPr/>
          <a:lstStyle/>
          <a:p>
            <a:fld id="{8ED22064-3AC2-4A29-A7DB-87C96F577F71}" type="slidenum">
              <a:rPr lang="en-ID" smtClean="0"/>
              <a:t>55</a:t>
            </a:fld>
            <a:endParaRPr lang="en-ID"/>
          </a:p>
        </p:txBody>
      </p:sp>
    </p:spTree>
    <p:extLst>
      <p:ext uri="{BB962C8B-B14F-4D97-AF65-F5344CB8AC3E}">
        <p14:creationId xmlns:p14="http://schemas.microsoft.com/office/powerpoint/2010/main" val="42591601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47736-734A-F050-5EA3-F567FA093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97CF5-A1A6-541E-F99A-AE8C57C28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F58EE-5BE8-9BA1-E57F-31F566B2A9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D2C0B-0A35-D9E6-8DA1-5D40BB4A6D8E}"/>
              </a:ext>
            </a:extLst>
          </p:cNvPr>
          <p:cNvSpPr>
            <a:spLocks noGrp="1"/>
          </p:cNvSpPr>
          <p:nvPr>
            <p:ph type="sldNum" sz="quarter" idx="5"/>
          </p:nvPr>
        </p:nvSpPr>
        <p:spPr/>
        <p:txBody>
          <a:bodyPr/>
          <a:lstStyle/>
          <a:p>
            <a:fld id="{8ED22064-3AC2-4A29-A7DB-87C96F577F71}" type="slidenum">
              <a:rPr lang="en-ID" smtClean="0"/>
              <a:t>56</a:t>
            </a:fld>
            <a:endParaRPr lang="en-ID"/>
          </a:p>
        </p:txBody>
      </p:sp>
    </p:spTree>
    <p:extLst>
      <p:ext uri="{BB962C8B-B14F-4D97-AF65-F5344CB8AC3E}">
        <p14:creationId xmlns:p14="http://schemas.microsoft.com/office/powerpoint/2010/main" val="20328960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ea typeface="+mn-ea"/>
                <a:cs typeface="+mn-cs"/>
              </a:rPr>
              <a:t>Amazon </a:t>
            </a:r>
            <a:r>
              <a:rPr lang="en-US" kern="1200" dirty="0">
                <a:solidFill>
                  <a:schemeClr val="tx1"/>
                </a:solidFill>
                <a:effectLst/>
                <a:ea typeface="+mn-ea"/>
                <a:cs typeface="+mn-cs"/>
              </a:rPr>
              <a:t>Redshift is compatible with the tools that you already know and use. Amazon Redshift supports standard SQL. It</a:t>
            </a:r>
            <a:r>
              <a:rPr lang="en-US" kern="1200" baseline="0" dirty="0">
                <a:solidFill>
                  <a:schemeClr val="tx1"/>
                </a:solidFill>
                <a:effectLst/>
                <a:ea typeface="+mn-ea"/>
                <a:cs typeface="+mn-cs"/>
              </a:rPr>
              <a:t> also </a:t>
            </a:r>
            <a:r>
              <a:rPr lang="en-US" kern="1200" dirty="0">
                <a:solidFill>
                  <a:schemeClr val="tx1"/>
                </a:solidFill>
                <a:effectLst/>
                <a:ea typeface="+mn-ea"/>
                <a:cs typeface="+mn-cs"/>
              </a:rPr>
              <a:t>provides high-performance Java Database Connectivity (JDBC) and Open Database Connectivity (ODBC) connectors, which enable you to use the SQL clients and BI tools of your choice.</a:t>
            </a:r>
          </a:p>
          <a:p>
            <a:endParaRPr lang="en-US" dirty="0"/>
          </a:p>
        </p:txBody>
      </p:sp>
      <p:sp>
        <p:nvSpPr>
          <p:cNvPr id="4" name="Slide Number Placeholder 3"/>
          <p:cNvSpPr>
            <a:spLocks noGrp="1"/>
          </p:cNvSpPr>
          <p:nvPr>
            <p:ph type="sldNum" sz="quarter" idx="5"/>
          </p:nvPr>
        </p:nvSpPr>
        <p:spPr/>
        <p:txBody>
          <a:bodyPr/>
          <a:lstStyle/>
          <a:p>
            <a:fld id="{8ED22064-3AC2-4A29-A7DB-87C96F577F71}" type="slidenum">
              <a:rPr lang="en-ID" smtClean="0"/>
              <a:t>57</a:t>
            </a:fld>
            <a:endParaRPr lang="en-ID"/>
          </a:p>
        </p:txBody>
      </p:sp>
    </p:spTree>
    <p:extLst>
      <p:ext uri="{BB962C8B-B14F-4D97-AF65-F5344CB8AC3E}">
        <p14:creationId xmlns:p14="http://schemas.microsoft.com/office/powerpoint/2010/main" val="28806997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3BDF-7619-715D-7616-9C9BF6CD3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A039E-6569-1E02-81DE-1AD1D139F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92ECF-6B0E-43F3-DC53-CB2D01ADA769}"/>
              </a:ext>
            </a:extLst>
          </p:cNvPr>
          <p:cNvSpPr>
            <a:spLocks noGrp="1"/>
          </p:cNvSpPr>
          <p:nvPr>
            <p:ph type="body" idx="1"/>
          </p:nvPr>
        </p:nvSpPr>
        <p:spPr/>
        <p:txBody>
          <a:bodyPr/>
          <a:lstStyle/>
          <a:p>
            <a:r>
              <a:rPr lang="en-US" sz="1200" dirty="0"/>
              <a:t>This slide discusses some Amazon Redshift use cases.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Many customers migrate their traditional enterprise data warehouses to Amazon Redshift with the primary goal of agility. Customers can start at whatever scale they want and experiment with their data without needing to rely on complicated processes with their IT departments to procure and prepare their software.</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Big data customers have one thing in common: massive amounts of data that stretch their existing systems to a breaking point. Smaller customers might not have the resources to</a:t>
            </a:r>
            <a:r>
              <a:rPr lang="en-US" sz="1200" kern="1200" baseline="0" dirty="0">
                <a:solidFill>
                  <a:schemeClr val="tx1"/>
                </a:solidFill>
                <a:effectLst/>
                <a:ea typeface="+mn-ea"/>
                <a:cs typeface="+mn-cs"/>
              </a:rPr>
              <a:t> procure </a:t>
            </a:r>
            <a:r>
              <a:rPr lang="en-US" sz="1200" kern="1200" dirty="0">
                <a:solidFill>
                  <a:schemeClr val="tx1"/>
                </a:solidFill>
                <a:effectLst/>
                <a:ea typeface="+mn-ea"/>
                <a:cs typeface="+mn-cs"/>
              </a:rPr>
              <a:t>the hardware and expertise that is needed to run these systems. With Amazon Redshift, smaller customers can quickly set up</a:t>
            </a:r>
            <a:r>
              <a:rPr lang="en-US" sz="1200" kern="1200" baseline="0" dirty="0">
                <a:solidFill>
                  <a:schemeClr val="tx1"/>
                </a:solidFill>
                <a:effectLst/>
                <a:ea typeface="+mn-ea"/>
                <a:cs typeface="+mn-cs"/>
              </a:rPr>
              <a:t> and use</a:t>
            </a:r>
            <a:r>
              <a:rPr lang="en-US" sz="1200" kern="1200" dirty="0">
                <a:solidFill>
                  <a:schemeClr val="tx1"/>
                </a:solidFill>
                <a:effectLst/>
                <a:ea typeface="+mn-ea"/>
                <a:cs typeface="+mn-cs"/>
              </a:rPr>
              <a:t> a</a:t>
            </a:r>
            <a:r>
              <a:rPr lang="en-US" sz="1200" kern="1200" baseline="0" dirty="0">
                <a:solidFill>
                  <a:schemeClr val="tx1"/>
                </a:solidFill>
                <a:effectLst/>
                <a:ea typeface="+mn-ea"/>
                <a:cs typeface="+mn-cs"/>
              </a:rPr>
              <a:t> </a:t>
            </a:r>
            <a:r>
              <a:rPr lang="en-US" sz="1200" kern="1200" dirty="0">
                <a:solidFill>
                  <a:schemeClr val="tx1"/>
                </a:solidFill>
                <a:effectLst/>
                <a:ea typeface="+mn-ea"/>
                <a:cs typeface="+mn-cs"/>
              </a:rPr>
              <a:t>data warehouse at a comparatively low price point.</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As a managed service, Amazon Redshift handles many of the deployment and ongoing maintenance tasks that often require a database administrator. This enables</a:t>
            </a:r>
            <a:r>
              <a:rPr lang="en-US" sz="1200" kern="1200" baseline="0" dirty="0">
                <a:solidFill>
                  <a:schemeClr val="tx1"/>
                </a:solidFill>
                <a:effectLst/>
                <a:ea typeface="+mn-ea"/>
                <a:cs typeface="+mn-cs"/>
              </a:rPr>
              <a:t> customers</a:t>
            </a:r>
            <a:r>
              <a:rPr lang="en-US" sz="1200" kern="1200" dirty="0">
                <a:solidFill>
                  <a:schemeClr val="tx1"/>
                </a:solidFill>
                <a:effectLst/>
                <a:ea typeface="+mn-ea"/>
                <a:cs typeface="+mn-cs"/>
              </a:rPr>
              <a:t> to focus on querying and analyzing their data.</a:t>
            </a:r>
          </a:p>
          <a:p>
            <a:endParaRPr lang="en-ID" dirty="0"/>
          </a:p>
          <a:p>
            <a:endParaRPr lang="en-US" dirty="0"/>
          </a:p>
        </p:txBody>
      </p:sp>
      <p:sp>
        <p:nvSpPr>
          <p:cNvPr id="4" name="Slide Number Placeholder 3">
            <a:extLst>
              <a:ext uri="{FF2B5EF4-FFF2-40B4-BE49-F238E27FC236}">
                <a16:creationId xmlns:a16="http://schemas.microsoft.com/office/drawing/2014/main" id="{74D73315-4066-B61B-1FD4-BCA336989FA7}"/>
              </a:ext>
            </a:extLst>
          </p:cNvPr>
          <p:cNvSpPr>
            <a:spLocks noGrp="1"/>
          </p:cNvSpPr>
          <p:nvPr>
            <p:ph type="sldNum" sz="quarter" idx="5"/>
          </p:nvPr>
        </p:nvSpPr>
        <p:spPr/>
        <p:txBody>
          <a:bodyPr/>
          <a:lstStyle/>
          <a:p>
            <a:fld id="{8ED22064-3AC2-4A29-A7DB-87C96F577F71}" type="slidenum">
              <a:rPr lang="en-ID" smtClean="0"/>
              <a:t>58</a:t>
            </a:fld>
            <a:endParaRPr lang="en-ID"/>
          </a:p>
        </p:txBody>
      </p:sp>
    </p:spTree>
    <p:extLst>
      <p:ext uri="{BB962C8B-B14F-4D97-AF65-F5344CB8AC3E}">
        <p14:creationId xmlns:p14="http://schemas.microsoft.com/office/powerpoint/2010/main" val="26439399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8F4E-67EB-1204-BC99-16DD347B0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555A8-86C0-5408-E757-9554A54A5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A6EFB-3B37-6FEB-2B55-609F395F13C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Amazon Aurora is a MySQL- and PostgreSQL-compatible relational database that is built for the cloud.</a:t>
            </a:r>
            <a:r>
              <a:rPr lang="en-US" sz="1200" b="0" i="0" kern="1200" baseline="0" dirty="0">
                <a:solidFill>
                  <a:schemeClr val="tx1"/>
                </a:solidFill>
                <a:effectLst/>
                <a:latin typeface="+mn-lt"/>
                <a:ea typeface="+mn-ea"/>
                <a:cs typeface="+mn-cs"/>
              </a:rPr>
              <a:t> It</a:t>
            </a:r>
            <a:r>
              <a:rPr lang="en-US" sz="1200" b="0" i="0" kern="1200" dirty="0">
                <a:solidFill>
                  <a:schemeClr val="tx1"/>
                </a:solidFill>
                <a:effectLst/>
                <a:latin typeface="+mn-lt"/>
                <a:ea typeface="+mn-ea"/>
                <a:cs typeface="+mn-cs"/>
              </a:rPr>
              <a:t> combines the performance and availability of high-end commercial databases with the simplicity and cost-effectiveness of open</a:t>
            </a:r>
            <a:r>
              <a:rPr lang="en-US" sz="1200" b="0" i="0" kern="1200" baseline="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source databases. Using Amazon Aurora can reduce your database costs while improving the reliability and availability of the database. As a fully managed service, Aurora is designed to</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automate time-consuming tasks like provisioning, patching, backup, recovery, failure detection, and repair.</a:t>
            </a:r>
          </a:p>
          <a:p>
            <a:endParaRPr lang="en-US" sz="1200" dirty="0"/>
          </a:p>
          <a:p>
            <a:endParaRPr lang="en-ID" dirty="0"/>
          </a:p>
          <a:p>
            <a:endParaRPr lang="en-US" dirty="0"/>
          </a:p>
        </p:txBody>
      </p:sp>
      <p:sp>
        <p:nvSpPr>
          <p:cNvPr id="4" name="Slide Number Placeholder 3">
            <a:extLst>
              <a:ext uri="{FF2B5EF4-FFF2-40B4-BE49-F238E27FC236}">
                <a16:creationId xmlns:a16="http://schemas.microsoft.com/office/drawing/2014/main" id="{F2E9170B-3238-56AB-6BEC-EFB0E7E6A670}"/>
              </a:ext>
            </a:extLst>
          </p:cNvPr>
          <p:cNvSpPr>
            <a:spLocks noGrp="1"/>
          </p:cNvSpPr>
          <p:nvPr>
            <p:ph type="sldNum" sz="quarter" idx="5"/>
          </p:nvPr>
        </p:nvSpPr>
        <p:spPr/>
        <p:txBody>
          <a:bodyPr/>
          <a:lstStyle/>
          <a:p>
            <a:fld id="{8ED22064-3AC2-4A29-A7DB-87C96F577F71}" type="slidenum">
              <a:rPr lang="en-ID" smtClean="0"/>
              <a:t>60</a:t>
            </a:fld>
            <a:endParaRPr lang="en-ID"/>
          </a:p>
        </p:txBody>
      </p:sp>
    </p:spTree>
    <p:extLst>
      <p:ext uri="{BB962C8B-B14F-4D97-AF65-F5344CB8AC3E}">
        <p14:creationId xmlns:p14="http://schemas.microsoft.com/office/powerpoint/2010/main" val="19089026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64D5-464A-5E90-AE43-2478B1B50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80B14-80C3-A804-6CDD-9E7BD5483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8BA0D-E42E-FFD8-D2A4-A3F38AD13D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25561-C068-8C9E-F5F8-BAE08B8FEDB7}"/>
              </a:ext>
            </a:extLst>
          </p:cNvPr>
          <p:cNvSpPr>
            <a:spLocks noGrp="1"/>
          </p:cNvSpPr>
          <p:nvPr>
            <p:ph type="sldNum" sz="quarter" idx="5"/>
          </p:nvPr>
        </p:nvSpPr>
        <p:spPr/>
        <p:txBody>
          <a:bodyPr/>
          <a:lstStyle/>
          <a:p>
            <a:fld id="{8ED22064-3AC2-4A29-A7DB-87C96F577F71}" type="slidenum">
              <a:rPr lang="en-ID" smtClean="0"/>
              <a:t>61</a:t>
            </a:fld>
            <a:endParaRPr lang="en-ID"/>
          </a:p>
        </p:txBody>
      </p:sp>
    </p:spTree>
    <p:extLst>
      <p:ext uri="{BB962C8B-B14F-4D97-AF65-F5344CB8AC3E}">
        <p14:creationId xmlns:p14="http://schemas.microsoft.com/office/powerpoint/2010/main" val="40804719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EDB1-58AB-DE86-2ACD-FE5344ECC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24518-45E1-8CD0-B3A8-EA821C45D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3CAF7-F736-432D-9A79-E257DFC9E618}"/>
              </a:ext>
            </a:extLst>
          </p:cNvPr>
          <p:cNvSpPr>
            <a:spLocks noGrp="1"/>
          </p:cNvSpPr>
          <p:nvPr>
            <p:ph type="body" idx="1"/>
          </p:nvPr>
        </p:nvSpPr>
        <p:spPr/>
        <p:txBody>
          <a:bodyPr/>
          <a:lstStyle/>
          <a:p>
            <a:r>
              <a:rPr lang="en-US" sz="1200" kern="1200" dirty="0">
                <a:solidFill>
                  <a:schemeClr val="tx1"/>
                </a:solidFill>
                <a:effectLst/>
                <a:ea typeface="+mn-ea"/>
                <a:cs typeface="+mn-cs"/>
              </a:rPr>
              <a:t>Why might</a:t>
            </a:r>
            <a:r>
              <a:rPr lang="en-US" sz="1200" kern="1200" baseline="0" dirty="0">
                <a:solidFill>
                  <a:schemeClr val="tx1"/>
                </a:solidFill>
                <a:effectLst/>
                <a:ea typeface="+mn-ea"/>
                <a:cs typeface="+mn-cs"/>
              </a:rPr>
              <a:t> you </a:t>
            </a:r>
            <a:r>
              <a:rPr lang="en-US" sz="1200" kern="1200" dirty="0">
                <a:solidFill>
                  <a:schemeClr val="tx1"/>
                </a:solidFill>
                <a:effectLst/>
                <a:ea typeface="+mn-ea"/>
                <a:cs typeface="+mn-cs"/>
              </a:rPr>
              <a:t>use Amazon Aurora over other options, like SQL with Amazon RDS? Most of that decision involves the high availability and resilient design that Amazon Aurora offers.</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Amazon Aurora is designed to be highly available:</a:t>
            </a:r>
            <a:r>
              <a:rPr lang="en-US" sz="1200" kern="1200" baseline="0" dirty="0">
                <a:solidFill>
                  <a:schemeClr val="tx1"/>
                </a:solidFill>
                <a:effectLst/>
                <a:ea typeface="+mn-ea"/>
                <a:cs typeface="+mn-cs"/>
              </a:rPr>
              <a:t> it</a:t>
            </a:r>
            <a:r>
              <a:rPr lang="en-US" sz="1200" kern="1200" dirty="0">
                <a:solidFill>
                  <a:schemeClr val="tx1"/>
                </a:solidFill>
                <a:effectLst/>
                <a:ea typeface="+mn-ea"/>
                <a:cs typeface="+mn-cs"/>
              </a:rPr>
              <a:t> stores multiple copies of your data across multiple Availability Zones with continuous backups to Amazon S3. Amazon</a:t>
            </a:r>
            <a:r>
              <a:rPr lang="en-US" sz="1200" kern="1200" baseline="0" dirty="0">
                <a:solidFill>
                  <a:schemeClr val="tx1"/>
                </a:solidFill>
                <a:effectLst/>
                <a:ea typeface="+mn-ea"/>
                <a:cs typeface="+mn-cs"/>
              </a:rPr>
              <a:t> Aurora can use up</a:t>
            </a:r>
            <a:r>
              <a:rPr lang="en-US" sz="1200" kern="1200" dirty="0">
                <a:solidFill>
                  <a:schemeClr val="tx1"/>
                </a:solidFill>
                <a:effectLst/>
                <a:ea typeface="+mn-ea"/>
                <a:cs typeface="+mn-cs"/>
              </a:rPr>
              <a:t> to 15 read replicas can be used to reduce the possibility of losing your data. Additionally, Amazon Aurora is designed for instant crash recovery if your primary database becomes unhealthy.</a:t>
            </a:r>
          </a:p>
          <a:p>
            <a:endParaRPr lang="en-ID" dirty="0"/>
          </a:p>
          <a:p>
            <a:endParaRPr lang="en-US" dirty="0"/>
          </a:p>
        </p:txBody>
      </p:sp>
      <p:sp>
        <p:nvSpPr>
          <p:cNvPr id="4" name="Slide Number Placeholder 3">
            <a:extLst>
              <a:ext uri="{FF2B5EF4-FFF2-40B4-BE49-F238E27FC236}">
                <a16:creationId xmlns:a16="http://schemas.microsoft.com/office/drawing/2014/main" id="{1BDF27CD-64B3-7ACD-7F0A-E11F9DAF5D5C}"/>
              </a:ext>
            </a:extLst>
          </p:cNvPr>
          <p:cNvSpPr>
            <a:spLocks noGrp="1"/>
          </p:cNvSpPr>
          <p:nvPr>
            <p:ph type="sldNum" sz="quarter" idx="5"/>
          </p:nvPr>
        </p:nvSpPr>
        <p:spPr/>
        <p:txBody>
          <a:bodyPr/>
          <a:lstStyle/>
          <a:p>
            <a:fld id="{8ED22064-3AC2-4A29-A7DB-87C96F577F71}" type="slidenum">
              <a:rPr lang="en-ID" smtClean="0"/>
              <a:t>62</a:t>
            </a:fld>
            <a:endParaRPr lang="en-ID"/>
          </a:p>
        </p:txBody>
      </p:sp>
    </p:spTree>
    <p:extLst>
      <p:ext uri="{BB962C8B-B14F-4D97-AF65-F5344CB8AC3E}">
        <p14:creationId xmlns:p14="http://schemas.microsoft.com/office/powerpoint/2010/main" val="32805385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C7315-445E-2ACA-13F5-F29C05939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0CB06-9F86-FABE-C229-2C06308B0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D5953C-AAD5-DC4C-A6B5-877CECA6365A}"/>
              </a:ext>
            </a:extLst>
          </p:cNvPr>
          <p:cNvSpPr>
            <a:spLocks noGrp="1"/>
          </p:cNvSpPr>
          <p:nvPr>
            <p:ph type="body" idx="1"/>
          </p:nvPr>
        </p:nvSpPr>
        <p:spPr/>
        <p:txBody>
          <a:bodyPr/>
          <a:lstStyle/>
          <a:p>
            <a:r>
              <a:rPr lang="en-US" sz="1200" kern="1200" dirty="0">
                <a:solidFill>
                  <a:schemeClr val="tx1"/>
                </a:solidFill>
                <a:effectLst/>
                <a:ea typeface="+mn-ea"/>
                <a:cs typeface="+mn-cs"/>
              </a:rPr>
              <a:t>After a database crash, Amazon Aurora does not need to replay the redo log from the last database checkpoint. Instead, it performs this on every read operation. This reduces the restart time after a database crash to less than 60 seconds in most cases.</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With Amazon Aurora,</a:t>
            </a:r>
            <a:r>
              <a:rPr lang="en-US" sz="1200" kern="1200" baseline="0" dirty="0">
                <a:solidFill>
                  <a:schemeClr val="tx1"/>
                </a:solidFill>
                <a:effectLst/>
                <a:ea typeface="+mn-ea"/>
                <a:cs typeface="+mn-cs"/>
              </a:rPr>
              <a:t> the </a:t>
            </a:r>
            <a:r>
              <a:rPr lang="en-US" sz="1200" kern="1200" dirty="0">
                <a:solidFill>
                  <a:schemeClr val="tx1"/>
                </a:solidFill>
                <a:effectLst/>
                <a:ea typeface="+mn-ea"/>
                <a:cs typeface="+mn-cs"/>
              </a:rPr>
              <a:t>buffer cache is moved out of the database process, which makes it available immediately at restart. This reduces the need for you to throttle access until the cache is repopulated to avoid brownouts.</a:t>
            </a:r>
          </a:p>
          <a:p>
            <a:endParaRPr lang="en-ID" dirty="0"/>
          </a:p>
          <a:p>
            <a:endParaRPr lang="en-US" dirty="0"/>
          </a:p>
        </p:txBody>
      </p:sp>
      <p:sp>
        <p:nvSpPr>
          <p:cNvPr id="4" name="Slide Number Placeholder 3">
            <a:extLst>
              <a:ext uri="{FF2B5EF4-FFF2-40B4-BE49-F238E27FC236}">
                <a16:creationId xmlns:a16="http://schemas.microsoft.com/office/drawing/2014/main" id="{82EB1CE3-6DEF-9C1A-BCA6-E053228CDD93}"/>
              </a:ext>
            </a:extLst>
          </p:cNvPr>
          <p:cNvSpPr>
            <a:spLocks noGrp="1"/>
          </p:cNvSpPr>
          <p:nvPr>
            <p:ph type="sldNum" sz="quarter" idx="5"/>
          </p:nvPr>
        </p:nvSpPr>
        <p:spPr/>
        <p:txBody>
          <a:bodyPr/>
          <a:lstStyle/>
          <a:p>
            <a:fld id="{8ED22064-3AC2-4A29-A7DB-87C96F577F71}" type="slidenum">
              <a:rPr lang="en-ID" smtClean="0"/>
              <a:t>63</a:t>
            </a:fld>
            <a:endParaRPr lang="en-ID"/>
          </a:p>
        </p:txBody>
      </p:sp>
    </p:spTree>
    <p:extLst>
      <p:ext uri="{BB962C8B-B14F-4D97-AF65-F5344CB8AC3E}">
        <p14:creationId xmlns:p14="http://schemas.microsoft.com/office/powerpoint/2010/main" val="4981495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p:nvSpPr>
        <p:spPr>
          <a:xfrm>
            <a:off x="5842000" y="5304282"/>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p:nvSpPr>
        <p:spPr>
          <a:xfrm>
            <a:off x="5842000" y="5304282"/>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600674" y="3377427"/>
            <a:ext cx="10985500" cy="952501"/>
          </a:xfrm>
          <a:prstGeom prst="rect">
            <a:avLst/>
          </a:prstGeom>
        </p:spPr>
        <p:txBody>
          <a:bodyPr/>
          <a:lstStyle>
            <a:lvl1pPr marL="0" indent="0" algn="ctr" defTabSz="309563">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50" defTabSz="309563">
              <a:lnSpc>
                <a:spcPct val="100000"/>
              </a:lnSpc>
              <a:spcBef>
                <a:spcPts val="0"/>
              </a:spcBef>
              <a:buSzTx/>
              <a:buNone/>
              <a:defRPr sz="2063" b="1"/>
            </a:lvl2pPr>
            <a:lvl3pPr marL="0" indent="342900" defTabSz="309563">
              <a:lnSpc>
                <a:spcPct val="100000"/>
              </a:lnSpc>
              <a:spcBef>
                <a:spcPts val="0"/>
              </a:spcBef>
              <a:buSzTx/>
              <a:buNone/>
              <a:defRPr sz="2063" b="1"/>
            </a:lvl3pPr>
            <a:lvl4pPr marL="0" indent="514350" defTabSz="309563">
              <a:lnSpc>
                <a:spcPct val="100000"/>
              </a:lnSpc>
              <a:spcBef>
                <a:spcPts val="0"/>
              </a:spcBef>
              <a:buSzTx/>
              <a:buNone/>
              <a:defRPr sz="2063" b="1"/>
            </a:lvl4pPr>
            <a:lvl5pPr marL="0" indent="685800" defTabSz="309563">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603250" y="1287496"/>
            <a:ext cx="10985503"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5029097" y="5769292"/>
            <a:ext cx="2106347"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p:nvSpPr>
        <p:spPr>
          <a:xfrm>
            <a:off x="5029098" y="5550415"/>
            <a:ext cx="1526059" cy="1317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74">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97566035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p:nvSpPr>
        <p:spPr>
          <a:xfrm>
            <a:off x="0" y="1181507"/>
            <a:ext cx="12192000" cy="5718089"/>
          </a:xfrm>
          <a:prstGeom prst="rect">
            <a:avLst/>
          </a:prstGeom>
          <a:solidFill>
            <a:srgbClr val="EBEBEB"/>
          </a:soli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6032"/>
            <a:ext cx="7357784" cy="255141"/>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743467" y="2667216"/>
            <a:ext cx="6857471" cy="2261132"/>
          </a:xfrm>
        </p:spPr>
        <p:txBody>
          <a:bodyPr>
            <a:normAutofit/>
          </a:bodyPr>
          <a:lstStyle>
            <a:lvl1pPr marL="100013" indent="-100013">
              <a:lnSpc>
                <a:spcPct val="100000"/>
              </a:lnSpc>
              <a:tabLst/>
              <a:defRPr kumimoji="0" lang="en-US" sz="975"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333971" indent="-105371">
              <a:lnSpc>
                <a:spcPct val="100000"/>
              </a:lnSpc>
              <a:tabLst/>
              <a:defRPr kumimoji="0" lang="en-US" sz="975"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551259" indent="-94059">
              <a:lnSpc>
                <a:spcPct val="100000"/>
              </a:lnSpc>
              <a:tabLst/>
              <a:defRPr kumimoji="0" lang="en-US" sz="975"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801886" indent="-116086">
              <a:lnSpc>
                <a:spcPct val="100000"/>
              </a:lnSpc>
              <a:tabLst/>
              <a:defRPr kumimoji="0" lang="en-US" sz="975"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1019175" indent="-104775">
              <a:lnSpc>
                <a:spcPct val="100000"/>
              </a:lnSpc>
              <a:tabLst/>
              <a:defRPr kumimoji="0" lang="en-US" sz="975"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362296165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p:nvSpPr>
        <p:spPr>
          <a:xfrm>
            <a:off x="0" y="0"/>
            <a:ext cx="12192000" cy="6858000"/>
          </a:xfrm>
          <a:prstGeom prst="rect">
            <a:avLst/>
          </a:prstGeom>
          <a:gradFill>
            <a:gsLst>
              <a:gs pos="0">
                <a:srgbClr val="2670B8"/>
              </a:gs>
              <a:gs pos="100000">
                <a:srgbClr val="2258A7"/>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p:nvSpPr>
        <p:spPr>
          <a:xfrm>
            <a:off x="5842000" y="5304282"/>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p:nvSpPr>
        <p:spPr>
          <a:xfrm>
            <a:off x="5842000" y="5304282"/>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600674" y="3377427"/>
            <a:ext cx="10985500" cy="952501"/>
          </a:xfrm>
          <a:prstGeom prst="rect">
            <a:avLst/>
          </a:prstGeom>
        </p:spPr>
        <p:txBody>
          <a:bodyPr/>
          <a:lstStyle>
            <a:lvl1pPr marL="0" indent="0" algn="ctr" defTabSz="309563">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50" defTabSz="309563">
              <a:lnSpc>
                <a:spcPct val="100000"/>
              </a:lnSpc>
              <a:spcBef>
                <a:spcPts val="0"/>
              </a:spcBef>
              <a:buSzTx/>
              <a:buNone/>
              <a:defRPr sz="2063" b="1"/>
            </a:lvl2pPr>
            <a:lvl3pPr marL="0" indent="342900" defTabSz="309563">
              <a:lnSpc>
                <a:spcPct val="100000"/>
              </a:lnSpc>
              <a:spcBef>
                <a:spcPts val="0"/>
              </a:spcBef>
              <a:buSzTx/>
              <a:buNone/>
              <a:defRPr sz="2063" b="1"/>
            </a:lvl3pPr>
            <a:lvl4pPr marL="0" indent="514350" defTabSz="309563">
              <a:lnSpc>
                <a:spcPct val="100000"/>
              </a:lnSpc>
              <a:spcBef>
                <a:spcPts val="0"/>
              </a:spcBef>
              <a:buSzTx/>
              <a:buNone/>
              <a:defRPr sz="2063" b="1"/>
            </a:lvl4pPr>
            <a:lvl5pPr marL="0" indent="685800" defTabSz="309563">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603250" y="1287496"/>
            <a:ext cx="10985503"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5029097" y="5769292"/>
            <a:ext cx="2106347"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p:nvSpPr>
        <p:spPr>
          <a:xfrm>
            <a:off x="5029098" y="5550415"/>
            <a:ext cx="1526059" cy="1317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74">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53956624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248058592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p:nvSpPr>
        <p:spPr>
          <a:xfrm>
            <a:off x="0" y="0"/>
            <a:ext cx="12192000" cy="6858000"/>
          </a:xfrm>
          <a:prstGeom prst="rect">
            <a:avLst/>
          </a:prstGeom>
          <a:gradFill>
            <a:gsLst>
              <a:gs pos="0">
                <a:srgbClr val="F15A24"/>
              </a:gs>
              <a:gs pos="100000">
                <a:srgbClr val="F8A036"/>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124823384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p:nvSpPr>
        <p:spPr>
          <a:xfrm>
            <a:off x="0" y="0"/>
            <a:ext cx="12192000" cy="6858000"/>
          </a:xfrm>
          <a:prstGeom prst="rect">
            <a:avLst/>
          </a:prstGeom>
          <a:gradFill>
            <a:gsLst>
              <a:gs pos="0">
                <a:srgbClr val="F89620"/>
              </a:gs>
              <a:gs pos="100000">
                <a:srgbClr val="FFB039"/>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371455274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p:nvSpPr>
        <p:spPr>
          <a:xfrm>
            <a:off x="0" y="0"/>
            <a:ext cx="12192000" cy="6858000"/>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28602274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p:nvSpPr>
        <p:spPr>
          <a:xfrm>
            <a:off x="0" y="0"/>
            <a:ext cx="12192000" cy="6858000"/>
          </a:xfrm>
          <a:prstGeom prst="rect">
            <a:avLst/>
          </a:prstGeom>
          <a:gradFill>
            <a:gsLst>
              <a:gs pos="0">
                <a:srgbClr val="2670B8"/>
              </a:gs>
              <a:gs pos="100000">
                <a:srgbClr val="2258A7"/>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346481953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p:nvSpPr>
        <p:spPr>
          <a:xfrm>
            <a:off x="-28422" y="-12700"/>
            <a:ext cx="12248844" cy="6883400"/>
          </a:xfrm>
          <a:prstGeom prst="rect">
            <a:avLst/>
          </a:prstGeom>
          <a:gradFill>
            <a:gsLst>
              <a:gs pos="0">
                <a:srgbClr val="315094"/>
              </a:gs>
              <a:gs pos="100000">
                <a:srgbClr val="293C6E"/>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17589165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p:nvSpPr>
        <p:spPr>
          <a:xfrm>
            <a:off x="-28422" y="-12700"/>
            <a:ext cx="12248844" cy="6883400"/>
          </a:xfrm>
          <a:prstGeom prst="rect">
            <a:avLst/>
          </a:prstGeom>
          <a:gradFill>
            <a:gsLst>
              <a:gs pos="0">
                <a:srgbClr val="797979"/>
              </a:gs>
              <a:gs pos="100000">
                <a:srgbClr val="A9A9A9"/>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603250" y="2266950"/>
            <a:ext cx="10985503" cy="2324100"/>
          </a:xfrm>
          <a:prstGeom prst="rect">
            <a:avLst/>
          </a:prstGeom>
        </p:spPr>
        <p:txBody>
          <a:bodyPr anchor="ctr"/>
          <a:lstStyle>
            <a:lvl1pPr algn="ctr">
              <a:defRPr kumimoji="0" sz="375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228922919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p:nvSpPr>
        <p:spPr>
          <a:xfrm>
            <a:off x="0" y="1181507"/>
            <a:ext cx="12192000" cy="5718089"/>
          </a:xfrm>
          <a:prstGeom prst="rect">
            <a:avLst/>
          </a:prstGeom>
          <a:solidFill>
            <a:srgbClr val="EBEBEB"/>
          </a:soli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p:nvSpPr>
        <p:spPr>
          <a:xfrm>
            <a:off x="3090909" y="2669990"/>
            <a:ext cx="7681171" cy="246876"/>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p:nvSpPr>
        <p:spPr>
          <a:xfrm>
            <a:off x="1083691" y="2669990"/>
            <a:ext cx="2272828" cy="246876"/>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3525908" y="2497903"/>
            <a:ext cx="6898088" cy="602113"/>
          </a:xfrm>
        </p:spPr>
        <p:txBody>
          <a:bodyPr>
            <a:noAutofit/>
          </a:bodyPr>
          <a:lstStyle>
            <a:lvl1pPr marL="0" indent="0">
              <a:buNone/>
              <a:defRPr kumimoji="0" lang="en-US" sz="9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1377033" y="2497903"/>
            <a:ext cx="1686143" cy="602113"/>
          </a:xfrm>
        </p:spPr>
        <p:txBody>
          <a:bodyPr>
            <a:noAutofit/>
          </a:bodyPr>
          <a:lstStyle>
            <a:lvl1pPr marL="0" indent="0">
              <a:buNone/>
              <a:defRPr kumimoji="0" lang="en-US" sz="105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p:nvSpPr>
        <p:spPr>
          <a:xfrm>
            <a:off x="3090909" y="4046895"/>
            <a:ext cx="7681171" cy="246876"/>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p:nvSpPr>
        <p:spPr>
          <a:xfrm>
            <a:off x="1083691" y="4046895"/>
            <a:ext cx="2272828" cy="246876"/>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3525908" y="3874808"/>
            <a:ext cx="6898088" cy="602113"/>
          </a:xfrm>
        </p:spPr>
        <p:txBody>
          <a:bodyPr>
            <a:noAutofit/>
          </a:bodyPr>
          <a:lstStyle>
            <a:lvl1pPr marL="0" indent="0">
              <a:buNone/>
              <a:defRPr kumimoji="0" lang="en-US" sz="9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1377033" y="3874808"/>
            <a:ext cx="1686143" cy="602113"/>
          </a:xfrm>
        </p:spPr>
        <p:txBody>
          <a:bodyPr>
            <a:noAutofit/>
          </a:bodyPr>
          <a:lstStyle>
            <a:lvl1pPr marL="0" indent="0">
              <a:buNone/>
              <a:defRPr kumimoji="0" lang="en-US" sz="105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p:nvSpPr>
        <p:spPr>
          <a:xfrm>
            <a:off x="3090909" y="5423799"/>
            <a:ext cx="7681171" cy="246876"/>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p:nvSpPr>
        <p:spPr>
          <a:xfrm>
            <a:off x="1083691" y="5423799"/>
            <a:ext cx="2272828" cy="246876"/>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3525908" y="5251712"/>
            <a:ext cx="6898088" cy="602113"/>
          </a:xfrm>
        </p:spPr>
        <p:txBody>
          <a:bodyPr>
            <a:noAutofit/>
          </a:bodyPr>
          <a:lstStyle>
            <a:lvl1pPr marL="0" indent="0">
              <a:buNone/>
              <a:defRPr kumimoji="0" lang="en-US" sz="9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1377033" y="5251712"/>
            <a:ext cx="1686143" cy="602113"/>
          </a:xfrm>
        </p:spPr>
        <p:txBody>
          <a:bodyPr>
            <a:noAutofit/>
          </a:bodyPr>
          <a:lstStyle>
            <a:lvl1pPr marL="0" indent="0">
              <a:buNone/>
              <a:defRPr kumimoji="0" lang="en-US" sz="105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1083689" y="936032"/>
            <a:ext cx="7357784" cy="255141"/>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379751312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2743467" y="2667216"/>
            <a:ext cx="6857471" cy="2261132"/>
          </a:xfrm>
        </p:spPr>
        <p:txBody>
          <a:bodyPr>
            <a:normAutofit/>
          </a:bodyPr>
          <a:lstStyle>
            <a:lvl1pPr marL="100013" indent="-100013">
              <a:lnSpc>
                <a:spcPct val="100000"/>
              </a:lnSpc>
              <a:tabLst/>
              <a:defRPr kumimoji="0" lang="en-US" sz="975"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333971" indent="-105371">
              <a:lnSpc>
                <a:spcPct val="100000"/>
              </a:lnSpc>
              <a:tabLst/>
              <a:defRPr kumimoji="0" lang="en-US" sz="975"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551259" indent="-94059">
              <a:lnSpc>
                <a:spcPct val="100000"/>
              </a:lnSpc>
              <a:tabLst/>
              <a:defRPr kumimoji="0" lang="en-US" sz="975"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801886" indent="-116086">
              <a:lnSpc>
                <a:spcPct val="100000"/>
              </a:lnSpc>
              <a:tabLst/>
              <a:defRPr kumimoji="0" lang="en-US" sz="975"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1019175" indent="-104775">
              <a:lnSpc>
                <a:spcPct val="100000"/>
              </a:lnSpc>
              <a:tabLst/>
              <a:defRPr kumimoji="0" lang="en-US" sz="975"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219783736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1083690" y="4668678"/>
            <a:ext cx="2379633" cy="1157753"/>
          </a:xfrm>
        </p:spPr>
        <p:txBody>
          <a:bodyPr>
            <a:noAutofit/>
          </a:bodyPr>
          <a:lstStyle>
            <a:lvl1pPr marL="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4702673" y="4668678"/>
            <a:ext cx="2379633" cy="1157753"/>
          </a:xfrm>
        </p:spPr>
        <p:txBody>
          <a:bodyPr>
            <a:noAutofit/>
          </a:bodyPr>
          <a:lstStyle>
            <a:lvl1pPr marL="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8321656" y="4668678"/>
            <a:ext cx="2379633" cy="1157753"/>
          </a:xfrm>
        </p:spPr>
        <p:txBody>
          <a:bodyPr>
            <a:noAutofit/>
          </a:bodyPr>
          <a:lstStyle>
            <a:lvl1pPr marL="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1083690" y="2148650"/>
            <a:ext cx="2379633" cy="2086171"/>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4702673" y="2148650"/>
            <a:ext cx="2379633" cy="2086171"/>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8321656" y="2148650"/>
            <a:ext cx="2379633" cy="208617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21156962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p:nvSpPr>
        <p:spPr>
          <a:xfrm>
            <a:off x="3699170" y="3419186"/>
            <a:ext cx="786820" cy="443255"/>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p:nvSpPr>
        <p:spPr>
          <a:xfrm>
            <a:off x="1083688" y="3541668"/>
            <a:ext cx="2462400" cy="23177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1297126" y="2850923"/>
            <a:ext cx="1947881" cy="1650380"/>
          </a:xfrm>
        </p:spPr>
        <p:txBody>
          <a:bodyPr>
            <a:noAutofit/>
          </a:bodyPr>
          <a:lstStyle>
            <a:lvl1pPr marL="0" indent="0">
              <a:buNone/>
              <a:defRPr kumimoji="0" lang="en-US" sz="1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p:nvSpPr>
        <p:spPr>
          <a:xfrm>
            <a:off x="4639069" y="3541668"/>
            <a:ext cx="2462400" cy="23177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p:nvSpPr>
        <p:spPr>
          <a:xfrm>
            <a:off x="8194449" y="3541668"/>
            <a:ext cx="2462400" cy="23177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4859857" y="2850923"/>
            <a:ext cx="1947881" cy="1650380"/>
          </a:xfrm>
        </p:spPr>
        <p:txBody>
          <a:bodyPr>
            <a:noAutofit/>
          </a:bodyPr>
          <a:lstStyle>
            <a:lvl1pPr marL="0" indent="0">
              <a:buNone/>
              <a:defRPr kumimoji="0" lang="en-US" sz="1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8441476" y="2850923"/>
            <a:ext cx="1947881" cy="1650380"/>
          </a:xfrm>
        </p:spPr>
        <p:txBody>
          <a:bodyPr>
            <a:noAutofit/>
          </a:bodyPr>
          <a:lstStyle>
            <a:lvl1pPr marL="0" indent="0">
              <a:buNone/>
              <a:defRPr kumimoji="0" lang="en-US" sz="1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1174945" y="5222651"/>
            <a:ext cx="9519075" cy="850977"/>
          </a:xfrm>
        </p:spPr>
        <p:txBody>
          <a:bodyPr>
            <a:noAutofit/>
          </a:bodyPr>
          <a:lstStyle>
            <a:lvl1pPr marL="0" indent="0">
              <a:buNone/>
              <a:defRPr kumimoji="0" lang="en-US" sz="105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p:nvSpPr>
        <p:spPr>
          <a:xfrm>
            <a:off x="7254551" y="3419186"/>
            <a:ext cx="786820" cy="443255"/>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p:nvSpPr>
        <p:spPr>
          <a:xfrm>
            <a:off x="2120924" y="2059841"/>
            <a:ext cx="387928" cy="313774"/>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p:nvSpPr>
        <p:spPr>
          <a:xfrm>
            <a:off x="5639831" y="2059841"/>
            <a:ext cx="387928" cy="313774"/>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p:nvSpPr>
        <p:spPr>
          <a:xfrm>
            <a:off x="9231685" y="2059841"/>
            <a:ext cx="387928" cy="313774"/>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164461034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083688" y="3278462"/>
            <a:ext cx="4884453" cy="2787805"/>
          </a:xfrm>
        </p:spPr>
        <p:txBody>
          <a:bodyPr>
            <a:noAutofit/>
          </a:bodyPr>
          <a:lstStyle>
            <a:lvl1pPr marL="0" indent="0">
              <a:buNone/>
              <a:defRPr kumimoji="0" lang="en-US" sz="97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6169965" y="2105318"/>
            <a:ext cx="4549528" cy="3960949"/>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1083471" y="2105025"/>
            <a:ext cx="4884437" cy="1019556"/>
          </a:xfrm>
        </p:spPr>
        <p:txBody>
          <a:bodyPr>
            <a:normAutofit/>
          </a:bodyPr>
          <a:lstStyle>
            <a:lvl1pPr marL="0" indent="0">
              <a:buNone/>
              <a:defRPr sz="1650">
                <a:solidFill>
                  <a:schemeClr val="bg1"/>
                </a:solidFill>
              </a:defRPr>
            </a:lvl1pPr>
            <a:lvl5pPr marL="914400" indent="0" algn="l">
              <a:buFont typeface="Arial" panose="020B0604020202020204" pitchFamily="34" charset="0"/>
              <a:buNone/>
              <a:defRPr sz="165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53667970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p:nvSpPr>
        <p:spPr>
          <a:xfrm>
            <a:off x="3740652" y="3985342"/>
            <a:ext cx="4572000" cy="313774"/>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p:nvCxnSpPr>
        <p:spPr>
          <a:xfrm>
            <a:off x="6026654" y="3985345"/>
            <a:ext cx="11049" cy="2442887"/>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p:nvCxnSpPr>
        <p:spPr>
          <a:xfrm flipH="1">
            <a:off x="3740652" y="4142229"/>
            <a:ext cx="4572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1083469" y="2009364"/>
            <a:ext cx="2341963" cy="1800000"/>
          </a:xfrm>
        </p:spPr>
        <p:txBody>
          <a:bodyPr>
            <a:normAutofit/>
          </a:bodyPr>
          <a:lstStyle>
            <a:lvl1pPr marL="0" indent="0">
              <a:buNone/>
              <a:defRPr sz="1050">
                <a:solidFill>
                  <a:schemeClr val="bg1"/>
                </a:solidFill>
              </a:defRPr>
            </a:lvl1pPr>
            <a:lvl5pPr marL="914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4028476" y="3647408"/>
            <a:ext cx="1897701" cy="375631"/>
          </a:xfrm>
        </p:spPr>
        <p:txBody>
          <a:bodyPr>
            <a:normAutofit/>
          </a:bodyPr>
          <a:lstStyle>
            <a:lvl1pPr marL="0" indent="0" algn="ctr">
              <a:buNone/>
              <a:defRPr sz="1050">
                <a:solidFill>
                  <a:srgbClr val="002060"/>
                </a:solidFill>
              </a:defRPr>
            </a:lvl1pPr>
            <a:lvl5pPr marL="914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4028476" y="4308660"/>
            <a:ext cx="1897701" cy="375631"/>
          </a:xfrm>
        </p:spPr>
        <p:txBody>
          <a:bodyPr>
            <a:normAutofit/>
          </a:bodyPr>
          <a:lstStyle>
            <a:lvl1pPr marL="0" indent="0" algn="ctr">
              <a:buNone/>
              <a:defRPr sz="1050">
                <a:solidFill>
                  <a:srgbClr val="002060"/>
                </a:solidFill>
              </a:defRPr>
            </a:lvl1pPr>
            <a:lvl5pPr marL="914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6182872" y="3649150"/>
            <a:ext cx="1897701" cy="375631"/>
          </a:xfrm>
        </p:spPr>
        <p:txBody>
          <a:bodyPr>
            <a:normAutofit/>
          </a:bodyPr>
          <a:lstStyle>
            <a:lvl1pPr marL="0" indent="0" algn="ctr">
              <a:buNone/>
              <a:defRPr sz="1050">
                <a:solidFill>
                  <a:srgbClr val="002060"/>
                </a:solidFill>
              </a:defRPr>
            </a:lvl1pPr>
            <a:lvl5pPr marL="914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6214000" y="4297949"/>
            <a:ext cx="1897701" cy="375631"/>
          </a:xfrm>
        </p:spPr>
        <p:txBody>
          <a:bodyPr>
            <a:normAutofit/>
          </a:bodyPr>
          <a:lstStyle>
            <a:lvl1pPr marL="0" indent="0" algn="ctr">
              <a:buNone/>
              <a:defRPr sz="1050">
                <a:solidFill>
                  <a:srgbClr val="002060"/>
                </a:solidFill>
              </a:defRPr>
            </a:lvl1pPr>
            <a:lvl5pPr marL="914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1083469" y="4469342"/>
            <a:ext cx="2341963" cy="1800000"/>
          </a:xfrm>
        </p:spPr>
        <p:txBody>
          <a:bodyPr>
            <a:normAutofit/>
          </a:bodyPr>
          <a:lstStyle>
            <a:lvl1pPr marL="0" indent="0">
              <a:buNone/>
              <a:defRPr sz="1050">
                <a:solidFill>
                  <a:schemeClr val="bg1"/>
                </a:solidFill>
              </a:defRPr>
            </a:lvl1pPr>
            <a:lvl5pPr marL="914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8627873" y="2009364"/>
            <a:ext cx="2341963" cy="1800000"/>
          </a:xfrm>
        </p:spPr>
        <p:txBody>
          <a:bodyPr>
            <a:normAutofit/>
          </a:bodyPr>
          <a:lstStyle>
            <a:lvl1pPr marL="0" indent="0">
              <a:buNone/>
              <a:defRPr sz="1050">
                <a:solidFill>
                  <a:schemeClr val="bg1"/>
                </a:solidFill>
              </a:defRPr>
            </a:lvl1pPr>
            <a:lvl5pPr marL="914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8627873" y="4469342"/>
            <a:ext cx="2341963" cy="1800000"/>
          </a:xfrm>
        </p:spPr>
        <p:txBody>
          <a:bodyPr>
            <a:normAutofit/>
          </a:bodyPr>
          <a:lstStyle>
            <a:lvl1pPr marL="0" indent="0">
              <a:buNone/>
              <a:defRPr sz="1050">
                <a:solidFill>
                  <a:schemeClr val="bg1"/>
                </a:solidFill>
              </a:defRPr>
            </a:lvl1pPr>
            <a:lvl5pPr marL="914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64084" y="2499964"/>
            <a:ext cx="968473" cy="968473"/>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8520" y="2484350"/>
            <a:ext cx="979365" cy="979366"/>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52068" y="4857760"/>
            <a:ext cx="848205" cy="848205"/>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8522" y="4855913"/>
            <a:ext cx="850052" cy="850053"/>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208264750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p:nvSpPr>
        <p:spPr>
          <a:xfrm>
            <a:off x="-6928" y="1180177"/>
            <a:ext cx="12198928" cy="5718089"/>
          </a:xfrm>
          <a:prstGeom prst="rect">
            <a:avLst/>
          </a:prstGeom>
          <a:gradFill>
            <a:gsLst>
              <a:gs pos="0">
                <a:srgbClr val="2B7EC4"/>
              </a:gs>
              <a:gs pos="100000">
                <a:srgbClr val="57BFE8"/>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1083469" y="2174878"/>
            <a:ext cx="6048851" cy="1731229"/>
          </a:xfrm>
        </p:spPr>
        <p:txBody>
          <a:bodyPr>
            <a:normAutofit/>
          </a:bodyPr>
          <a:lstStyle>
            <a:lvl1pPr marL="0" indent="0">
              <a:buNone/>
              <a:defRPr sz="1500">
                <a:solidFill>
                  <a:schemeClr val="bg1"/>
                </a:solidFill>
              </a:defRPr>
            </a:lvl1pPr>
            <a:lvl5pPr marL="914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1083469" y="4469345"/>
            <a:ext cx="9919811" cy="1838121"/>
          </a:xfrm>
        </p:spPr>
        <p:txBody>
          <a:bodyPr>
            <a:normAutofit/>
          </a:bodyPr>
          <a:lstStyle>
            <a:lvl1pPr marL="0" indent="0">
              <a:buNone/>
              <a:defRPr sz="1350">
                <a:solidFill>
                  <a:schemeClr val="bg1"/>
                </a:solidFill>
              </a:defRPr>
            </a:lvl1pPr>
            <a:lvl5pPr marL="914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0" y="2160058"/>
            <a:ext cx="1767840" cy="176784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413924020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p:nvSpPr>
        <p:spPr>
          <a:xfrm>
            <a:off x="0" y="1180177"/>
            <a:ext cx="12192000" cy="5718089"/>
          </a:xfrm>
          <a:prstGeom prst="rect">
            <a:avLst/>
          </a:prstGeom>
          <a:gradFill>
            <a:gsLst>
              <a:gs pos="0">
                <a:srgbClr val="F15A24"/>
              </a:gs>
              <a:gs pos="100000">
                <a:srgbClr val="F8A036"/>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1588378" y="5471411"/>
            <a:ext cx="4261609" cy="722424"/>
          </a:xfrm>
        </p:spPr>
        <p:txBody>
          <a:bodyPr>
            <a:noAutofit/>
          </a:bodyPr>
          <a:lstStyle>
            <a:lvl1pPr marL="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6342017" y="5486221"/>
            <a:ext cx="4261609" cy="722424"/>
          </a:xfrm>
        </p:spPr>
        <p:txBody>
          <a:bodyPr>
            <a:noAutofit/>
          </a:bodyPr>
          <a:lstStyle>
            <a:lvl1pPr marL="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1588378" y="2291008"/>
            <a:ext cx="4261609" cy="2777989"/>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6342017" y="2291005"/>
            <a:ext cx="4261609" cy="278873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198847809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p:nvSpPr>
        <p:spPr>
          <a:xfrm>
            <a:off x="0" y="1180177"/>
            <a:ext cx="12192000" cy="5718089"/>
          </a:xfrm>
          <a:prstGeom prst="rect">
            <a:avLst/>
          </a:prstGeom>
          <a:gradFill>
            <a:gsLst>
              <a:gs pos="0">
                <a:srgbClr val="F15A24"/>
              </a:gs>
              <a:gs pos="100000">
                <a:srgbClr val="F8A036"/>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5730081" y="1981200"/>
            <a:ext cx="6059488" cy="4541838"/>
          </a:xfrm>
        </p:spPr>
        <p:txBody>
          <a:bodyPr>
            <a:normAutofit/>
          </a:bodyPr>
          <a:lstStyle>
            <a:lvl1pPr marL="0" indent="0">
              <a:buNone/>
              <a:defRPr sz="15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1951037" y="1981203"/>
            <a:ext cx="3505200" cy="2029025"/>
          </a:xfrm>
        </p:spPr>
        <p:txBody>
          <a:bodyPr>
            <a:normAutofit/>
          </a:bodyPr>
          <a:lstStyle>
            <a:lvl1pPr marL="0" indent="0">
              <a:buNone/>
              <a:defRPr sz="135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526" y="1981203"/>
            <a:ext cx="701761" cy="701761"/>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1951037" y="4430695"/>
            <a:ext cx="3505200" cy="2029025"/>
          </a:xfrm>
        </p:spPr>
        <p:txBody>
          <a:bodyPr>
            <a:normAutofit/>
          </a:bodyPr>
          <a:lstStyle>
            <a:lvl1pPr marL="0" indent="0">
              <a:buNone/>
              <a:defRPr sz="135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556" y="4324375"/>
            <a:ext cx="701760" cy="70176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4033917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p:nvSpPr>
        <p:spPr>
          <a:xfrm>
            <a:off x="0" y="1180177"/>
            <a:ext cx="12192000" cy="5718089"/>
          </a:xfrm>
          <a:prstGeom prst="rect">
            <a:avLst/>
          </a:prstGeom>
          <a:gradFill>
            <a:gsLst>
              <a:gs pos="0">
                <a:srgbClr val="F15A24"/>
              </a:gs>
              <a:gs pos="100000">
                <a:srgbClr val="F8A036"/>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p:nvPicPr>
        <p:blipFill>
          <a:blip r:embed="rId2"/>
          <a:stretch>
            <a:fillRect/>
          </a:stretch>
        </p:blipFill>
        <p:spPr>
          <a:xfrm>
            <a:off x="10508181" y="177064"/>
            <a:ext cx="1281775" cy="541936"/>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1083691" y="2060262"/>
            <a:ext cx="4734599" cy="4284297"/>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6373933" y="3231257"/>
            <a:ext cx="4012419" cy="3113301"/>
          </a:xfrm>
        </p:spPr>
        <p:txBody>
          <a:bodyPr>
            <a:noAutofit/>
          </a:bodyPr>
          <a:lstStyle>
            <a:lvl1pPr marL="0" indent="0">
              <a:buNone/>
              <a:defRPr kumimoji="0" lang="en-US" sz="975"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6373715" y="2057823"/>
            <a:ext cx="4012407" cy="984213"/>
          </a:xfrm>
        </p:spPr>
        <p:txBody>
          <a:bodyPr>
            <a:normAutofit/>
          </a:bodyPr>
          <a:lstStyle>
            <a:lvl1pPr marL="0" indent="0">
              <a:buNone/>
              <a:defRPr sz="1650">
                <a:solidFill>
                  <a:schemeClr val="bg1"/>
                </a:solidFill>
              </a:defRPr>
            </a:lvl1pPr>
            <a:lvl5pPr marL="914400" indent="0" algn="l">
              <a:buFont typeface="Arial" panose="020B0604020202020204" pitchFamily="34" charset="0"/>
              <a:buNone/>
              <a:defRPr sz="165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162873221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p:nvSpPr>
        <p:spPr>
          <a:xfrm>
            <a:off x="0" y="1180177"/>
            <a:ext cx="12192000" cy="5718089"/>
          </a:xfrm>
          <a:prstGeom prst="rect">
            <a:avLst/>
          </a:prstGeom>
          <a:gradFill>
            <a:gsLst>
              <a:gs pos="0">
                <a:srgbClr val="F15A24"/>
              </a:gs>
              <a:gs pos="100000">
                <a:srgbClr val="F8A036"/>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1083689" y="935582"/>
            <a:ext cx="7357784" cy="255588"/>
          </a:xfrm>
        </p:spPr>
        <p:txBody>
          <a:bodyPr>
            <a:normAutofit/>
          </a:bodyPr>
          <a:lstStyle>
            <a:lvl1pPr>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1083691" y="1209867"/>
            <a:ext cx="4884437" cy="401773"/>
          </a:xfrm>
        </p:spPr>
        <p:txBody>
          <a:bodyPr/>
          <a:lstStyle>
            <a:lvl1pPr marL="0" indent="0">
              <a:buNone/>
              <a:defRPr kumimoji="0" lang="en-US" sz="1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p:nvSpPr>
        <p:spPr>
          <a:xfrm>
            <a:off x="1062170" y="4651757"/>
            <a:ext cx="3856196" cy="227454"/>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1297125" y="3624013"/>
            <a:ext cx="3408691" cy="3113301"/>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97126" y="2734405"/>
            <a:ext cx="713836" cy="713836"/>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p:nvSpPr>
        <p:spPr>
          <a:xfrm>
            <a:off x="5742880" y="2765349"/>
            <a:ext cx="5865541" cy="246876"/>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p:nvSpPr>
        <p:spPr>
          <a:xfrm>
            <a:off x="5742880" y="3615139"/>
            <a:ext cx="5865541" cy="246876"/>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p:nvSpPr>
        <p:spPr>
          <a:xfrm>
            <a:off x="5742880" y="4454532"/>
            <a:ext cx="5865541" cy="246876"/>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p:nvSpPr>
        <p:spPr>
          <a:xfrm>
            <a:off x="5742880" y="5293925"/>
            <a:ext cx="5865541" cy="246876"/>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p:nvSpPr>
        <p:spPr>
          <a:xfrm>
            <a:off x="5742880" y="6133318"/>
            <a:ext cx="5865541" cy="246876"/>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309563"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5968125" y="2785449"/>
            <a:ext cx="5400915" cy="234000"/>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5968125" y="3635238"/>
            <a:ext cx="5400915" cy="234000"/>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5968125" y="4474631"/>
            <a:ext cx="5400915" cy="234000"/>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5968125" y="5314024"/>
            <a:ext cx="5400915" cy="234000"/>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5968125" y="6153417"/>
            <a:ext cx="5400915" cy="234000"/>
          </a:xfrm>
        </p:spPr>
        <p:txBody>
          <a:bodyPr>
            <a:noAutofit/>
          </a:bodyPr>
          <a:lstStyle>
            <a:lvl1pPr marL="0" indent="0">
              <a:buNone/>
              <a:defRPr kumimoji="0" lang="en-US" sz="975"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2286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4572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6858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914400" indent="0">
              <a:buNone/>
              <a:defRPr kumimoji="0" lang="en-US" sz="825"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667" y="-7732"/>
            <a:ext cx="1930400" cy="736600"/>
          </a:xfrm>
          <a:prstGeom prst="rect">
            <a:avLst/>
          </a:prstGeom>
        </p:spPr>
      </p:pic>
    </p:spTree>
    <p:extLst>
      <p:ext uri="{BB962C8B-B14F-4D97-AF65-F5344CB8AC3E}">
        <p14:creationId xmlns:p14="http://schemas.microsoft.com/office/powerpoint/2010/main" val="3614373578"/>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p:nvSpPr>
        <p:spPr>
          <a:xfrm>
            <a:off x="4911609" y="4183051"/>
            <a:ext cx="1643079" cy="11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74">
              <a:lnSpc>
                <a:spcPct val="80000"/>
              </a:lnSpc>
              <a:defRPr sz="3600">
                <a:solidFill>
                  <a:srgbClr val="FFFFFF"/>
                </a:solidFill>
                <a:latin typeface="Open Sans Light"/>
                <a:ea typeface="Open Sans Light"/>
                <a:cs typeface="Open Sans Light"/>
                <a:sym typeface="Open Sans"/>
              </a:defRPr>
            </a:pPr>
            <a:r>
              <a:rPr sz="900" dirty="0"/>
              <a:t>UNIVERSITAS</a:t>
            </a:r>
            <a:r>
              <a:rPr sz="9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p:nvSpPr>
        <p:spPr>
          <a:xfrm>
            <a:off x="5842000" y="4512547"/>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600674" y="3719168"/>
            <a:ext cx="10985500" cy="432336"/>
          </a:xfrm>
          <a:prstGeom prst="rect">
            <a:avLst/>
          </a:prstGeom>
        </p:spPr>
        <p:txBody>
          <a:bodyPr/>
          <a:lstStyle>
            <a:lvl1pPr marL="0" indent="0" algn="ctr" defTabSz="309563">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50" defTabSz="309563">
              <a:lnSpc>
                <a:spcPct val="100000"/>
              </a:lnSpc>
              <a:spcBef>
                <a:spcPts val="0"/>
              </a:spcBef>
              <a:buSzTx/>
              <a:buNone/>
              <a:defRPr sz="2063" b="1"/>
            </a:lvl2pPr>
            <a:lvl3pPr marL="0" indent="342900" defTabSz="309563">
              <a:lnSpc>
                <a:spcPct val="100000"/>
              </a:lnSpc>
              <a:spcBef>
                <a:spcPts val="0"/>
              </a:spcBef>
              <a:buSzTx/>
              <a:buNone/>
              <a:defRPr sz="2063" b="1"/>
            </a:lvl3pPr>
            <a:lvl4pPr marL="0" indent="514350" defTabSz="309563">
              <a:lnSpc>
                <a:spcPct val="100000"/>
              </a:lnSpc>
              <a:spcBef>
                <a:spcPts val="0"/>
              </a:spcBef>
              <a:buSzTx/>
              <a:buNone/>
              <a:defRPr sz="2063" b="1"/>
            </a:lvl4pPr>
            <a:lvl5pPr marL="0" indent="685800" defTabSz="309563">
              <a:lnSpc>
                <a:spcPct val="100000"/>
              </a:lnSpc>
              <a:spcBef>
                <a:spcPts val="0"/>
              </a:spcBef>
              <a:buSzTx/>
              <a:buNone/>
              <a:defRPr sz="2063"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603250" y="1529382"/>
            <a:ext cx="10985503" cy="1873141"/>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4537787" y="4743384"/>
            <a:ext cx="3111268" cy="179139"/>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108581789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p:nvPicPr>
        <p:blipFill>
          <a:blip r:embed="rId2"/>
          <a:srcRect l="165" r="165"/>
          <a:stretch>
            <a:fillRect/>
          </a:stretch>
        </p:blipFill>
        <p:spPr>
          <a:xfrm>
            <a:off x="-43049" y="-28774"/>
            <a:ext cx="12253577" cy="6915548"/>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p:nvSpPr>
        <p:spPr>
          <a:xfrm>
            <a:off x="0" y="0"/>
            <a:ext cx="12192000" cy="6858000"/>
          </a:xfrm>
          <a:prstGeom prst="rect">
            <a:avLst/>
          </a:prstGeom>
          <a:gradFill>
            <a:gsLst>
              <a:gs pos="0">
                <a:srgbClr val="2670B8"/>
              </a:gs>
              <a:gs pos="100000">
                <a:srgbClr val="2258A7"/>
              </a:gs>
            </a:gsLst>
          </a:gradFill>
          <a:ln w="12700">
            <a:miter lim="400000"/>
          </a:ln>
        </p:spPr>
        <p:txBody>
          <a:bodyPr lIns="26789" tIns="26789" rIns="26789" bIns="26789" anchor="ctr"/>
          <a:lstStyle/>
          <a:p>
            <a:pPr defTabSz="308074">
              <a:defRPr sz="3000">
                <a:solidFill>
                  <a:srgbClr val="FFFFFF"/>
                </a:solidFill>
                <a:latin typeface="Helvetica Neue Medium"/>
                <a:ea typeface="Helvetica Neue Medium"/>
                <a:cs typeface="Helvetica Neue Medium"/>
                <a:sym typeface="Helvetica Neue Medium"/>
              </a:defRPr>
            </a:pPr>
            <a:endParaRPr sz="1125"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p:nvSpPr>
        <p:spPr>
          <a:xfrm>
            <a:off x="5842000" y="4512547"/>
            <a:ext cx="508000" cy="44451"/>
          </a:xfrm>
          <a:prstGeom prst="roundRect">
            <a:avLst>
              <a:gd name="adj" fmla="val 50000"/>
            </a:avLst>
          </a:prstGeom>
          <a:solidFill>
            <a:srgbClr val="F08700"/>
          </a:solidFill>
          <a:ln w="12700">
            <a:miter lim="400000"/>
          </a:ln>
        </p:spPr>
        <p:txBody>
          <a:bodyPr lIns="19050" tIns="19050" rIns="19050" bIns="19050" anchor="ctr"/>
          <a:lstStyle/>
          <a:p>
            <a:pPr defTabSz="309563">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600674" y="3719168"/>
            <a:ext cx="10985500" cy="432336"/>
          </a:xfrm>
          <a:prstGeom prst="rect">
            <a:avLst/>
          </a:prstGeom>
        </p:spPr>
        <p:txBody>
          <a:bodyPr/>
          <a:lstStyle>
            <a:lvl1pPr marL="0" indent="0" algn="ctr" defTabSz="309563">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50" defTabSz="309563">
              <a:lnSpc>
                <a:spcPct val="100000"/>
              </a:lnSpc>
              <a:spcBef>
                <a:spcPts val="0"/>
              </a:spcBef>
              <a:buSzTx/>
              <a:buNone/>
              <a:defRPr sz="2063" b="1"/>
            </a:lvl2pPr>
            <a:lvl3pPr marL="0" indent="342900" defTabSz="309563">
              <a:lnSpc>
                <a:spcPct val="100000"/>
              </a:lnSpc>
              <a:spcBef>
                <a:spcPts val="0"/>
              </a:spcBef>
              <a:buSzTx/>
              <a:buNone/>
              <a:defRPr sz="2063" b="1"/>
            </a:lvl3pPr>
            <a:lvl4pPr marL="0" indent="514350" defTabSz="309563">
              <a:lnSpc>
                <a:spcPct val="100000"/>
              </a:lnSpc>
              <a:spcBef>
                <a:spcPts val="0"/>
              </a:spcBef>
              <a:buSzTx/>
              <a:buNone/>
              <a:defRPr sz="2063" b="1"/>
            </a:lvl4pPr>
            <a:lvl5pPr marL="0" indent="685800" defTabSz="309563">
              <a:lnSpc>
                <a:spcPct val="100000"/>
              </a:lnSpc>
              <a:spcBef>
                <a:spcPts val="0"/>
              </a:spcBef>
              <a:buSzTx/>
              <a:buNone/>
              <a:defRPr sz="2063"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603250" y="1529382"/>
            <a:ext cx="10985503" cy="1873141"/>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4537787" y="4743384"/>
            <a:ext cx="3111268" cy="179139"/>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3364" y="379107"/>
            <a:ext cx="1349377" cy="571501"/>
          </a:xfrm>
          <a:prstGeom prst="rect">
            <a:avLst/>
          </a:prstGeom>
        </p:spPr>
      </p:pic>
    </p:spTree>
    <p:extLst>
      <p:ext uri="{BB962C8B-B14F-4D97-AF65-F5344CB8AC3E}">
        <p14:creationId xmlns:p14="http://schemas.microsoft.com/office/powerpoint/2010/main" val="346380428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59564" y="1484784"/>
            <a:ext cx="9422837"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2159563" y="2132856"/>
            <a:ext cx="4608512"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59563" y="2708920"/>
            <a:ext cx="4608512"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6960096" y="2708922"/>
            <a:ext cx="4622304"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a:xfrm>
            <a:off x="609600" y="6453339"/>
            <a:ext cx="2844800" cy="365125"/>
          </a:xfrm>
          <a:prstGeom prst="rect">
            <a:avLst/>
          </a:prstGeom>
        </p:spPr>
        <p:txBody>
          <a:bodyPr/>
          <a:lstStyle/>
          <a:p>
            <a:fld id="{5EF9B71C-2D91-4D15-BAB7-ADA66F828B46}" type="datetimeFigureOut">
              <a:rPr lang="id-ID" smtClean="0"/>
              <a:pPr/>
              <a:t>19/12/2025</a:t>
            </a:fld>
            <a:endParaRPr lang="id-ID"/>
          </a:p>
        </p:txBody>
      </p:sp>
      <p:sp>
        <p:nvSpPr>
          <p:cNvPr id="8" name="Footer Placeholder 7"/>
          <p:cNvSpPr>
            <a:spLocks noGrp="1"/>
          </p:cNvSpPr>
          <p:nvPr>
            <p:ph type="ftr" sz="quarter" idx="11"/>
          </p:nvPr>
        </p:nvSpPr>
        <p:spPr>
          <a:xfrm>
            <a:off x="4165600" y="6453339"/>
            <a:ext cx="3860800" cy="365125"/>
          </a:xfrm>
          <a:prstGeom prst="rect">
            <a:avLst/>
          </a:prstGeom>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6960096" y="2132856"/>
            <a:ext cx="4608512"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3251" y="539750"/>
            <a:ext cx="10985500" cy="716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603251" y="2124252"/>
            <a:ext cx="10985500" cy="4128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5991087" y="6521336"/>
            <a:ext cx="203581" cy="206467"/>
          </a:xfrm>
          <a:prstGeom prst="rect">
            <a:avLst/>
          </a:prstGeom>
          <a:ln w="12700">
            <a:miter lim="400000"/>
          </a:ln>
        </p:spPr>
        <p:txBody>
          <a:bodyPr wrap="none" lIns="50800" tIns="50800" rIns="50800" bIns="50800" anchor="b">
            <a:spAutoFit/>
          </a:bodyPr>
          <a:lstStyle>
            <a:lvl1pPr defTabSz="219075">
              <a:defRPr sz="675">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456034632"/>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653" r:id="rId24"/>
  </p:sldLayoutIdLst>
  <p:transition spd="med"/>
  <p:txStyles>
    <p:titleStyle>
      <a:lvl1pPr marL="0" marR="0" indent="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p:titleStyle>
    <p:bodyStyle>
      <a:lvl1pPr marL="2286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4572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6858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9144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11430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13716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mn-lt"/>
          <a:ea typeface="+mn-ea"/>
          <a:cs typeface="+mn-cs"/>
          <a:sym typeface="Helvetica Neue"/>
        </a:defRPr>
      </a:lvl6pPr>
      <a:lvl7pPr marL="16002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mn-lt"/>
          <a:ea typeface="+mn-ea"/>
          <a:cs typeface="+mn-cs"/>
          <a:sym typeface="Helvetica Neue"/>
        </a:defRPr>
      </a:lvl7pPr>
      <a:lvl8pPr marL="18288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mn-lt"/>
          <a:ea typeface="+mn-ea"/>
          <a:cs typeface="+mn-cs"/>
          <a:sym typeface="Helvetica Neue"/>
        </a:defRPr>
      </a:lvl8pPr>
      <a:lvl9pPr marL="2057400" marR="0" indent="-228600" algn="l" defTabSz="914377" rtl="0" eaLnBrk="1" latinLnBrk="0" hangingPunct="1">
        <a:lnSpc>
          <a:spcPct val="90000"/>
        </a:lnSpc>
        <a:spcBef>
          <a:spcPts val="1688"/>
        </a:spcBef>
        <a:spcAft>
          <a:spcPts val="0"/>
        </a:spcAft>
        <a:buClrTx/>
        <a:buSzPct val="123000"/>
        <a:buFontTx/>
        <a:buChar char="•"/>
        <a:tabLst/>
        <a:defRPr sz="1800" b="0" i="0" u="none" strike="noStrike" cap="none" spc="0" baseline="0">
          <a:solidFill>
            <a:srgbClr val="000000"/>
          </a:solidFill>
          <a:uFillTx/>
          <a:latin typeface="+mn-lt"/>
          <a:ea typeface="+mn-ea"/>
          <a:cs typeface="+mn-cs"/>
          <a:sym typeface="Helvetica Neue"/>
        </a:defRPr>
      </a:lvl9pPr>
    </p:bodyStyle>
    <p:otherStyle>
      <a:lvl1pPr marL="0" marR="0" indent="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1pPr>
      <a:lvl2pPr marL="0" marR="0" indent="17145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2pPr>
      <a:lvl3pPr marL="0" marR="0" indent="34290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3pPr>
      <a:lvl4pPr marL="0" marR="0" indent="51435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4pPr>
      <a:lvl5pPr marL="0" marR="0" indent="68580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5pPr>
      <a:lvl6pPr marL="0" marR="0" indent="85725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6pPr>
      <a:lvl7pPr marL="0" marR="0" indent="102870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7pPr>
      <a:lvl8pPr marL="0" marR="0" indent="120015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8pPr>
      <a:lvl9pPr marL="0" marR="0" indent="1371600" algn="ctr" defTabSz="219075" rtl="0" eaLnBrk="1" latinLnBrk="0" hangingPunct="1">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s3/" TargetMode="External"/><Relationship Id="rId3" Type="http://schemas.openxmlformats.org/officeDocument/2006/relationships/image" Target="../media/image28.png"/><Relationship Id="rId7" Type="http://schemas.openxmlformats.org/officeDocument/2006/relationships/image" Target="../media/image27.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2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41.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2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8.png"/><Relationship Id="rId7"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29.svg"/></Relationships>
</file>

<file path=ppt/slides/_rels/slide3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4.png"/><Relationship Id="rId18" Type="http://schemas.openxmlformats.org/officeDocument/2006/relationships/image" Target="../media/image69.sv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46.svg"/><Relationship Id="rId17" Type="http://schemas.openxmlformats.org/officeDocument/2006/relationships/image" Target="../media/image68.png"/><Relationship Id="rId2" Type="http://schemas.openxmlformats.org/officeDocument/2006/relationships/notesSlide" Target="../notesSlides/notesSlide27.xml"/><Relationship Id="rId16" Type="http://schemas.openxmlformats.org/officeDocument/2006/relationships/image" Target="../media/image67.svg"/><Relationship Id="rId1" Type="http://schemas.openxmlformats.org/officeDocument/2006/relationships/slideLayout" Target="../slideLayouts/slideLayout2.xml"/><Relationship Id="rId6" Type="http://schemas.openxmlformats.org/officeDocument/2006/relationships/image" Target="../media/image61.svg"/><Relationship Id="rId11" Type="http://schemas.openxmlformats.org/officeDocument/2006/relationships/image" Target="../media/image45.png"/><Relationship Id="rId5" Type="http://schemas.openxmlformats.org/officeDocument/2006/relationships/image" Target="../media/image60.png"/><Relationship Id="rId15" Type="http://schemas.openxmlformats.org/officeDocument/2006/relationships/image" Target="../media/image66.png"/><Relationship Id="rId10" Type="http://schemas.openxmlformats.org/officeDocument/2006/relationships/image" Target="../media/image27.svg"/><Relationship Id="rId4" Type="http://schemas.openxmlformats.org/officeDocument/2006/relationships/image" Target="../media/image59.svg"/><Relationship Id="rId9" Type="http://schemas.openxmlformats.org/officeDocument/2006/relationships/image" Target="../media/image26.png"/><Relationship Id="rId14" Type="http://schemas.openxmlformats.org/officeDocument/2006/relationships/image" Target="../media/image65.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70.png"/><Relationship Id="rId7"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75.svg"/><Relationship Id="rId4" Type="http://schemas.openxmlformats.org/officeDocument/2006/relationships/image" Target="../media/image71.svg"/><Relationship Id="rId9" Type="http://schemas.openxmlformats.org/officeDocument/2006/relationships/image" Target="../media/image74.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3.svg"/></Relationships>
</file>

<file path=ppt/slides/_rels/slide41.xml.rels><?xml version="1.0" encoding="UTF-8" standalone="yes"?>
<Relationships xmlns="http://schemas.openxmlformats.org/package/2006/relationships"><Relationship Id="rId8" Type="http://schemas.openxmlformats.org/officeDocument/2006/relationships/image" Target="../media/image80.svg"/><Relationship Id="rId13" Type="http://schemas.openxmlformats.org/officeDocument/2006/relationships/image" Target="../media/image83.png"/><Relationship Id="rId1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9.png"/><Relationship Id="rId12" Type="http://schemas.openxmlformats.org/officeDocument/2006/relationships/image" Target="../media/image42.svg"/><Relationship Id="rId17" Type="http://schemas.openxmlformats.org/officeDocument/2006/relationships/image" Target="../media/image74.png"/><Relationship Id="rId2" Type="http://schemas.openxmlformats.org/officeDocument/2006/relationships/notesSlide" Target="../notesSlides/notesSlide35.xml"/><Relationship Id="rId16" Type="http://schemas.openxmlformats.org/officeDocument/2006/relationships/image" Target="../media/image86.svg"/><Relationship Id="rId1" Type="http://schemas.openxmlformats.org/officeDocument/2006/relationships/slideLayout" Target="../slideLayouts/slideLayout2.xml"/><Relationship Id="rId6" Type="http://schemas.openxmlformats.org/officeDocument/2006/relationships/image" Target="../media/image78.svg"/><Relationship Id="rId11" Type="http://schemas.openxmlformats.org/officeDocument/2006/relationships/image" Target="../media/image41.png"/><Relationship Id="rId5" Type="http://schemas.openxmlformats.org/officeDocument/2006/relationships/image" Target="../media/image77.png"/><Relationship Id="rId15" Type="http://schemas.openxmlformats.org/officeDocument/2006/relationships/image" Target="../media/image85.png"/><Relationship Id="rId10" Type="http://schemas.openxmlformats.org/officeDocument/2006/relationships/image" Target="../media/image82.svg"/><Relationship Id="rId4" Type="http://schemas.openxmlformats.org/officeDocument/2006/relationships/image" Target="../media/image71.svg"/><Relationship Id="rId9" Type="http://schemas.openxmlformats.org/officeDocument/2006/relationships/image" Target="../media/image81.png"/><Relationship Id="rId14" Type="http://schemas.openxmlformats.org/officeDocument/2006/relationships/image" Target="../media/image84.svg"/></Relationships>
</file>

<file path=ppt/slides/_rels/slide42.xml.rels><?xml version="1.0" encoding="UTF-8" standalone="yes"?>
<Relationships xmlns="http://schemas.openxmlformats.org/package/2006/relationships"><Relationship Id="rId8" Type="http://schemas.openxmlformats.org/officeDocument/2006/relationships/image" Target="../media/image88.svg"/><Relationship Id="rId13" Type="http://schemas.openxmlformats.org/officeDocument/2006/relationships/image" Target="../media/image8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42.svg"/><Relationship Id="rId2" Type="http://schemas.openxmlformats.org/officeDocument/2006/relationships/notesSlide" Target="../notesSlides/notesSlide36.xml"/><Relationship Id="rId16" Type="http://schemas.openxmlformats.org/officeDocument/2006/relationships/image" Target="../media/image86.svg"/><Relationship Id="rId1" Type="http://schemas.openxmlformats.org/officeDocument/2006/relationships/slideLayout" Target="../slideLayouts/slideLayout2.xml"/><Relationship Id="rId6" Type="http://schemas.openxmlformats.org/officeDocument/2006/relationships/image" Target="../media/image80.svg"/><Relationship Id="rId11" Type="http://schemas.openxmlformats.org/officeDocument/2006/relationships/image" Target="../media/image41.png"/><Relationship Id="rId5" Type="http://schemas.openxmlformats.org/officeDocument/2006/relationships/image" Target="../media/image79.png"/><Relationship Id="rId15" Type="http://schemas.openxmlformats.org/officeDocument/2006/relationships/image" Target="../media/image85.png"/><Relationship Id="rId10" Type="http://schemas.openxmlformats.org/officeDocument/2006/relationships/image" Target="../media/image75.svg"/><Relationship Id="rId4" Type="http://schemas.openxmlformats.org/officeDocument/2006/relationships/image" Target="../media/image82.svg"/><Relationship Id="rId9" Type="http://schemas.openxmlformats.org/officeDocument/2006/relationships/image" Target="../media/image74.png"/><Relationship Id="rId14" Type="http://schemas.openxmlformats.org/officeDocument/2006/relationships/image" Target="../media/image84.svg"/></Relationships>
</file>

<file path=ppt/slides/_rels/slide43.xml.rels><?xml version="1.0" encoding="UTF-8" standalone="yes"?>
<Relationships xmlns="http://schemas.openxmlformats.org/package/2006/relationships"><Relationship Id="rId8" Type="http://schemas.openxmlformats.org/officeDocument/2006/relationships/image" Target="../media/image88.svg"/><Relationship Id="rId13" Type="http://schemas.openxmlformats.org/officeDocument/2006/relationships/image" Target="../media/image8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42.svg"/><Relationship Id="rId2" Type="http://schemas.openxmlformats.org/officeDocument/2006/relationships/notesSlide" Target="../notesSlides/notesSlide37.xml"/><Relationship Id="rId16" Type="http://schemas.openxmlformats.org/officeDocument/2006/relationships/image" Target="../media/image86.svg"/><Relationship Id="rId1" Type="http://schemas.openxmlformats.org/officeDocument/2006/relationships/slideLayout" Target="../slideLayouts/slideLayout2.xml"/><Relationship Id="rId6" Type="http://schemas.openxmlformats.org/officeDocument/2006/relationships/image" Target="../media/image80.svg"/><Relationship Id="rId11" Type="http://schemas.openxmlformats.org/officeDocument/2006/relationships/image" Target="../media/image41.png"/><Relationship Id="rId5" Type="http://schemas.openxmlformats.org/officeDocument/2006/relationships/image" Target="../media/image79.png"/><Relationship Id="rId15" Type="http://schemas.openxmlformats.org/officeDocument/2006/relationships/image" Target="../media/image85.png"/><Relationship Id="rId10" Type="http://schemas.openxmlformats.org/officeDocument/2006/relationships/image" Target="../media/image75.svg"/><Relationship Id="rId4" Type="http://schemas.openxmlformats.org/officeDocument/2006/relationships/image" Target="../media/image82.svg"/><Relationship Id="rId9" Type="http://schemas.openxmlformats.org/officeDocument/2006/relationships/image" Target="../media/image74.png"/><Relationship Id="rId14" Type="http://schemas.openxmlformats.org/officeDocument/2006/relationships/image" Target="../media/image84.svg"/></Relationships>
</file>

<file path=ppt/slides/_rels/slide44.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5.png"/><Relationship Id="rId3" Type="http://schemas.openxmlformats.org/officeDocument/2006/relationships/image" Target="../media/image81.png"/><Relationship Id="rId7" Type="http://schemas.openxmlformats.org/officeDocument/2006/relationships/image" Target="../media/image74.png"/><Relationship Id="rId12" Type="http://schemas.openxmlformats.org/officeDocument/2006/relationships/image" Target="../media/image84.sv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83.png"/><Relationship Id="rId5" Type="http://schemas.openxmlformats.org/officeDocument/2006/relationships/image" Target="../media/image87.png"/><Relationship Id="rId10" Type="http://schemas.openxmlformats.org/officeDocument/2006/relationships/image" Target="../media/image42.svg"/><Relationship Id="rId4" Type="http://schemas.openxmlformats.org/officeDocument/2006/relationships/image" Target="../media/image82.svg"/><Relationship Id="rId9" Type="http://schemas.openxmlformats.org/officeDocument/2006/relationships/image" Target="../media/image41.png"/><Relationship Id="rId14" Type="http://schemas.openxmlformats.org/officeDocument/2006/relationships/image" Target="../media/image86.sv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90.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99.sv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97.svg"/><Relationship Id="rId5" Type="http://schemas.openxmlformats.org/officeDocument/2006/relationships/image" Target="../media/image96.png"/><Relationship Id="rId10" Type="http://schemas.openxmlformats.org/officeDocument/2006/relationships/image" Target="../media/image27.svg"/><Relationship Id="rId4" Type="http://schemas.openxmlformats.org/officeDocument/2006/relationships/image" Target="../media/image95.svg"/><Relationship Id="rId9"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04.svg"/></Relationships>
</file>

<file path=ppt/slides/_rels/slide6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a:xfrm>
            <a:off x="587533" y="3400010"/>
            <a:ext cx="10985500" cy="952501"/>
          </a:xfrm>
        </p:spPr>
        <p:txBody>
          <a:bodyPr/>
          <a:lstStyle/>
          <a:p>
            <a:r>
              <a:rPr lang="en-US" dirty="0"/>
              <a:t>SESSION 5</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603248" y="1790700"/>
            <a:ext cx="10985502" cy="1191040"/>
          </a:xfrm>
        </p:spPr>
        <p:txBody>
          <a:bodyPr>
            <a:normAutofit/>
          </a:bodyPr>
          <a:lstStyle/>
          <a:p>
            <a:r>
              <a:rPr lang="en-US" sz="4400" dirty="0"/>
              <a:t>Storage and Database</a:t>
            </a:r>
          </a:p>
        </p:txBody>
      </p:sp>
      <p:sp>
        <p:nvSpPr>
          <p:cNvPr id="5" name="Text Placeholder 1">
            <a:extLst>
              <a:ext uri="{FF2B5EF4-FFF2-40B4-BE49-F238E27FC236}">
                <a16:creationId xmlns:a16="http://schemas.microsoft.com/office/drawing/2014/main" id="{E38F31B4-55DE-25E0-B616-BC8260B9E2FD}"/>
              </a:ext>
            </a:extLst>
          </p:cNvPr>
          <p:cNvSpPr txBox="1">
            <a:spLocks/>
          </p:cNvSpPr>
          <p:nvPr/>
        </p:nvSpPr>
        <p:spPr>
          <a:xfrm>
            <a:off x="600671" y="1337929"/>
            <a:ext cx="10985501" cy="452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ormAutofit/>
          </a:bodyPr>
          <a:lstStyle>
            <a:lvl1pPr marL="0" marR="0" indent="0" algn="ctr" defTabSz="825500" rtl="0" eaLnBrk="1" latinLnBrk="0" hangingPunct="1">
              <a:lnSpc>
                <a:spcPct val="100000"/>
              </a:lnSpc>
              <a:spcBef>
                <a:spcPts val="0"/>
              </a:spcBef>
              <a:spcAft>
                <a:spcPts val="0"/>
              </a:spcAft>
              <a:buClrTx/>
              <a:buSzTx/>
              <a:buFontTx/>
              <a:buNone/>
              <a:tabLst/>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marR="0" indent="4572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0" marR="0" indent="9144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0" marR="0" indent="13716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0" marR="0" indent="18288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spcBef>
                <a:spcPct val="20000"/>
              </a:spcBef>
              <a:tabLst>
                <a:tab pos="660400" algn="l"/>
                <a:tab pos="1027113" algn="l"/>
              </a:tabLst>
            </a:pPr>
            <a:r>
              <a:rPr lang="en-US" sz="2500" dirty="0">
                <a:latin typeface="Open Sans" panose="020B0606030504020204" pitchFamily="34" charset="0"/>
                <a:ea typeface="Open Sans" panose="020B0606030504020204" pitchFamily="34" charset="0"/>
                <a:cs typeface="Open Sans" panose="020B0606030504020204" pitchFamily="34" charset="0"/>
              </a:rPr>
              <a:t>DTSC6003001</a:t>
            </a:r>
            <a:r>
              <a:rPr lang="en-US" sz="2500" dirty="0">
                <a:solidFill>
                  <a:schemeClr val="bg1"/>
                </a:solidFill>
                <a:latin typeface="Open Sans" panose="020B0606030504020204" pitchFamily="34" charset="0"/>
                <a:ea typeface="Open Sans" panose="020B0606030504020204" pitchFamily="34" charset="0"/>
                <a:cs typeface="Open Sans" panose="020B0606030504020204" pitchFamily="34" charset="0"/>
              </a:rPr>
              <a:t> – Big Data Infrastructure and Technology</a:t>
            </a:r>
          </a:p>
        </p:txBody>
      </p:sp>
      <p:sp>
        <p:nvSpPr>
          <p:cNvPr id="8" name="Text Placeholder 3">
            <a:extLst>
              <a:ext uri="{FF2B5EF4-FFF2-40B4-BE49-F238E27FC236}">
                <a16:creationId xmlns:a16="http://schemas.microsoft.com/office/drawing/2014/main" id="{F53494EE-31F9-6ED7-0A28-4D810E340B60}"/>
              </a:ext>
            </a:extLst>
          </p:cNvPr>
          <p:cNvSpPr txBox="1">
            <a:spLocks/>
          </p:cNvSpPr>
          <p:nvPr/>
        </p:nvSpPr>
        <p:spPr>
          <a:xfrm>
            <a:off x="4267200" y="5730183"/>
            <a:ext cx="3073805" cy="3729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ormAutofit/>
          </a:bodyPr>
          <a:lstStyle>
            <a:lvl1pPr marL="0" marR="0" indent="0" algn="ctr" defTabSz="2438338" rtl="0" eaLnBrk="1" latinLnBrk="0" hangingPunct="1">
              <a:lnSpc>
                <a:spcPct val="90000"/>
              </a:lnSpc>
              <a:spcBef>
                <a:spcPts val="4500"/>
              </a:spcBef>
              <a:spcAft>
                <a:spcPts val="0"/>
              </a:spcAft>
              <a:buClrTx/>
              <a:buSzPct val="123000"/>
              <a:buFontTx/>
              <a:buNone/>
              <a:tabLst/>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1000" dirty="0"/>
              <a:t>Ade Putera Kemala., </a:t>
            </a:r>
            <a:r>
              <a:rPr lang="en-ID" sz="1000" dirty="0" err="1"/>
              <a:t>S.Kom</a:t>
            </a:r>
            <a:r>
              <a:rPr lang="en-ID" sz="1000" dirty="0"/>
              <a:t>., </a:t>
            </a:r>
            <a:r>
              <a:rPr lang="en-ID" sz="1000" dirty="0" err="1"/>
              <a:t>M.Kom</a:t>
            </a:r>
            <a:r>
              <a:rPr lang="en-ID" sz="1000" dirty="0"/>
              <a:t>.</a:t>
            </a:r>
          </a:p>
        </p:txBody>
      </p:sp>
    </p:spTree>
    <p:extLst>
      <p:ext uri="{BB962C8B-B14F-4D97-AF65-F5344CB8AC3E}">
        <p14:creationId xmlns:p14="http://schemas.microsoft.com/office/powerpoint/2010/main" val="280847100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AAC89389-8D2D-09DF-4BA0-DE2260C75713}"/>
              </a:ext>
            </a:extLst>
          </p:cNvPr>
          <p:cNvSpPr txBox="1"/>
          <p:nvPr/>
        </p:nvSpPr>
        <p:spPr>
          <a:xfrm>
            <a:off x="2157622" y="2678317"/>
            <a:ext cx="8112971" cy="1912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812602" indent="-812602" algn="just">
              <a:lnSpc>
                <a:spcPct val="150000"/>
              </a:lnSpc>
            </a:pPr>
            <a:r>
              <a:rPr lang="en-US" sz="2025" b="1" dirty="0">
                <a:solidFill>
                  <a:schemeClr val="bg1"/>
                </a:solidFill>
              </a:rPr>
              <a:t>LO1: E</a:t>
            </a:r>
            <a:r>
              <a:rPr lang="en-US" sz="2025" dirty="0">
                <a:solidFill>
                  <a:schemeClr val="bg1"/>
                </a:solidFill>
              </a:rPr>
              <a:t>xplain concept of cloud foundations and big data infrastructure including compute, storage, database, networking and security</a:t>
            </a:r>
          </a:p>
          <a:p>
            <a:pPr marL="812602" indent="-812602" algn="just">
              <a:lnSpc>
                <a:spcPct val="150000"/>
              </a:lnSpc>
            </a:pPr>
            <a:endParaRPr lang="en-US" sz="2025" dirty="0">
              <a:solidFill>
                <a:schemeClr val="bg1"/>
              </a:solidFill>
            </a:endParaRPr>
          </a:p>
        </p:txBody>
      </p:sp>
      <p:sp>
        <p:nvSpPr>
          <p:cNvPr id="58" name="TextBox 57">
            <a:extLst>
              <a:ext uri="{FF2B5EF4-FFF2-40B4-BE49-F238E27FC236}">
                <a16:creationId xmlns:a16="http://schemas.microsoft.com/office/drawing/2014/main" id="{5DF4DD11-965C-E27A-1565-1B1D746A1368}"/>
              </a:ext>
            </a:extLst>
          </p:cNvPr>
          <p:cNvSpPr txBox="1"/>
          <p:nvPr/>
        </p:nvSpPr>
        <p:spPr>
          <a:xfrm>
            <a:off x="4438654" y="1360074"/>
            <a:ext cx="3846443" cy="5001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defTabSz="914377"/>
            <a:r>
              <a:rPr lang="en-US" sz="3000" b="1" dirty="0">
                <a:solidFill>
                  <a:schemeClr val="bg1"/>
                </a:solidFill>
              </a:rPr>
              <a:t>Learning Outcomes</a:t>
            </a:r>
          </a:p>
        </p:txBody>
      </p:sp>
    </p:spTree>
    <p:extLst>
      <p:ext uri="{BB962C8B-B14F-4D97-AF65-F5344CB8AC3E}">
        <p14:creationId xmlns:p14="http://schemas.microsoft.com/office/powerpoint/2010/main" val="356524451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a:xfrm>
            <a:off x="4635795" y="182969"/>
            <a:ext cx="3093337" cy="933450"/>
          </a:xfrm>
        </p:spPr>
        <p:txBody>
          <a:bodyPr>
            <a:noAutofit/>
          </a:bodyPr>
          <a:lstStyle/>
          <a:p>
            <a:r>
              <a:rPr lang="en-US" sz="4000" b="1" dirty="0"/>
              <a:t>OUTLINE</a:t>
            </a:r>
          </a:p>
        </p:txBody>
      </p:sp>
      <p:sp>
        <p:nvSpPr>
          <p:cNvPr id="4" name="Content Placeholder 3">
            <a:extLst>
              <a:ext uri="{FF2B5EF4-FFF2-40B4-BE49-F238E27FC236}">
                <a16:creationId xmlns:a16="http://schemas.microsoft.com/office/drawing/2014/main" id="{DC1B17BA-A61D-0861-E367-2840AF8FEEE7}"/>
              </a:ext>
            </a:extLst>
          </p:cNvPr>
          <p:cNvSpPr>
            <a:spLocks noGrp="1"/>
          </p:cNvSpPr>
          <p:nvPr>
            <p:ph type="body" sz="quarter" idx="4294967295"/>
          </p:nvPr>
        </p:nvSpPr>
        <p:spPr>
          <a:xfrm>
            <a:off x="983974" y="1759226"/>
            <a:ext cx="10736085" cy="4234879"/>
          </a:xfrm>
        </p:spPr>
        <p:txBody>
          <a:bodyPr>
            <a:noAutofit/>
          </a:bodyPr>
          <a:lstStyle/>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Elastic Block Store (Amazon EBS)</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Simple Storage Service (Amazon S3)</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Elastic File System (Amazon EFS)</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S3 Glacier</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Database</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Relational Database Service (RDS)</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DynamoDB</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Redshift</a:t>
            </a:r>
          </a:p>
          <a:p>
            <a:pPr marL="347663" indent="-347663" algn="just">
              <a:lnSpc>
                <a:spcPct val="100000"/>
              </a:lnSpc>
              <a:buFont typeface="Arial" panose="020B0604020202020204" pitchFamily="34" charset="0"/>
              <a:buChar char="•"/>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Aurora</a:t>
            </a:r>
          </a:p>
        </p:txBody>
      </p:sp>
    </p:spTree>
    <p:extLst>
      <p:ext uri="{BB962C8B-B14F-4D97-AF65-F5344CB8AC3E}">
        <p14:creationId xmlns:p14="http://schemas.microsoft.com/office/powerpoint/2010/main" val="185583040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sv-SE" sz="3600" b="1" dirty="0"/>
              <a:t>Amazon Elastic Block Store (Amazon EBS)</a:t>
            </a:r>
            <a:endParaRPr lang="en-US" sz="3600" b="1" dirty="0"/>
          </a:p>
        </p:txBody>
      </p:sp>
    </p:spTree>
    <p:extLst>
      <p:ext uri="{BB962C8B-B14F-4D97-AF65-F5344CB8AC3E}">
        <p14:creationId xmlns:p14="http://schemas.microsoft.com/office/powerpoint/2010/main" val="315534230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4B42E-E4B7-D6B4-BCF6-8338C8B39D09}"/>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049F5816-5501-1ED6-DBF6-7F178D6B68FF}"/>
              </a:ext>
            </a:extLst>
          </p:cNvPr>
          <p:cNvSpPr>
            <a:spLocks noGrp="1"/>
          </p:cNvSpPr>
          <p:nvPr>
            <p:ph type="body" sz="quarter" idx="10"/>
          </p:nvPr>
        </p:nvSpPr>
        <p:spPr/>
        <p:txBody>
          <a:bodyPr>
            <a:normAutofit fontScale="55000" lnSpcReduction="20000"/>
          </a:bodyPr>
          <a:lstStyle/>
          <a:p>
            <a:r>
              <a:rPr lang="en-US" sz="2400" dirty="0"/>
              <a:t>AWS storage options: Block storage versus object storage</a:t>
            </a:r>
          </a:p>
        </p:txBody>
      </p:sp>
      <p:sp>
        <p:nvSpPr>
          <p:cNvPr id="5" name="Judul 1">
            <a:extLst>
              <a:ext uri="{FF2B5EF4-FFF2-40B4-BE49-F238E27FC236}">
                <a16:creationId xmlns:a16="http://schemas.microsoft.com/office/drawing/2014/main" id="{2B477A0C-419D-33AC-C327-3613AADD2495}"/>
              </a:ext>
            </a:extLst>
          </p:cNvPr>
          <p:cNvSpPr txBox="1">
            <a:spLocks/>
          </p:cNvSpPr>
          <p:nvPr/>
        </p:nvSpPr>
        <p:spPr>
          <a:xfrm>
            <a:off x="3163241" y="572882"/>
            <a:ext cx="5646319" cy="80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sz="2800" dirty="0"/>
          </a:p>
        </p:txBody>
      </p:sp>
      <p:pic>
        <p:nvPicPr>
          <p:cNvPr id="6" name="Graphic 5">
            <a:extLst>
              <a:ext uri="{FF2B5EF4-FFF2-40B4-BE49-F238E27FC236}">
                <a16:creationId xmlns:a16="http://schemas.microsoft.com/office/drawing/2014/main" id="{DAFE173F-00D2-673A-D070-ABB399DBFE3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9490" y="1779666"/>
            <a:ext cx="784708" cy="784708"/>
          </a:xfrm>
          <a:prstGeom prst="rect">
            <a:avLst/>
          </a:prstGeom>
        </p:spPr>
      </p:pic>
      <p:sp>
        <p:nvSpPr>
          <p:cNvPr id="7" name="TextBox 6">
            <a:extLst>
              <a:ext uri="{FF2B5EF4-FFF2-40B4-BE49-F238E27FC236}">
                <a16:creationId xmlns:a16="http://schemas.microsoft.com/office/drawing/2014/main" id="{BCE43C3D-998E-D4E6-B059-B65FF84286C6}"/>
              </a:ext>
            </a:extLst>
          </p:cNvPr>
          <p:cNvSpPr txBox="1"/>
          <p:nvPr/>
        </p:nvSpPr>
        <p:spPr>
          <a:xfrm>
            <a:off x="7412952" y="2599873"/>
            <a:ext cx="1477784" cy="738664"/>
          </a:xfrm>
          <a:prstGeom prst="rect">
            <a:avLst/>
          </a:prstGeom>
          <a:noFill/>
        </p:spPr>
        <p:txBody>
          <a:bodyPr wrap="square" lIns="0" tIns="0" rIns="0" bIns="0" rtlCol="0" anchor="ctr">
            <a:spAutoFit/>
          </a:bodyPr>
          <a:lstStyle>
            <a:defPPr>
              <a:defRPr lang="en-US"/>
            </a:defPPr>
            <a:lvl1pPr algn="ctr">
              <a:defRPr sz="2800" b="1"/>
            </a:lvl1pPr>
          </a:lstStyle>
          <a:p>
            <a:r>
              <a:rPr lang="en-US" sz="1600" b="0" dirty="0"/>
              <a:t>Amazon Elastic </a:t>
            </a:r>
          </a:p>
          <a:p>
            <a:r>
              <a:rPr lang="en-US" sz="1600" b="0" dirty="0"/>
              <a:t>Block Store </a:t>
            </a:r>
          </a:p>
          <a:p>
            <a:r>
              <a:rPr lang="en-US" sz="1600" b="0" dirty="0"/>
              <a:t>(Amazon EBS)</a:t>
            </a:r>
          </a:p>
        </p:txBody>
      </p:sp>
      <p:grpSp>
        <p:nvGrpSpPr>
          <p:cNvPr id="8" name="Group 7" descr="What if you want to change one character in a 1-GB file?">
            <a:extLst>
              <a:ext uri="{FF2B5EF4-FFF2-40B4-BE49-F238E27FC236}">
                <a16:creationId xmlns:a16="http://schemas.microsoft.com/office/drawing/2014/main" id="{F26F3AE6-BE3E-8F7B-4828-6E9CF73563B9}"/>
              </a:ext>
            </a:extLst>
          </p:cNvPr>
          <p:cNvGrpSpPr/>
          <p:nvPr/>
        </p:nvGrpSpPr>
        <p:grpSpPr>
          <a:xfrm>
            <a:off x="1463621" y="1865362"/>
            <a:ext cx="3620911" cy="707231"/>
            <a:chOff x="703236" y="2801338"/>
            <a:chExt cx="4928097" cy="656172"/>
          </a:xfrm>
        </p:grpSpPr>
        <p:grpSp>
          <p:nvGrpSpPr>
            <p:cNvPr id="9" name="Group 8">
              <a:extLst>
                <a:ext uri="{FF2B5EF4-FFF2-40B4-BE49-F238E27FC236}">
                  <a16:creationId xmlns:a16="http://schemas.microsoft.com/office/drawing/2014/main" id="{CAC42F8D-F2AA-402F-CC57-C9982387FD24}"/>
                </a:ext>
              </a:extLst>
            </p:cNvPr>
            <p:cNvGrpSpPr/>
            <p:nvPr/>
          </p:nvGrpSpPr>
          <p:grpSpPr>
            <a:xfrm>
              <a:off x="703236" y="2835131"/>
              <a:ext cx="540451" cy="622379"/>
              <a:chOff x="3402623" y="3640015"/>
              <a:chExt cx="826477" cy="861647"/>
            </a:xfrm>
          </p:grpSpPr>
          <p:sp>
            <p:nvSpPr>
              <p:cNvPr id="11" name="Flowchart: Document 10">
                <a:extLst>
                  <a:ext uri="{FF2B5EF4-FFF2-40B4-BE49-F238E27FC236}">
                    <a16:creationId xmlns:a16="http://schemas.microsoft.com/office/drawing/2014/main" id="{C49ABD2C-3805-3176-2C8E-2E3CBCBB9442}"/>
                  </a:ext>
                </a:extLst>
              </p:cNvPr>
              <p:cNvSpPr/>
              <p:nvPr/>
            </p:nvSpPr>
            <p:spPr>
              <a:xfrm>
                <a:off x="3402623" y="3640015"/>
                <a:ext cx="826477" cy="861647"/>
              </a:xfrm>
              <a:prstGeom prst="flowChartDocumen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cxnSp>
            <p:nvCxnSpPr>
              <p:cNvPr id="12" name="Straight Connector 11">
                <a:extLst>
                  <a:ext uri="{FF2B5EF4-FFF2-40B4-BE49-F238E27FC236}">
                    <a16:creationId xmlns:a16="http://schemas.microsoft.com/office/drawing/2014/main" id="{8CEFDF0F-F0B9-C50B-2554-DDAB929155FC}"/>
                  </a:ext>
                </a:extLst>
              </p:cNvPr>
              <p:cNvCxnSpPr/>
              <p:nvPr/>
            </p:nvCxnSpPr>
            <p:spPr>
              <a:xfrm>
                <a:off x="3464169" y="38070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FCD51BE-F952-F120-BABB-F2C4DA814AA7}"/>
                  </a:ext>
                </a:extLst>
              </p:cNvPr>
              <p:cNvCxnSpPr/>
              <p:nvPr/>
            </p:nvCxnSpPr>
            <p:spPr>
              <a:xfrm>
                <a:off x="3464169" y="39594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4" name="Straight Connector 23">
                <a:extLst>
                  <a:ext uri="{FF2B5EF4-FFF2-40B4-BE49-F238E27FC236}">
                    <a16:creationId xmlns:a16="http://schemas.microsoft.com/office/drawing/2014/main" id="{8B197216-022F-0FB5-9DD3-CA30F3AD8582}"/>
                  </a:ext>
                </a:extLst>
              </p:cNvPr>
              <p:cNvCxnSpPr/>
              <p:nvPr/>
            </p:nvCxnSpPr>
            <p:spPr>
              <a:xfrm>
                <a:off x="3464169" y="41118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5" name="Straight Connector 25">
                <a:extLst>
                  <a:ext uri="{FF2B5EF4-FFF2-40B4-BE49-F238E27FC236}">
                    <a16:creationId xmlns:a16="http://schemas.microsoft.com/office/drawing/2014/main" id="{0A98E857-D89A-AC5F-5366-7F441B775DA3}"/>
                  </a:ext>
                </a:extLst>
              </p:cNvPr>
              <p:cNvCxnSpPr/>
              <p:nvPr/>
            </p:nvCxnSpPr>
            <p:spPr>
              <a:xfrm>
                <a:off x="3464169" y="42642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EB2281C7-6073-002C-EA2E-610A1C7A8794}"/>
                </a:ext>
              </a:extLst>
            </p:cNvPr>
            <p:cNvSpPr txBox="1"/>
            <p:nvPr/>
          </p:nvSpPr>
          <p:spPr>
            <a:xfrm>
              <a:off x="1259327" y="2801338"/>
              <a:ext cx="4372006" cy="542557"/>
            </a:xfrm>
            <a:prstGeom prst="rect">
              <a:avLst/>
            </a:prstGeom>
            <a:noFill/>
          </p:spPr>
          <p:txBody>
            <a:bodyPr wrap="squar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What if you want to change </a:t>
              </a:r>
              <a:r>
                <a:rPr lang="en-US" sz="1600" u="sng" dirty="0">
                  <a:latin typeface="Open Sans" panose="020B0606030504020204" pitchFamily="34" charset="0"/>
                  <a:ea typeface="Open Sans" panose="020B0606030504020204" pitchFamily="34" charset="0"/>
                  <a:cs typeface="Open Sans" panose="020B0606030504020204" pitchFamily="34" charset="0"/>
                </a:rPr>
                <a:t>one character</a:t>
              </a:r>
              <a:r>
                <a:rPr lang="en-US" sz="1600" dirty="0">
                  <a:latin typeface="Open Sans" panose="020B0606030504020204" pitchFamily="34" charset="0"/>
                  <a:ea typeface="Open Sans" panose="020B0606030504020204" pitchFamily="34" charset="0"/>
                  <a:cs typeface="Open Sans" panose="020B0606030504020204" pitchFamily="34" charset="0"/>
                </a:rPr>
                <a:t> in a 1-GB file?</a:t>
              </a:r>
            </a:p>
          </p:txBody>
        </p:sp>
      </p:grpSp>
      <p:graphicFrame>
        <p:nvGraphicFramePr>
          <p:cNvPr id="16" name="Table 15" descr="Block storage.">
            <a:extLst>
              <a:ext uri="{FF2B5EF4-FFF2-40B4-BE49-F238E27FC236}">
                <a16:creationId xmlns:a16="http://schemas.microsoft.com/office/drawing/2014/main" id="{705793B2-BA1C-A5BB-986E-D31D3EDB3A20}"/>
              </a:ext>
            </a:extLst>
          </p:cNvPr>
          <p:cNvGraphicFramePr>
            <a:graphicFrameLocks noGrp="1"/>
          </p:cNvGraphicFramePr>
          <p:nvPr>
            <p:extLst>
              <p:ext uri="{D42A27DB-BD31-4B8C-83A1-F6EECF244321}">
                <p14:modId xmlns:p14="http://schemas.microsoft.com/office/powerpoint/2010/main" val="550677315"/>
              </p:ext>
            </p:extLst>
          </p:nvPr>
        </p:nvGraphicFramePr>
        <p:xfrm>
          <a:off x="1814636" y="3244881"/>
          <a:ext cx="1477785" cy="1743048"/>
        </p:xfrm>
        <a:graphic>
          <a:graphicData uri="http://schemas.openxmlformats.org/drawingml/2006/table">
            <a:tbl>
              <a:tblPr firstRow="1" bandRow="1"/>
              <a:tblGrid>
                <a:gridCol w="492595">
                  <a:extLst>
                    <a:ext uri="{9D8B030D-6E8A-4147-A177-3AD203B41FA5}">
                      <a16:colId xmlns:a16="http://schemas.microsoft.com/office/drawing/2014/main" val="20000"/>
                    </a:ext>
                  </a:extLst>
                </a:gridCol>
                <a:gridCol w="492595">
                  <a:extLst>
                    <a:ext uri="{9D8B030D-6E8A-4147-A177-3AD203B41FA5}">
                      <a16:colId xmlns:a16="http://schemas.microsoft.com/office/drawing/2014/main" val="20001"/>
                    </a:ext>
                  </a:extLst>
                </a:gridCol>
                <a:gridCol w="492595">
                  <a:extLst>
                    <a:ext uri="{9D8B030D-6E8A-4147-A177-3AD203B41FA5}">
                      <a16:colId xmlns:a16="http://schemas.microsoft.com/office/drawing/2014/main" val="20002"/>
                    </a:ext>
                  </a:extLst>
                </a:gridCol>
              </a:tblGrid>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0"/>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1"/>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2"/>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3"/>
                  </a:ext>
                </a:extLst>
              </a:tr>
            </a:tbl>
          </a:graphicData>
        </a:graphic>
      </p:graphicFrame>
      <p:sp>
        <p:nvSpPr>
          <p:cNvPr id="17" name="Rectangle 16">
            <a:extLst>
              <a:ext uri="{FF2B5EF4-FFF2-40B4-BE49-F238E27FC236}">
                <a16:creationId xmlns:a16="http://schemas.microsoft.com/office/drawing/2014/main" id="{5ABF04CD-E531-46EB-2ED5-AA6950E6B396}"/>
              </a:ext>
              <a:ext uri="{C183D7F6-B498-43B3-948B-1728B52AA6E4}">
                <adec:decorative xmlns:adec="http://schemas.microsoft.com/office/drawing/2017/decorative" val="1"/>
              </a:ext>
            </a:extLst>
          </p:cNvPr>
          <p:cNvSpPr/>
          <p:nvPr/>
        </p:nvSpPr>
        <p:spPr>
          <a:xfrm>
            <a:off x="2797323" y="3677766"/>
            <a:ext cx="482131" cy="438452"/>
          </a:xfrm>
          <a:prstGeom prst="rect">
            <a:avLst/>
          </a:prstGeom>
          <a:solidFill>
            <a:srgbClr val="0C67AE">
              <a:lumMod val="60000"/>
              <a:lumOff val="40000"/>
            </a:srgbClr>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3ED0E1A2-6399-860A-6933-5C82D104E85C}"/>
              </a:ext>
            </a:extLst>
          </p:cNvPr>
          <p:cNvSpPr txBox="1">
            <a:spLocks/>
          </p:cNvSpPr>
          <p:nvPr/>
        </p:nvSpPr>
        <p:spPr>
          <a:xfrm>
            <a:off x="1010342" y="4992639"/>
            <a:ext cx="3086372" cy="501733"/>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rgbClr val="4D4D4C"/>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4D4D4C"/>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4D4D4C"/>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gn="ctr">
              <a:buNone/>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Block storage</a:t>
            </a:r>
          </a:p>
        </p:txBody>
      </p:sp>
      <p:sp>
        <p:nvSpPr>
          <p:cNvPr id="19" name="Content Placeholder 2">
            <a:extLst>
              <a:ext uri="{FF2B5EF4-FFF2-40B4-BE49-F238E27FC236}">
                <a16:creationId xmlns:a16="http://schemas.microsoft.com/office/drawing/2014/main" id="{FD07B269-1017-5E34-2EF4-145F7C41BAA2}"/>
              </a:ext>
            </a:extLst>
          </p:cNvPr>
          <p:cNvSpPr txBox="1">
            <a:spLocks/>
          </p:cNvSpPr>
          <p:nvPr/>
        </p:nvSpPr>
        <p:spPr>
          <a:xfrm>
            <a:off x="384840" y="5486293"/>
            <a:ext cx="4337376" cy="304907"/>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Font typeface="Arial" pitchFamily="34" charset="0"/>
              <a:buNone/>
            </a:pPr>
            <a:r>
              <a:rPr lang="en-US" sz="1600" dirty="0"/>
              <a:t>Change one block (piece of the file)</a:t>
            </a:r>
          </a:p>
          <a:p>
            <a:pPr marL="0" lvl="1" indent="0" algn="ctr">
              <a:buFont typeface="Arial" pitchFamily="34" charset="0"/>
              <a:buNone/>
            </a:pPr>
            <a:r>
              <a:rPr lang="en-US" sz="1600" dirty="0"/>
              <a:t>that contains the character</a:t>
            </a:r>
          </a:p>
        </p:txBody>
      </p:sp>
      <p:graphicFrame>
        <p:nvGraphicFramePr>
          <p:cNvPr id="20" name="Table 19" descr="Object storage.">
            <a:extLst>
              <a:ext uri="{FF2B5EF4-FFF2-40B4-BE49-F238E27FC236}">
                <a16:creationId xmlns:a16="http://schemas.microsoft.com/office/drawing/2014/main" id="{9779D58E-E231-5889-B2C7-1E055B277A4A}"/>
              </a:ext>
            </a:extLst>
          </p:cNvPr>
          <p:cNvGraphicFramePr>
            <a:graphicFrameLocks noGrp="1"/>
          </p:cNvGraphicFramePr>
          <p:nvPr>
            <p:extLst>
              <p:ext uri="{D42A27DB-BD31-4B8C-83A1-F6EECF244321}">
                <p14:modId xmlns:p14="http://schemas.microsoft.com/office/powerpoint/2010/main" val="1610062801"/>
              </p:ext>
            </p:extLst>
          </p:nvPr>
        </p:nvGraphicFramePr>
        <p:xfrm>
          <a:off x="5340218" y="3244881"/>
          <a:ext cx="1477785" cy="1743048"/>
        </p:xfrm>
        <a:graphic>
          <a:graphicData uri="http://schemas.openxmlformats.org/drawingml/2006/table">
            <a:tbl>
              <a:tblPr firstRow="1" bandRow="1"/>
              <a:tblGrid>
                <a:gridCol w="492595">
                  <a:extLst>
                    <a:ext uri="{9D8B030D-6E8A-4147-A177-3AD203B41FA5}">
                      <a16:colId xmlns:a16="http://schemas.microsoft.com/office/drawing/2014/main" val="20000"/>
                    </a:ext>
                  </a:extLst>
                </a:gridCol>
                <a:gridCol w="492595">
                  <a:extLst>
                    <a:ext uri="{9D8B030D-6E8A-4147-A177-3AD203B41FA5}">
                      <a16:colId xmlns:a16="http://schemas.microsoft.com/office/drawing/2014/main" val="20001"/>
                    </a:ext>
                  </a:extLst>
                </a:gridCol>
                <a:gridCol w="492595">
                  <a:extLst>
                    <a:ext uri="{9D8B030D-6E8A-4147-A177-3AD203B41FA5}">
                      <a16:colId xmlns:a16="http://schemas.microsoft.com/office/drawing/2014/main" val="20002"/>
                    </a:ext>
                  </a:extLst>
                </a:gridCol>
              </a:tblGrid>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0"/>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1"/>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2"/>
                  </a:ext>
                </a:extLst>
              </a:tr>
              <a:tr h="43576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3"/>
                  </a:ext>
                </a:extLst>
              </a:tr>
            </a:tbl>
          </a:graphicData>
        </a:graphic>
      </p:graphicFrame>
      <p:sp>
        <p:nvSpPr>
          <p:cNvPr id="21" name="Content Placeholder 2">
            <a:extLst>
              <a:ext uri="{FF2B5EF4-FFF2-40B4-BE49-F238E27FC236}">
                <a16:creationId xmlns:a16="http://schemas.microsoft.com/office/drawing/2014/main" id="{06BBE1E5-25EB-A2C6-709A-1753C5592BF8}"/>
              </a:ext>
            </a:extLst>
          </p:cNvPr>
          <p:cNvSpPr txBox="1">
            <a:spLocks/>
          </p:cNvSpPr>
          <p:nvPr/>
        </p:nvSpPr>
        <p:spPr>
          <a:xfrm>
            <a:off x="4864933" y="5062224"/>
            <a:ext cx="2488994" cy="375623"/>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solidFill>
                  <a:srgbClr val="4D4D4C"/>
                </a:solidFill>
                <a:latin typeface="Arial"/>
                <a:cs typeface="Arial"/>
              </a:defRPr>
            </a:lvl1pPr>
            <a:lvl2pPr marL="0" lvl="1" indent="0" algn="ctr" defTabSz="457200">
              <a:spcBef>
                <a:spcPct val="20000"/>
              </a:spcBef>
              <a:buFont typeface="Arial"/>
              <a:buNone/>
              <a:defRPr sz="2133" b="1" i="0">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defTabSz="457200">
              <a:spcBef>
                <a:spcPct val="20000"/>
              </a:spcBef>
              <a:buFont typeface="Arial"/>
              <a:buChar char="•"/>
              <a:defRPr b="0" i="0">
                <a:solidFill>
                  <a:srgbClr val="4D4D4C"/>
                </a:solidFill>
                <a:latin typeface="Arial"/>
                <a:cs typeface="Arial"/>
              </a:defRPr>
            </a:lvl3pPr>
            <a:lvl4pPr marL="1600200" indent="-228600" defTabSz="457200">
              <a:spcBef>
                <a:spcPct val="20000"/>
              </a:spcBef>
              <a:buFont typeface="Arial"/>
              <a:buChar char="–"/>
              <a:defRPr sz="1600" b="0" i="0">
                <a:solidFill>
                  <a:srgbClr val="4D4D4C"/>
                </a:solidFill>
                <a:latin typeface="Arial"/>
                <a:cs typeface="Arial"/>
              </a:defRPr>
            </a:lvl4pPr>
            <a:lvl5pPr marL="2057400" indent="-228600" defTabSz="457200">
              <a:spcBef>
                <a:spcPct val="20000"/>
              </a:spcBef>
              <a:buFont typeface="Arial"/>
              <a:buChar char="»"/>
              <a:defRPr sz="1600" b="0" i="0">
                <a:solidFill>
                  <a:srgbClr val="4D4D4C"/>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sz="1600" b="0" dirty="0">
                <a:latin typeface="Open Sans" panose="020B0606030504020204" pitchFamily="34" charset="0"/>
                <a:ea typeface="Open Sans" panose="020B0606030504020204" pitchFamily="34" charset="0"/>
                <a:cs typeface="Open Sans" panose="020B0606030504020204" pitchFamily="34" charset="0"/>
              </a:rPr>
              <a:t>Object storage</a:t>
            </a:r>
          </a:p>
        </p:txBody>
      </p:sp>
      <p:sp>
        <p:nvSpPr>
          <p:cNvPr id="22" name="Content Placeholder 2">
            <a:extLst>
              <a:ext uri="{FF2B5EF4-FFF2-40B4-BE49-F238E27FC236}">
                <a16:creationId xmlns:a16="http://schemas.microsoft.com/office/drawing/2014/main" id="{9C70314D-ECBF-E428-A8CA-4E53DE57BBC3}"/>
              </a:ext>
            </a:extLst>
          </p:cNvPr>
          <p:cNvSpPr txBox="1">
            <a:spLocks/>
          </p:cNvSpPr>
          <p:nvPr/>
        </p:nvSpPr>
        <p:spPr>
          <a:xfrm>
            <a:off x="4419600" y="5562493"/>
            <a:ext cx="3360761" cy="304907"/>
          </a:xfrm>
          <a:prstGeom prst="rect">
            <a:avLst/>
          </a:prstGeom>
        </p:spPr>
        <p:txBody>
          <a:bodyPr vert="horz" lIns="91440" tIns="45720" rIns="91440" bIns="45720" rtlCol="0">
            <a:noAutofit/>
          </a:bodyPr>
          <a:lstStyle>
            <a:lvl1pPr marL="228600" indent="-228600">
              <a:lnSpc>
                <a:spcPct val="90000"/>
              </a:lnSpc>
              <a:spcBef>
                <a:spcPts val="1000"/>
              </a:spcBef>
              <a:buFontTx/>
              <a:buBlip>
                <a:blip r:embed="rId5"/>
              </a:buBlip>
              <a:defRPr sz="2800" b="0" i="0">
                <a:latin typeface="Amazon Ember Light" charset="0"/>
                <a:ea typeface="Amazon Ember Light" charset="0"/>
                <a:cs typeface="Amazon Ember Light" charset="0"/>
              </a:defRPr>
            </a:lvl1pPr>
            <a:lvl2pPr marL="0" lvl="1" indent="0" algn="ctr">
              <a:lnSpc>
                <a:spcPct val="90000"/>
              </a:lnSpc>
              <a:spcBef>
                <a:spcPts val="500"/>
              </a:spcBef>
              <a:buFontTx/>
              <a:buNone/>
              <a:defRPr sz="1600" b="0" i="0">
                <a:latin typeface="Amazon Ember Light" charset="0"/>
                <a:ea typeface="Amazon Ember Light" charset="0"/>
                <a:cs typeface="Amazon Ember Light" charset="0"/>
              </a:defRPr>
            </a:lvl2pPr>
            <a:lvl3pPr marL="1143000" indent="-228600">
              <a:lnSpc>
                <a:spcPct val="90000"/>
              </a:lnSpc>
              <a:spcBef>
                <a:spcPts val="500"/>
              </a:spcBef>
              <a:buFontTx/>
              <a:buBlip>
                <a:blip r:embed="rId5"/>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5"/>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5"/>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1"/>
            <a:r>
              <a:rPr lang="en-US" dirty="0">
                <a:latin typeface="Open Sans" panose="020B0606030504020204" pitchFamily="34" charset="0"/>
                <a:ea typeface="Open Sans" panose="020B0606030504020204" pitchFamily="34" charset="0"/>
                <a:cs typeface="Open Sans" panose="020B0606030504020204" pitchFamily="34" charset="0"/>
              </a:rPr>
              <a:t>Entire file must be updated</a:t>
            </a:r>
          </a:p>
        </p:txBody>
      </p:sp>
    </p:spTree>
    <p:extLst>
      <p:ext uri="{BB962C8B-B14F-4D97-AF65-F5344CB8AC3E}">
        <p14:creationId xmlns:p14="http://schemas.microsoft.com/office/powerpoint/2010/main" val="52783816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FF512-37D7-E053-F4AA-2C78EE2E0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2055B-5E06-0784-16F0-327C2E41AD8D}"/>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040A13D3-9BB8-C945-3D11-7A2D8873B6F7}"/>
              </a:ext>
            </a:extLst>
          </p:cNvPr>
          <p:cNvSpPr>
            <a:spLocks noGrp="1"/>
          </p:cNvSpPr>
          <p:nvPr>
            <p:ph type="body" sz="quarter" idx="10"/>
          </p:nvPr>
        </p:nvSpPr>
        <p:spPr/>
        <p:txBody>
          <a:bodyPr>
            <a:normAutofit lnSpcReduction="10000"/>
          </a:bodyPr>
          <a:lstStyle/>
          <a:p>
            <a:r>
              <a:rPr lang="en-US" sz="2400" dirty="0"/>
              <a:t>Amazon EBS</a:t>
            </a:r>
          </a:p>
        </p:txBody>
      </p:sp>
      <p:sp>
        <p:nvSpPr>
          <p:cNvPr id="4" name="Title 1">
            <a:extLst>
              <a:ext uri="{FF2B5EF4-FFF2-40B4-BE49-F238E27FC236}">
                <a16:creationId xmlns:a16="http://schemas.microsoft.com/office/drawing/2014/main" id="{5C4953D7-08BC-7EE3-BF97-D65E6F23A1B1}"/>
              </a:ext>
            </a:extLst>
          </p:cNvPr>
          <p:cNvSpPr txBox="1">
            <a:spLocks/>
          </p:cNvSpPr>
          <p:nvPr/>
        </p:nvSpPr>
        <p:spPr>
          <a:xfrm>
            <a:off x="3581400" y="381000"/>
            <a:ext cx="46482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87805FE0-4D04-2000-1988-7E2B461BC169}"/>
              </a:ext>
            </a:extLst>
          </p:cNvPr>
          <p:cNvSpPr txBox="1">
            <a:spLocks/>
          </p:cNvSpPr>
          <p:nvPr/>
        </p:nvSpPr>
        <p:spPr>
          <a:xfrm>
            <a:off x="1143000" y="2037465"/>
            <a:ext cx="9906000" cy="4691460"/>
          </a:xfrm>
          <a:prstGeom prst="rect">
            <a:avLst/>
          </a:prstGeom>
        </p:spPr>
        <p:txBody>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600"/>
              </a:spcBef>
              <a:buFont typeface="Arial" pitchFamily="34" charset="0"/>
              <a:buNone/>
            </a:pPr>
            <a:r>
              <a:rPr lang="en-US" dirty="0"/>
              <a:t>Amazon EBS enables you to </a:t>
            </a:r>
            <a:r>
              <a:rPr lang="en-US" b="1" dirty="0">
                <a:solidFill>
                  <a:srgbClr val="0070C0"/>
                </a:solidFill>
              </a:rPr>
              <a:t>create individual storage volumes </a:t>
            </a:r>
          </a:p>
          <a:p>
            <a:pPr marL="0" indent="0" algn="just">
              <a:spcBef>
                <a:spcPts val="600"/>
              </a:spcBef>
              <a:buFont typeface="Arial" pitchFamily="34" charset="0"/>
              <a:buNone/>
            </a:pPr>
            <a:r>
              <a:rPr lang="en-US" dirty="0"/>
              <a:t>and </a:t>
            </a:r>
            <a:r>
              <a:rPr lang="en-US" b="1" dirty="0">
                <a:solidFill>
                  <a:srgbClr val="0070C0"/>
                </a:solidFill>
              </a:rPr>
              <a:t>attach them </a:t>
            </a:r>
            <a:r>
              <a:rPr lang="en-US" dirty="0"/>
              <a:t>to an Amazon EC2 instance:</a:t>
            </a:r>
          </a:p>
          <a:p>
            <a:pPr algn="just">
              <a:spcBef>
                <a:spcPts val="600"/>
              </a:spcBef>
            </a:pPr>
            <a:r>
              <a:rPr lang="en-US" dirty="0"/>
              <a:t>Amazon EBS offers block-level storage.</a:t>
            </a:r>
          </a:p>
          <a:p>
            <a:pPr algn="just">
              <a:spcBef>
                <a:spcPts val="600"/>
              </a:spcBef>
            </a:pPr>
            <a:r>
              <a:rPr lang="en-US" dirty="0"/>
              <a:t>Volumes are automatically replicated within its Availability Zone.</a:t>
            </a:r>
          </a:p>
          <a:p>
            <a:pPr algn="just">
              <a:spcBef>
                <a:spcPts val="600"/>
              </a:spcBef>
            </a:pPr>
            <a:r>
              <a:rPr lang="en-US" dirty="0"/>
              <a:t>It can be backed up automatically to Amazon S3 through snapshots.</a:t>
            </a:r>
          </a:p>
          <a:p>
            <a:pPr algn="just">
              <a:spcBef>
                <a:spcPts val="600"/>
              </a:spcBef>
            </a:pPr>
            <a:r>
              <a:rPr lang="en-US" dirty="0"/>
              <a:t>Uses include :</a:t>
            </a:r>
          </a:p>
          <a:p>
            <a:pPr lvl="1" algn="just">
              <a:spcBef>
                <a:spcPts val="600"/>
              </a:spcBef>
            </a:pPr>
            <a:r>
              <a:rPr lang="en-US" dirty="0"/>
              <a:t>Boot volumes and storage for Amazon Elastic Compute Cloud </a:t>
            </a:r>
          </a:p>
          <a:p>
            <a:pPr marL="457200" lvl="1" indent="0" algn="just">
              <a:spcBef>
                <a:spcPts val="600"/>
              </a:spcBef>
              <a:buNone/>
            </a:pPr>
            <a:r>
              <a:rPr lang="en-US" dirty="0"/>
              <a:t>     (Amazon EC2) instances</a:t>
            </a:r>
          </a:p>
          <a:p>
            <a:pPr lvl="1" algn="just">
              <a:spcBef>
                <a:spcPts val="600"/>
              </a:spcBef>
            </a:pPr>
            <a:r>
              <a:rPr lang="en-US" dirty="0"/>
              <a:t>Data storage with a file system</a:t>
            </a:r>
          </a:p>
          <a:p>
            <a:pPr lvl="1" algn="just">
              <a:spcBef>
                <a:spcPts val="600"/>
              </a:spcBef>
            </a:pPr>
            <a:r>
              <a:rPr lang="en-US" dirty="0"/>
              <a:t>Database hosts</a:t>
            </a:r>
          </a:p>
          <a:p>
            <a:pPr lvl="1" algn="just">
              <a:spcBef>
                <a:spcPts val="600"/>
              </a:spcBef>
            </a:pPr>
            <a:r>
              <a:rPr lang="en-US" dirty="0"/>
              <a:t>Enterprise applications</a:t>
            </a:r>
          </a:p>
        </p:txBody>
      </p:sp>
    </p:spTree>
    <p:extLst>
      <p:ext uri="{BB962C8B-B14F-4D97-AF65-F5344CB8AC3E}">
        <p14:creationId xmlns:p14="http://schemas.microsoft.com/office/powerpoint/2010/main" val="30346857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AFE4-ED47-9FE2-9EE3-FFCECEC01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B4C1-089C-E0C2-45CC-29C88AC1EE81}"/>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07408043-9E0A-79A4-5B84-0E992E0E0521}"/>
              </a:ext>
            </a:extLst>
          </p:cNvPr>
          <p:cNvSpPr>
            <a:spLocks noGrp="1"/>
          </p:cNvSpPr>
          <p:nvPr>
            <p:ph type="body" sz="quarter" idx="10"/>
          </p:nvPr>
        </p:nvSpPr>
        <p:spPr/>
        <p:txBody>
          <a:bodyPr>
            <a:normAutofit lnSpcReduction="10000"/>
          </a:bodyPr>
          <a:lstStyle/>
          <a:p>
            <a:r>
              <a:rPr lang="en-US" sz="2400" dirty="0"/>
              <a:t>Amazon EBS volume types</a:t>
            </a:r>
          </a:p>
        </p:txBody>
      </p:sp>
      <p:sp>
        <p:nvSpPr>
          <p:cNvPr id="4" name="Title 1">
            <a:extLst>
              <a:ext uri="{FF2B5EF4-FFF2-40B4-BE49-F238E27FC236}">
                <a16:creationId xmlns:a16="http://schemas.microsoft.com/office/drawing/2014/main" id="{3C204EDF-B7C9-65B0-3382-B766C4D35B6C}"/>
              </a:ext>
            </a:extLst>
          </p:cNvPr>
          <p:cNvSpPr txBox="1">
            <a:spLocks/>
          </p:cNvSpPr>
          <p:nvPr/>
        </p:nvSpPr>
        <p:spPr>
          <a:xfrm>
            <a:off x="1314836" y="1676400"/>
            <a:ext cx="68385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Content Placeholder 7" descr="Table comparing EBS volume types.">
            <a:extLst>
              <a:ext uri="{FF2B5EF4-FFF2-40B4-BE49-F238E27FC236}">
                <a16:creationId xmlns:a16="http://schemas.microsoft.com/office/drawing/2014/main" id="{85CC1EB3-7284-51CF-D801-BEECC4D7A30D}"/>
              </a:ext>
            </a:extLst>
          </p:cNvPr>
          <p:cNvPicPr>
            <a:picLocks noChangeAspect="1"/>
          </p:cNvPicPr>
          <p:nvPr/>
        </p:nvPicPr>
        <p:blipFill>
          <a:blip r:embed="rId3"/>
          <a:stretch>
            <a:fillRect/>
          </a:stretch>
        </p:blipFill>
        <p:spPr>
          <a:xfrm>
            <a:off x="1600200" y="3473669"/>
            <a:ext cx="7944201" cy="1602122"/>
          </a:xfrm>
          <a:prstGeom prst="rect">
            <a:avLst/>
          </a:prstGeom>
        </p:spPr>
      </p:pic>
    </p:spTree>
    <p:extLst>
      <p:ext uri="{BB962C8B-B14F-4D97-AF65-F5344CB8AC3E}">
        <p14:creationId xmlns:p14="http://schemas.microsoft.com/office/powerpoint/2010/main" val="51500439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B131-7886-2B5A-4A8B-8C86A57C6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2FF61-210A-4570-6BE8-97F17DE6EA73}"/>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0C166E3D-3852-3108-04A7-8B01FE868761}"/>
              </a:ext>
            </a:extLst>
          </p:cNvPr>
          <p:cNvSpPr>
            <a:spLocks noGrp="1"/>
          </p:cNvSpPr>
          <p:nvPr>
            <p:ph type="body" sz="quarter" idx="10"/>
          </p:nvPr>
        </p:nvSpPr>
        <p:spPr/>
        <p:txBody>
          <a:bodyPr>
            <a:normAutofit fontScale="77500" lnSpcReduction="20000"/>
          </a:bodyPr>
          <a:lstStyle/>
          <a:p>
            <a:r>
              <a:rPr lang="en-US" sz="2400" dirty="0"/>
              <a:t>Amazon EBS volume type use cases</a:t>
            </a:r>
          </a:p>
        </p:txBody>
      </p:sp>
      <p:sp>
        <p:nvSpPr>
          <p:cNvPr id="4" name="Title 1">
            <a:extLst>
              <a:ext uri="{FF2B5EF4-FFF2-40B4-BE49-F238E27FC236}">
                <a16:creationId xmlns:a16="http://schemas.microsoft.com/office/drawing/2014/main" id="{53F80621-4D3A-B26C-BF1A-85EE6B9E7B20}"/>
              </a:ext>
            </a:extLst>
          </p:cNvPr>
          <p:cNvSpPr txBox="1">
            <a:spLocks/>
          </p:cNvSpPr>
          <p:nvPr/>
        </p:nvSpPr>
        <p:spPr>
          <a:xfrm>
            <a:off x="41148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Content Placeholder 7" descr="amazon ebs volume type use cases.">
            <a:extLst>
              <a:ext uri="{FF2B5EF4-FFF2-40B4-BE49-F238E27FC236}">
                <a16:creationId xmlns:a16="http://schemas.microsoft.com/office/drawing/2014/main" id="{EB9EAE02-7D7A-10A6-49C4-9609225D92B5}"/>
              </a:ext>
            </a:extLst>
          </p:cNvPr>
          <p:cNvPicPr>
            <a:picLocks noChangeAspect="1"/>
          </p:cNvPicPr>
          <p:nvPr/>
        </p:nvPicPr>
        <p:blipFill>
          <a:blip r:embed="rId3"/>
          <a:stretch>
            <a:fillRect/>
          </a:stretch>
        </p:blipFill>
        <p:spPr>
          <a:xfrm>
            <a:off x="2509466" y="2057400"/>
            <a:ext cx="8034218" cy="3886200"/>
          </a:xfrm>
          <a:prstGeom prst="rect">
            <a:avLst/>
          </a:prstGeom>
        </p:spPr>
      </p:pic>
    </p:spTree>
    <p:extLst>
      <p:ext uri="{BB962C8B-B14F-4D97-AF65-F5344CB8AC3E}">
        <p14:creationId xmlns:p14="http://schemas.microsoft.com/office/powerpoint/2010/main" val="11325749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E45A-6742-4E20-4F06-BE130A946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2477D-95B3-321A-5AD2-4350E4A97DAD}"/>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3A73CC30-52A3-4704-B6E3-1BECA357D4F3}"/>
              </a:ext>
            </a:extLst>
          </p:cNvPr>
          <p:cNvSpPr>
            <a:spLocks noGrp="1"/>
          </p:cNvSpPr>
          <p:nvPr>
            <p:ph type="body" sz="quarter" idx="10"/>
          </p:nvPr>
        </p:nvSpPr>
        <p:spPr/>
        <p:txBody>
          <a:bodyPr>
            <a:normAutofit lnSpcReduction="10000"/>
          </a:bodyPr>
          <a:lstStyle/>
          <a:p>
            <a:r>
              <a:rPr lang="en-US" sz="2400" dirty="0"/>
              <a:t>Amazon EBS features</a:t>
            </a:r>
          </a:p>
        </p:txBody>
      </p:sp>
      <p:sp>
        <p:nvSpPr>
          <p:cNvPr id="4" name="Title 1">
            <a:extLst>
              <a:ext uri="{FF2B5EF4-FFF2-40B4-BE49-F238E27FC236}">
                <a16:creationId xmlns:a16="http://schemas.microsoft.com/office/drawing/2014/main" id="{2F7B2221-1D4D-382F-4DCC-0A05AF048751}"/>
              </a:ext>
            </a:extLst>
          </p:cNvPr>
          <p:cNvSpPr txBox="1">
            <a:spLocks/>
          </p:cNvSpPr>
          <p:nvPr/>
        </p:nvSpPr>
        <p:spPr>
          <a:xfrm>
            <a:off x="38862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3">
            <a:extLst>
              <a:ext uri="{FF2B5EF4-FFF2-40B4-BE49-F238E27FC236}">
                <a16:creationId xmlns:a16="http://schemas.microsoft.com/office/drawing/2014/main" id="{3B2399B3-3CDC-8E06-CD97-4CA88B742ABF}"/>
              </a:ext>
            </a:extLst>
          </p:cNvPr>
          <p:cNvSpPr txBox="1">
            <a:spLocks/>
          </p:cNvSpPr>
          <p:nvPr/>
        </p:nvSpPr>
        <p:spPr>
          <a:xfrm>
            <a:off x="2667000" y="1905000"/>
            <a:ext cx="7696200" cy="4648788"/>
          </a:xfrm>
          <a:prstGeom prst="rect">
            <a:avLst/>
          </a:prstGeom>
        </p:spPr>
        <p:txBody>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1200"/>
              </a:spcBef>
            </a:pPr>
            <a:r>
              <a:rPr lang="en-US" dirty="0"/>
              <a:t>Snapshots </a:t>
            </a:r>
          </a:p>
          <a:p>
            <a:pPr lvl="1" algn="just">
              <a:spcBef>
                <a:spcPts val="1200"/>
              </a:spcBef>
            </a:pPr>
            <a:r>
              <a:rPr lang="en-US" dirty="0"/>
              <a:t>Point-in-time snapshots</a:t>
            </a:r>
          </a:p>
          <a:p>
            <a:pPr lvl="1" algn="just">
              <a:spcBef>
                <a:spcPts val="1200"/>
              </a:spcBef>
            </a:pPr>
            <a:r>
              <a:rPr lang="en-US" dirty="0"/>
              <a:t>Recreate a new volume at any time</a:t>
            </a:r>
          </a:p>
          <a:p>
            <a:pPr algn="just">
              <a:spcBef>
                <a:spcPts val="1200"/>
              </a:spcBef>
            </a:pPr>
            <a:r>
              <a:rPr lang="en-US" dirty="0"/>
              <a:t>Encryption </a:t>
            </a:r>
          </a:p>
          <a:p>
            <a:pPr lvl="1" algn="just">
              <a:spcBef>
                <a:spcPts val="1200"/>
              </a:spcBef>
            </a:pPr>
            <a:r>
              <a:rPr lang="en-US" dirty="0"/>
              <a:t>Encrypted Amazon EBS volumes</a:t>
            </a:r>
          </a:p>
          <a:p>
            <a:pPr lvl="1" algn="just">
              <a:spcBef>
                <a:spcPts val="1200"/>
              </a:spcBef>
            </a:pPr>
            <a:r>
              <a:rPr lang="en-US" dirty="0"/>
              <a:t>No additional cost</a:t>
            </a:r>
          </a:p>
          <a:p>
            <a:pPr algn="just">
              <a:spcBef>
                <a:spcPts val="1200"/>
              </a:spcBef>
            </a:pPr>
            <a:r>
              <a:rPr lang="en-US" dirty="0"/>
              <a:t>Elasticity </a:t>
            </a:r>
          </a:p>
          <a:p>
            <a:pPr lvl="1" algn="just">
              <a:spcBef>
                <a:spcPts val="1200"/>
              </a:spcBef>
            </a:pPr>
            <a:r>
              <a:rPr lang="en-US" dirty="0"/>
              <a:t>Increase capacity</a:t>
            </a:r>
          </a:p>
          <a:p>
            <a:pPr lvl="1" algn="just">
              <a:spcBef>
                <a:spcPts val="1200"/>
              </a:spcBef>
            </a:pPr>
            <a:r>
              <a:rPr lang="en-US" dirty="0"/>
              <a:t>Change to different types</a:t>
            </a:r>
          </a:p>
        </p:txBody>
      </p:sp>
    </p:spTree>
    <p:extLst>
      <p:ext uri="{BB962C8B-B14F-4D97-AF65-F5344CB8AC3E}">
        <p14:creationId xmlns:p14="http://schemas.microsoft.com/office/powerpoint/2010/main" val="378986474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6E9C7-1839-C02F-0CEA-B86EBF007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4FF9E-3343-469C-243F-744B75C8573A}"/>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9DE7D972-06C7-E954-B757-917144F18B5E}"/>
              </a:ext>
            </a:extLst>
          </p:cNvPr>
          <p:cNvSpPr>
            <a:spLocks noGrp="1"/>
          </p:cNvSpPr>
          <p:nvPr>
            <p:ph type="body" sz="quarter" idx="10"/>
          </p:nvPr>
        </p:nvSpPr>
        <p:spPr/>
        <p:txBody>
          <a:bodyPr>
            <a:normAutofit lnSpcReduction="10000"/>
          </a:bodyPr>
          <a:lstStyle/>
          <a:p>
            <a:r>
              <a:rPr lang="en-US" sz="2400" dirty="0"/>
              <a:t>Amazon EBS: Volumes, IOPS</a:t>
            </a:r>
          </a:p>
        </p:txBody>
      </p:sp>
      <p:sp>
        <p:nvSpPr>
          <p:cNvPr id="4" name="Title 1">
            <a:extLst>
              <a:ext uri="{FF2B5EF4-FFF2-40B4-BE49-F238E27FC236}">
                <a16:creationId xmlns:a16="http://schemas.microsoft.com/office/drawing/2014/main" id="{C4E8A4F8-45C2-47C6-CE06-E83DD8389AD5}"/>
              </a:ext>
            </a:extLst>
          </p:cNvPr>
          <p:cNvSpPr txBox="1">
            <a:spLocks/>
          </p:cNvSpPr>
          <p:nvPr/>
        </p:nvSpPr>
        <p:spPr>
          <a:xfrm>
            <a:off x="40386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29A2B6C3-30F4-7D99-2F89-2C4915396378}"/>
              </a:ext>
            </a:extLst>
          </p:cNvPr>
          <p:cNvSpPr txBox="1">
            <a:spLocks/>
          </p:cNvSpPr>
          <p:nvPr/>
        </p:nvSpPr>
        <p:spPr>
          <a:xfrm>
            <a:off x="2514600" y="1524000"/>
            <a:ext cx="7848600" cy="5226306"/>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just">
              <a:spcBef>
                <a:spcPts val="0"/>
              </a:spcBef>
              <a:spcAft>
                <a:spcPts val="600"/>
              </a:spcAft>
              <a:buFont typeface="+mj-lt"/>
              <a:buAutoNum type="arabicPeriod"/>
            </a:pPr>
            <a:r>
              <a:rPr lang="en-US" sz="1800" b="1" dirty="0"/>
              <a:t>Volumes </a:t>
            </a:r>
          </a:p>
          <a:p>
            <a:pPr marL="917575" lvl="1" indent="-460375" algn="just">
              <a:spcBef>
                <a:spcPts val="0"/>
              </a:spcBef>
              <a:spcAft>
                <a:spcPts val="600"/>
              </a:spcAft>
            </a:pPr>
            <a:r>
              <a:rPr lang="en-US" sz="1800" dirty="0"/>
              <a:t>Amazon EBS volumes persist independently from the instance.</a:t>
            </a:r>
          </a:p>
          <a:p>
            <a:pPr marL="917575" lvl="1" indent="-460375" algn="just">
              <a:spcBef>
                <a:spcPts val="0"/>
              </a:spcBef>
              <a:spcAft>
                <a:spcPts val="600"/>
              </a:spcAft>
            </a:pPr>
            <a:r>
              <a:rPr lang="en-US" sz="1800" dirty="0"/>
              <a:t>All volume types are charged by the amount that is provisioned per month.</a:t>
            </a:r>
          </a:p>
          <a:p>
            <a:pPr marL="514350" indent="-514350" algn="just">
              <a:spcBef>
                <a:spcPts val="0"/>
              </a:spcBef>
              <a:spcAft>
                <a:spcPts val="600"/>
              </a:spcAft>
              <a:buFont typeface="+mj-lt"/>
              <a:buAutoNum type="arabicPeriod"/>
            </a:pPr>
            <a:r>
              <a:rPr lang="en-US" sz="1800" b="1" dirty="0"/>
              <a:t>IOPS </a:t>
            </a:r>
          </a:p>
          <a:p>
            <a:pPr marL="922338" lvl="1" indent="-465138" algn="just">
              <a:spcBef>
                <a:spcPts val="0"/>
              </a:spcBef>
              <a:spcAft>
                <a:spcPts val="600"/>
              </a:spcAft>
            </a:pPr>
            <a:r>
              <a:rPr lang="en-US" sz="1800" dirty="0"/>
              <a:t>General Purpose SSD:</a:t>
            </a:r>
          </a:p>
          <a:p>
            <a:pPr marL="1384300" lvl="2" indent="-469900" algn="just">
              <a:spcBef>
                <a:spcPts val="0"/>
              </a:spcBef>
              <a:spcAft>
                <a:spcPts val="600"/>
              </a:spcAft>
            </a:pPr>
            <a:r>
              <a:rPr lang="en-US" sz="1800" dirty="0"/>
              <a:t>Charged by the amount that you provision in GB per month until storage is released.</a:t>
            </a:r>
          </a:p>
          <a:p>
            <a:pPr marL="922338" lvl="1" indent="-465138" algn="just">
              <a:spcBef>
                <a:spcPts val="0"/>
              </a:spcBef>
              <a:spcAft>
                <a:spcPts val="600"/>
              </a:spcAft>
            </a:pPr>
            <a:r>
              <a:rPr lang="en-US" sz="1800" dirty="0"/>
              <a:t>Magnetic:</a:t>
            </a:r>
          </a:p>
          <a:p>
            <a:pPr marL="1384300" lvl="2" indent="-469900" algn="just">
              <a:spcBef>
                <a:spcPts val="0"/>
              </a:spcBef>
              <a:spcAft>
                <a:spcPts val="600"/>
              </a:spcAft>
            </a:pPr>
            <a:r>
              <a:rPr lang="en-US" sz="1800" dirty="0"/>
              <a:t>Charged by the number of requests to the volume.</a:t>
            </a:r>
          </a:p>
          <a:p>
            <a:pPr marL="922338" lvl="1" indent="-465138" algn="just">
              <a:spcBef>
                <a:spcPts val="0"/>
              </a:spcBef>
              <a:spcAft>
                <a:spcPts val="600"/>
              </a:spcAft>
            </a:pPr>
            <a:r>
              <a:rPr lang="en-US" sz="1800" dirty="0"/>
              <a:t>Provisioned IOPS SSD:</a:t>
            </a:r>
          </a:p>
          <a:p>
            <a:pPr marL="1384300" lvl="2" indent="-469900" algn="just">
              <a:spcBef>
                <a:spcPts val="0"/>
              </a:spcBef>
              <a:spcAft>
                <a:spcPts val="600"/>
              </a:spcAft>
            </a:pPr>
            <a:r>
              <a:rPr lang="en-US" sz="1800" dirty="0"/>
              <a:t>Charged by the amount that you provision in IOPS </a:t>
            </a:r>
          </a:p>
          <a:p>
            <a:pPr marL="914400" lvl="2" indent="0" algn="just">
              <a:spcBef>
                <a:spcPts val="0"/>
              </a:spcBef>
              <a:spcAft>
                <a:spcPts val="600"/>
              </a:spcAft>
              <a:buNone/>
            </a:pPr>
            <a:r>
              <a:rPr lang="en-US" sz="1800" dirty="0"/>
              <a:t>        (multiplied by the percentage of days that you provision </a:t>
            </a:r>
          </a:p>
          <a:p>
            <a:pPr marL="914400" lvl="2" indent="0" algn="just">
              <a:spcBef>
                <a:spcPts val="0"/>
              </a:spcBef>
              <a:spcAft>
                <a:spcPts val="600"/>
              </a:spcAft>
              <a:buNone/>
            </a:pPr>
            <a:r>
              <a:rPr lang="en-US" sz="1800" dirty="0"/>
              <a:t>        for the month).</a:t>
            </a:r>
          </a:p>
        </p:txBody>
      </p:sp>
    </p:spTree>
    <p:extLst>
      <p:ext uri="{BB962C8B-B14F-4D97-AF65-F5344CB8AC3E}">
        <p14:creationId xmlns:p14="http://schemas.microsoft.com/office/powerpoint/2010/main" val="30640796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2" end="2"/>
                                            </p:txEl>
                                          </p:spTgt>
                                        </p:tgtEl>
                                        <p:attrNameLst>
                                          <p:attrName>style.color</p:attrName>
                                        </p:attrNameLst>
                                      </p:cBhvr>
                                      <p:to>
                                        <p:clrVal>
                                          <a:schemeClr val="accent2"/>
                                        </p:clrVal>
                                      </p:to>
                                    </p:set>
                                    <p:set>
                                      <p:cBhvr>
                                        <p:cTn id="7" dur="500" fill="hold"/>
                                        <p:tgtEl>
                                          <p:spTgt spid="5">
                                            <p:txEl>
                                              <p:pRg st="2" end="2"/>
                                            </p:txEl>
                                          </p:spTgt>
                                        </p:tgtEl>
                                        <p:attrNameLst>
                                          <p:attrName>fillcolor</p:attrName>
                                        </p:attrNameLst>
                                      </p:cBhvr>
                                      <p:to>
                                        <p:clrVal>
                                          <a:schemeClr val="accent2"/>
                                        </p:clrVal>
                                      </p:to>
                                    </p:set>
                                    <p:set>
                                      <p:cBhvr>
                                        <p:cTn id="8" dur="500" fill="hold"/>
                                        <p:tgtEl>
                                          <p:spTgt spid="5">
                                            <p:txEl>
                                              <p:pRg st="2" end="2"/>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3" end="3"/>
                                            </p:txEl>
                                          </p:spTgt>
                                        </p:tgtEl>
                                        <p:attrNameLst>
                                          <p:attrName>style.color</p:attrName>
                                        </p:attrNameLst>
                                      </p:cBhvr>
                                      <p:to>
                                        <p:clrVal>
                                          <a:schemeClr val="accent2"/>
                                        </p:clrVal>
                                      </p:to>
                                    </p:set>
                                    <p:set>
                                      <p:cBhvr>
                                        <p:cTn id="13" dur="500" fill="hold"/>
                                        <p:tgtEl>
                                          <p:spTgt spid="5">
                                            <p:txEl>
                                              <p:pRg st="3" end="3"/>
                                            </p:txEl>
                                          </p:spTgt>
                                        </p:tgtEl>
                                        <p:attrNameLst>
                                          <p:attrName>fillcolor</p:attrName>
                                        </p:attrNameLst>
                                      </p:cBhvr>
                                      <p:to>
                                        <p:clrVal>
                                          <a:schemeClr val="accent2"/>
                                        </p:clrVal>
                                      </p:to>
                                    </p:set>
                                    <p:set>
                                      <p:cBhvr>
                                        <p:cTn id="14" dur="500" fill="hold"/>
                                        <p:tgtEl>
                                          <p:spTgt spid="5">
                                            <p:txEl>
                                              <p:pRg st="3" end="3"/>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4" end="4"/>
                                            </p:txEl>
                                          </p:spTgt>
                                        </p:tgtEl>
                                        <p:attrNameLst>
                                          <p:attrName>style.color</p:attrName>
                                        </p:attrNameLst>
                                      </p:cBhvr>
                                      <p:to>
                                        <p:clrVal>
                                          <a:schemeClr val="accent2"/>
                                        </p:clrVal>
                                      </p:to>
                                    </p:set>
                                    <p:set>
                                      <p:cBhvr>
                                        <p:cTn id="19" dur="500" fill="hold"/>
                                        <p:tgtEl>
                                          <p:spTgt spid="5">
                                            <p:txEl>
                                              <p:pRg st="4" end="4"/>
                                            </p:txEl>
                                          </p:spTgt>
                                        </p:tgtEl>
                                        <p:attrNameLst>
                                          <p:attrName>fillcolor</p:attrName>
                                        </p:attrNameLst>
                                      </p:cBhvr>
                                      <p:to>
                                        <p:clrVal>
                                          <a:schemeClr val="accent2"/>
                                        </p:clrVal>
                                      </p:to>
                                    </p:set>
                                    <p:set>
                                      <p:cBhvr>
                                        <p:cTn id="20" dur="500" fill="hold"/>
                                        <p:tgtEl>
                                          <p:spTgt spid="5">
                                            <p:txEl>
                                              <p:pRg st="4" end="4"/>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5" end="5"/>
                                            </p:txEl>
                                          </p:spTgt>
                                        </p:tgtEl>
                                        <p:attrNameLst>
                                          <p:attrName>style.color</p:attrName>
                                        </p:attrNameLst>
                                      </p:cBhvr>
                                      <p:to>
                                        <p:clrVal>
                                          <a:schemeClr val="accent2"/>
                                        </p:clrVal>
                                      </p:to>
                                    </p:set>
                                    <p:set>
                                      <p:cBhvr>
                                        <p:cTn id="25" dur="500" fill="hold"/>
                                        <p:tgtEl>
                                          <p:spTgt spid="5">
                                            <p:txEl>
                                              <p:pRg st="5" end="5"/>
                                            </p:txEl>
                                          </p:spTgt>
                                        </p:tgtEl>
                                        <p:attrNameLst>
                                          <p:attrName>fillcolor</p:attrName>
                                        </p:attrNameLst>
                                      </p:cBhvr>
                                      <p:to>
                                        <p:clrVal>
                                          <a:schemeClr val="accent2"/>
                                        </p:clrVal>
                                      </p:to>
                                    </p:set>
                                    <p:set>
                                      <p:cBhvr>
                                        <p:cTn id="26" dur="500" fill="hold"/>
                                        <p:tgtEl>
                                          <p:spTgt spid="5">
                                            <p:txEl>
                                              <p:pRg st="5" end="5"/>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6" end="6"/>
                                            </p:txEl>
                                          </p:spTgt>
                                        </p:tgtEl>
                                        <p:attrNameLst>
                                          <p:attrName>style.color</p:attrName>
                                        </p:attrNameLst>
                                      </p:cBhvr>
                                      <p:to>
                                        <p:clrVal>
                                          <a:schemeClr val="accent2"/>
                                        </p:clrVal>
                                      </p:to>
                                    </p:set>
                                    <p:set>
                                      <p:cBhvr>
                                        <p:cTn id="31" dur="500" fill="hold"/>
                                        <p:tgtEl>
                                          <p:spTgt spid="5">
                                            <p:txEl>
                                              <p:pRg st="6" end="6"/>
                                            </p:txEl>
                                          </p:spTgt>
                                        </p:tgtEl>
                                        <p:attrNameLst>
                                          <p:attrName>fillcolor</p:attrName>
                                        </p:attrNameLst>
                                      </p:cBhvr>
                                      <p:to>
                                        <p:clrVal>
                                          <a:schemeClr val="accent2"/>
                                        </p:clrVal>
                                      </p:to>
                                    </p:set>
                                    <p:set>
                                      <p:cBhvr>
                                        <p:cTn id="32" dur="500" fill="hold"/>
                                        <p:tgtEl>
                                          <p:spTgt spid="5">
                                            <p:txEl>
                                              <p:pRg st="6" end="6"/>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7" end="7"/>
                                            </p:txEl>
                                          </p:spTgt>
                                        </p:tgtEl>
                                        <p:attrNameLst>
                                          <p:attrName>style.color</p:attrName>
                                        </p:attrNameLst>
                                      </p:cBhvr>
                                      <p:to>
                                        <p:clrVal>
                                          <a:schemeClr val="accent2"/>
                                        </p:clrVal>
                                      </p:to>
                                    </p:set>
                                    <p:set>
                                      <p:cBhvr>
                                        <p:cTn id="37" dur="500" fill="hold"/>
                                        <p:tgtEl>
                                          <p:spTgt spid="5">
                                            <p:txEl>
                                              <p:pRg st="7" end="7"/>
                                            </p:txEl>
                                          </p:spTgt>
                                        </p:tgtEl>
                                        <p:attrNameLst>
                                          <p:attrName>fillcolor</p:attrName>
                                        </p:attrNameLst>
                                      </p:cBhvr>
                                      <p:to>
                                        <p:clrVal>
                                          <a:schemeClr val="accent2"/>
                                        </p:clrVal>
                                      </p:to>
                                    </p:set>
                                    <p:set>
                                      <p:cBhvr>
                                        <p:cTn id="38" dur="500" fill="hold"/>
                                        <p:tgtEl>
                                          <p:spTgt spid="5">
                                            <p:txEl>
                                              <p:pRg st="7" end="7"/>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8" end="8"/>
                                            </p:txEl>
                                          </p:spTgt>
                                        </p:tgtEl>
                                        <p:attrNameLst>
                                          <p:attrName>style.color</p:attrName>
                                        </p:attrNameLst>
                                      </p:cBhvr>
                                      <p:to>
                                        <p:clrVal>
                                          <a:schemeClr val="accent2"/>
                                        </p:clrVal>
                                      </p:to>
                                    </p:set>
                                    <p:set>
                                      <p:cBhvr>
                                        <p:cTn id="43" dur="500" fill="hold"/>
                                        <p:tgtEl>
                                          <p:spTgt spid="5">
                                            <p:txEl>
                                              <p:pRg st="8" end="8"/>
                                            </p:txEl>
                                          </p:spTgt>
                                        </p:tgtEl>
                                        <p:attrNameLst>
                                          <p:attrName>fillcolor</p:attrName>
                                        </p:attrNameLst>
                                      </p:cBhvr>
                                      <p:to>
                                        <p:clrVal>
                                          <a:schemeClr val="accent2"/>
                                        </p:clrVal>
                                      </p:to>
                                    </p:set>
                                    <p:set>
                                      <p:cBhvr>
                                        <p:cTn id="44" dur="500" fill="hold"/>
                                        <p:tgtEl>
                                          <p:spTgt spid="5">
                                            <p:txEl>
                                              <p:pRg st="8" end="8"/>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5">
                                            <p:txEl>
                                              <p:pRg st="9" end="9"/>
                                            </p:txEl>
                                          </p:spTgt>
                                        </p:tgtEl>
                                        <p:attrNameLst>
                                          <p:attrName>style.color</p:attrName>
                                        </p:attrNameLst>
                                      </p:cBhvr>
                                      <p:to>
                                        <p:clrVal>
                                          <a:schemeClr val="accent2"/>
                                        </p:clrVal>
                                      </p:to>
                                    </p:set>
                                    <p:set>
                                      <p:cBhvr>
                                        <p:cTn id="49" dur="500" fill="hold"/>
                                        <p:tgtEl>
                                          <p:spTgt spid="5">
                                            <p:txEl>
                                              <p:pRg st="9" end="9"/>
                                            </p:txEl>
                                          </p:spTgt>
                                        </p:tgtEl>
                                        <p:attrNameLst>
                                          <p:attrName>fillcolor</p:attrName>
                                        </p:attrNameLst>
                                      </p:cBhvr>
                                      <p:to>
                                        <p:clrVal>
                                          <a:schemeClr val="accent2"/>
                                        </p:clrVal>
                                      </p:to>
                                    </p:set>
                                    <p:set>
                                      <p:cBhvr>
                                        <p:cTn id="50" dur="500" fill="hold"/>
                                        <p:tgtEl>
                                          <p:spTgt spid="5">
                                            <p:txEl>
                                              <p:pRg st="9" end="9"/>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5">
                                            <p:txEl>
                                              <p:pRg st="10" end="10"/>
                                            </p:txEl>
                                          </p:spTgt>
                                        </p:tgtEl>
                                        <p:attrNameLst>
                                          <p:attrName>style.color</p:attrName>
                                        </p:attrNameLst>
                                      </p:cBhvr>
                                      <p:to>
                                        <p:clrVal>
                                          <a:schemeClr val="accent2"/>
                                        </p:clrVal>
                                      </p:to>
                                    </p:set>
                                    <p:set>
                                      <p:cBhvr>
                                        <p:cTn id="55" dur="500" fill="hold"/>
                                        <p:tgtEl>
                                          <p:spTgt spid="5">
                                            <p:txEl>
                                              <p:pRg st="10" end="10"/>
                                            </p:txEl>
                                          </p:spTgt>
                                        </p:tgtEl>
                                        <p:attrNameLst>
                                          <p:attrName>fillcolor</p:attrName>
                                        </p:attrNameLst>
                                      </p:cBhvr>
                                      <p:to>
                                        <p:clrVal>
                                          <a:schemeClr val="accent2"/>
                                        </p:clrVal>
                                      </p:to>
                                    </p:set>
                                    <p:set>
                                      <p:cBhvr>
                                        <p:cTn id="56" dur="500" fill="hold"/>
                                        <p:tgtEl>
                                          <p:spTgt spid="5">
                                            <p:txEl>
                                              <p:pRg st="10" end="10"/>
                                            </p:txEl>
                                          </p:spTgt>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nodeType="clickEffect">
                                  <p:stCondLst>
                                    <p:cond delay="0"/>
                                  </p:stCondLst>
                                  <p:iterate type="lt">
                                    <p:tmPct val="4000"/>
                                  </p:iterate>
                                  <p:childTnLst>
                                    <p:set>
                                      <p:cBhvr override="childStyle">
                                        <p:cTn id="60" dur="500" fill="hold"/>
                                        <p:tgtEl>
                                          <p:spTgt spid="5">
                                            <p:txEl>
                                              <p:pRg st="11" end="11"/>
                                            </p:txEl>
                                          </p:spTgt>
                                        </p:tgtEl>
                                        <p:attrNameLst>
                                          <p:attrName>style.color</p:attrName>
                                        </p:attrNameLst>
                                      </p:cBhvr>
                                      <p:to>
                                        <p:clrVal>
                                          <a:schemeClr val="accent2"/>
                                        </p:clrVal>
                                      </p:to>
                                    </p:set>
                                    <p:set>
                                      <p:cBhvr>
                                        <p:cTn id="61" dur="500" fill="hold"/>
                                        <p:tgtEl>
                                          <p:spTgt spid="5">
                                            <p:txEl>
                                              <p:pRg st="11" end="11"/>
                                            </p:txEl>
                                          </p:spTgt>
                                        </p:tgtEl>
                                        <p:attrNameLst>
                                          <p:attrName>fillcolor</p:attrName>
                                        </p:attrNameLst>
                                      </p:cBhvr>
                                      <p:to>
                                        <p:clrVal>
                                          <a:schemeClr val="accent2"/>
                                        </p:clrVal>
                                      </p:to>
                                    </p:set>
                                    <p:set>
                                      <p:cBhvr>
                                        <p:cTn id="62" dur="500" fill="hold"/>
                                        <p:tgtEl>
                                          <p:spTgt spid="5">
                                            <p:txEl>
                                              <p:pRg st="11" end="11"/>
                                            </p:txEl>
                                          </p:spTgt>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16" presetClass="emph" presetSubtype="0" fill="hold" nodeType="clickEffect">
                                  <p:stCondLst>
                                    <p:cond delay="0"/>
                                  </p:stCondLst>
                                  <p:iterate type="lt">
                                    <p:tmPct val="4000"/>
                                  </p:iterate>
                                  <p:childTnLst>
                                    <p:set>
                                      <p:cBhvr override="childStyle">
                                        <p:cTn id="66" dur="500" fill="hold"/>
                                        <p:tgtEl>
                                          <p:spTgt spid="5">
                                            <p:txEl>
                                              <p:pRg st="0" end="0"/>
                                            </p:txEl>
                                          </p:spTgt>
                                        </p:tgtEl>
                                        <p:attrNameLst>
                                          <p:attrName>style.color</p:attrName>
                                        </p:attrNameLst>
                                      </p:cBhvr>
                                      <p:to>
                                        <p:clrVal>
                                          <a:schemeClr val="accent2"/>
                                        </p:clrVal>
                                      </p:to>
                                    </p:set>
                                    <p:set>
                                      <p:cBhvr>
                                        <p:cTn id="67" dur="500" fill="hold"/>
                                        <p:tgtEl>
                                          <p:spTgt spid="5">
                                            <p:txEl>
                                              <p:pRg st="0" end="0"/>
                                            </p:txEl>
                                          </p:spTgt>
                                        </p:tgtEl>
                                        <p:attrNameLst>
                                          <p:attrName>fillcolor</p:attrName>
                                        </p:attrNameLst>
                                      </p:cBhvr>
                                      <p:to>
                                        <p:clrVal>
                                          <a:schemeClr val="accent2"/>
                                        </p:clrVal>
                                      </p:to>
                                    </p:set>
                                    <p:set>
                                      <p:cBhvr>
                                        <p:cTn id="68" dur="500" fill="hold"/>
                                        <p:tgtEl>
                                          <p:spTgt spid="5">
                                            <p:txEl>
                                              <p:pRg st="0" end="0"/>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16" presetClass="emph" presetSubtype="0" fill="hold" nodeType="clickEffect">
                                  <p:stCondLst>
                                    <p:cond delay="0"/>
                                  </p:stCondLst>
                                  <p:iterate type="lt">
                                    <p:tmPct val="4000"/>
                                  </p:iterate>
                                  <p:childTnLst>
                                    <p:set>
                                      <p:cBhvr override="childStyle">
                                        <p:cTn id="72" dur="500" fill="hold"/>
                                        <p:tgtEl>
                                          <p:spTgt spid="5">
                                            <p:txEl>
                                              <p:pRg st="1" end="1"/>
                                            </p:txEl>
                                          </p:spTgt>
                                        </p:tgtEl>
                                        <p:attrNameLst>
                                          <p:attrName>style.color</p:attrName>
                                        </p:attrNameLst>
                                      </p:cBhvr>
                                      <p:to>
                                        <p:clrVal>
                                          <a:schemeClr val="accent2"/>
                                        </p:clrVal>
                                      </p:to>
                                    </p:set>
                                    <p:set>
                                      <p:cBhvr>
                                        <p:cTn id="73" dur="500" fill="hold"/>
                                        <p:tgtEl>
                                          <p:spTgt spid="5">
                                            <p:txEl>
                                              <p:pRg st="1" end="1"/>
                                            </p:txEl>
                                          </p:spTgt>
                                        </p:tgtEl>
                                        <p:attrNameLst>
                                          <p:attrName>fillcolor</p:attrName>
                                        </p:attrNameLst>
                                      </p:cBhvr>
                                      <p:to>
                                        <p:clrVal>
                                          <a:schemeClr val="accent2"/>
                                        </p:clrVal>
                                      </p:to>
                                    </p:set>
                                    <p:set>
                                      <p:cBhvr>
                                        <p:cTn id="74" dur="500" fill="hold"/>
                                        <p:tgtEl>
                                          <p:spTgt spid="5">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22AF7-73C8-C89D-F842-C6BC22B06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E24CF-2EFF-2501-BF5D-DE209BC7745B}"/>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Block Store (Amazon EBS)</a:t>
            </a:r>
            <a:endParaRPr lang="en-US" sz="2400" dirty="0"/>
          </a:p>
        </p:txBody>
      </p:sp>
      <p:sp>
        <p:nvSpPr>
          <p:cNvPr id="3" name="Text Placeholder 2">
            <a:extLst>
              <a:ext uri="{FF2B5EF4-FFF2-40B4-BE49-F238E27FC236}">
                <a16:creationId xmlns:a16="http://schemas.microsoft.com/office/drawing/2014/main" id="{D07508F5-B885-4266-B0E7-620316F72A2A}"/>
              </a:ext>
            </a:extLst>
          </p:cNvPr>
          <p:cNvSpPr>
            <a:spLocks noGrp="1"/>
          </p:cNvSpPr>
          <p:nvPr>
            <p:ph type="body" sz="quarter" idx="10"/>
          </p:nvPr>
        </p:nvSpPr>
        <p:spPr/>
        <p:txBody>
          <a:bodyPr>
            <a:normAutofit fontScale="62500" lnSpcReduction="20000"/>
          </a:bodyPr>
          <a:lstStyle/>
          <a:p>
            <a:r>
              <a:rPr lang="en-US" sz="2400" dirty="0"/>
              <a:t>Amazon EBS: Snapshots and data transfer</a:t>
            </a:r>
          </a:p>
        </p:txBody>
      </p:sp>
      <p:sp>
        <p:nvSpPr>
          <p:cNvPr id="4" name="Title 1">
            <a:extLst>
              <a:ext uri="{FF2B5EF4-FFF2-40B4-BE49-F238E27FC236}">
                <a16:creationId xmlns:a16="http://schemas.microsoft.com/office/drawing/2014/main" id="{F1F20F0A-46BA-DDF1-A152-288A40332B11}"/>
              </a:ext>
            </a:extLst>
          </p:cNvPr>
          <p:cNvSpPr txBox="1">
            <a:spLocks/>
          </p:cNvSpPr>
          <p:nvPr/>
        </p:nvSpPr>
        <p:spPr>
          <a:xfrm>
            <a:off x="4038600" y="533400"/>
            <a:ext cx="706755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BAE50DC6-2524-E3A1-889E-8940D6654175}"/>
              </a:ext>
            </a:extLst>
          </p:cNvPr>
          <p:cNvSpPr txBox="1">
            <a:spLocks/>
          </p:cNvSpPr>
          <p:nvPr/>
        </p:nvSpPr>
        <p:spPr>
          <a:xfrm>
            <a:off x="2514600" y="2057400"/>
            <a:ext cx="7924800" cy="4420188"/>
          </a:xfrm>
          <a:prstGeom prst="rect">
            <a:avLst/>
          </a:prstGeom>
        </p:spPr>
        <p:txBody>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just">
              <a:spcBef>
                <a:spcPts val="1200"/>
              </a:spcBef>
              <a:buFont typeface="+mj-lt"/>
              <a:buAutoNum type="arabicPeriod" startAt="3"/>
            </a:pPr>
            <a:r>
              <a:rPr lang="en-US" b="1" dirty="0"/>
              <a:t>Snapshots </a:t>
            </a:r>
          </a:p>
          <a:p>
            <a:pPr marL="922338" lvl="1" indent="-465138" algn="just">
              <a:spcBef>
                <a:spcPts val="1200"/>
              </a:spcBef>
            </a:pPr>
            <a:r>
              <a:rPr lang="en-US" dirty="0"/>
              <a:t>Added cost of Amazon EBS snapshots to </a:t>
            </a:r>
          </a:p>
          <a:p>
            <a:pPr marL="457200" lvl="1" indent="0" algn="just">
              <a:spcBef>
                <a:spcPts val="1200"/>
              </a:spcBef>
              <a:buNone/>
            </a:pPr>
            <a:r>
              <a:rPr lang="en-US" dirty="0"/>
              <a:t>       Amazon S3 is per GB-month of data stored.</a:t>
            </a:r>
          </a:p>
          <a:p>
            <a:pPr marL="514350" indent="-514350" algn="just">
              <a:spcBef>
                <a:spcPts val="1200"/>
              </a:spcBef>
              <a:buFont typeface="+mj-lt"/>
              <a:buAutoNum type="arabicPeriod" startAt="4"/>
            </a:pPr>
            <a:r>
              <a:rPr lang="en-US" b="1" dirty="0"/>
              <a:t>Data transfer </a:t>
            </a:r>
          </a:p>
          <a:p>
            <a:pPr marL="922338" lvl="1" indent="-465138" algn="just">
              <a:spcBef>
                <a:spcPts val="1200"/>
              </a:spcBef>
            </a:pPr>
            <a:r>
              <a:rPr lang="en-US" dirty="0"/>
              <a:t>Inbound data transfer is free.</a:t>
            </a:r>
          </a:p>
          <a:p>
            <a:pPr marL="922338" lvl="1" indent="-465138" algn="just">
              <a:spcBef>
                <a:spcPts val="1200"/>
              </a:spcBef>
            </a:pPr>
            <a:r>
              <a:rPr lang="en-US" dirty="0"/>
              <a:t>Outbound data transfer across Regions incurs charges.</a:t>
            </a:r>
            <a:endParaRPr lang="en-US" b="1" dirty="0"/>
          </a:p>
        </p:txBody>
      </p:sp>
    </p:spTree>
    <p:extLst>
      <p:ext uri="{BB962C8B-B14F-4D97-AF65-F5344CB8AC3E}">
        <p14:creationId xmlns:p14="http://schemas.microsoft.com/office/powerpoint/2010/main" val="42101778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1" end="1"/>
                                            </p:txEl>
                                          </p:spTgt>
                                        </p:tgtEl>
                                        <p:attrNameLst>
                                          <p:attrName>style.color</p:attrName>
                                        </p:attrNameLst>
                                      </p:cBhvr>
                                      <p:to>
                                        <p:clrVal>
                                          <a:schemeClr val="accent2"/>
                                        </p:clrVal>
                                      </p:to>
                                    </p:set>
                                    <p:set>
                                      <p:cBhvr>
                                        <p:cTn id="7" dur="500" fill="hold"/>
                                        <p:tgtEl>
                                          <p:spTgt spid="5">
                                            <p:txEl>
                                              <p:pRg st="1" end="1"/>
                                            </p:txEl>
                                          </p:spTgt>
                                        </p:tgtEl>
                                        <p:attrNameLst>
                                          <p:attrName>fillcolor</p:attrName>
                                        </p:attrNameLst>
                                      </p:cBhvr>
                                      <p:to>
                                        <p:clrVal>
                                          <a:schemeClr val="accent2"/>
                                        </p:clrVal>
                                      </p:to>
                                    </p:set>
                                    <p:set>
                                      <p:cBhvr>
                                        <p:cTn id="8" dur="500" fill="hold"/>
                                        <p:tgtEl>
                                          <p:spTgt spid="5">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2" end="2"/>
                                            </p:txEl>
                                          </p:spTgt>
                                        </p:tgtEl>
                                        <p:attrNameLst>
                                          <p:attrName>style.color</p:attrName>
                                        </p:attrNameLst>
                                      </p:cBhvr>
                                      <p:to>
                                        <p:clrVal>
                                          <a:schemeClr val="accent2"/>
                                        </p:clrVal>
                                      </p:to>
                                    </p:set>
                                    <p:set>
                                      <p:cBhvr>
                                        <p:cTn id="13" dur="500" fill="hold"/>
                                        <p:tgtEl>
                                          <p:spTgt spid="5">
                                            <p:txEl>
                                              <p:pRg st="2" end="2"/>
                                            </p:txEl>
                                          </p:spTgt>
                                        </p:tgtEl>
                                        <p:attrNameLst>
                                          <p:attrName>fillcolor</p:attrName>
                                        </p:attrNameLst>
                                      </p:cBhvr>
                                      <p:to>
                                        <p:clrVal>
                                          <a:schemeClr val="accent2"/>
                                        </p:clrVal>
                                      </p:to>
                                    </p:set>
                                    <p:set>
                                      <p:cBhvr>
                                        <p:cTn id="14" dur="500" fill="hold"/>
                                        <p:tgtEl>
                                          <p:spTgt spid="5">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3" end="3"/>
                                            </p:txEl>
                                          </p:spTgt>
                                        </p:tgtEl>
                                        <p:attrNameLst>
                                          <p:attrName>style.color</p:attrName>
                                        </p:attrNameLst>
                                      </p:cBhvr>
                                      <p:to>
                                        <p:clrVal>
                                          <a:schemeClr val="accent2"/>
                                        </p:clrVal>
                                      </p:to>
                                    </p:set>
                                    <p:set>
                                      <p:cBhvr>
                                        <p:cTn id="19" dur="500" fill="hold"/>
                                        <p:tgtEl>
                                          <p:spTgt spid="5">
                                            <p:txEl>
                                              <p:pRg st="3" end="3"/>
                                            </p:txEl>
                                          </p:spTgt>
                                        </p:tgtEl>
                                        <p:attrNameLst>
                                          <p:attrName>fillcolor</p:attrName>
                                        </p:attrNameLst>
                                      </p:cBhvr>
                                      <p:to>
                                        <p:clrVal>
                                          <a:schemeClr val="accent2"/>
                                        </p:clrVal>
                                      </p:to>
                                    </p:set>
                                    <p:set>
                                      <p:cBhvr>
                                        <p:cTn id="20" dur="500" fill="hold"/>
                                        <p:tgtEl>
                                          <p:spTgt spid="5">
                                            <p:txEl>
                                              <p:pRg st="3" end="3"/>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4" end="4"/>
                                            </p:txEl>
                                          </p:spTgt>
                                        </p:tgtEl>
                                        <p:attrNameLst>
                                          <p:attrName>style.color</p:attrName>
                                        </p:attrNameLst>
                                      </p:cBhvr>
                                      <p:to>
                                        <p:clrVal>
                                          <a:schemeClr val="accent2"/>
                                        </p:clrVal>
                                      </p:to>
                                    </p:set>
                                    <p:set>
                                      <p:cBhvr>
                                        <p:cTn id="25" dur="500" fill="hold"/>
                                        <p:tgtEl>
                                          <p:spTgt spid="5">
                                            <p:txEl>
                                              <p:pRg st="4" end="4"/>
                                            </p:txEl>
                                          </p:spTgt>
                                        </p:tgtEl>
                                        <p:attrNameLst>
                                          <p:attrName>fillcolor</p:attrName>
                                        </p:attrNameLst>
                                      </p:cBhvr>
                                      <p:to>
                                        <p:clrVal>
                                          <a:schemeClr val="accent2"/>
                                        </p:clrVal>
                                      </p:to>
                                    </p:set>
                                    <p:set>
                                      <p:cBhvr>
                                        <p:cTn id="26" dur="500" fill="hold"/>
                                        <p:tgtEl>
                                          <p:spTgt spid="5">
                                            <p:txEl>
                                              <p:pRg st="4" end="4"/>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5" end="5"/>
                                            </p:txEl>
                                          </p:spTgt>
                                        </p:tgtEl>
                                        <p:attrNameLst>
                                          <p:attrName>style.color</p:attrName>
                                        </p:attrNameLst>
                                      </p:cBhvr>
                                      <p:to>
                                        <p:clrVal>
                                          <a:schemeClr val="accent2"/>
                                        </p:clrVal>
                                      </p:to>
                                    </p:set>
                                    <p:set>
                                      <p:cBhvr>
                                        <p:cTn id="31" dur="500" fill="hold"/>
                                        <p:tgtEl>
                                          <p:spTgt spid="5">
                                            <p:txEl>
                                              <p:pRg st="5" end="5"/>
                                            </p:txEl>
                                          </p:spTgt>
                                        </p:tgtEl>
                                        <p:attrNameLst>
                                          <p:attrName>fillcolor</p:attrName>
                                        </p:attrNameLst>
                                      </p:cBhvr>
                                      <p:to>
                                        <p:clrVal>
                                          <a:schemeClr val="accent2"/>
                                        </p:clrVal>
                                      </p:to>
                                    </p:set>
                                    <p:set>
                                      <p:cBhvr>
                                        <p:cTn id="32" dur="500" fill="hold"/>
                                        <p:tgtEl>
                                          <p:spTgt spid="5">
                                            <p:txEl>
                                              <p:pRg st="5" end="5"/>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0" end="0"/>
                                            </p:txEl>
                                          </p:spTgt>
                                        </p:tgtEl>
                                        <p:attrNameLst>
                                          <p:attrName>style.color</p:attrName>
                                        </p:attrNameLst>
                                      </p:cBhvr>
                                      <p:to>
                                        <p:clrVal>
                                          <a:schemeClr val="accent2"/>
                                        </p:clrVal>
                                      </p:to>
                                    </p:set>
                                    <p:set>
                                      <p:cBhvr>
                                        <p:cTn id="37" dur="500" fill="hold"/>
                                        <p:tgtEl>
                                          <p:spTgt spid="5">
                                            <p:txEl>
                                              <p:pRg st="0" end="0"/>
                                            </p:txEl>
                                          </p:spTgt>
                                        </p:tgtEl>
                                        <p:attrNameLst>
                                          <p:attrName>fillcolor</p:attrName>
                                        </p:attrNameLst>
                                      </p:cBhvr>
                                      <p:to>
                                        <p:clrVal>
                                          <a:schemeClr val="accent2"/>
                                        </p:clrVal>
                                      </p:to>
                                    </p:set>
                                    <p:set>
                                      <p:cBhvr>
                                        <p:cTn id="38" dur="500" fill="hold"/>
                                        <p:tgtEl>
                                          <p:spTgt spid="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3600" b="1" dirty="0"/>
              <a:t>Amazon Simple Storage Service (Amazon S3)</a:t>
            </a:r>
          </a:p>
        </p:txBody>
      </p:sp>
    </p:spTree>
    <p:extLst>
      <p:ext uri="{BB962C8B-B14F-4D97-AF65-F5344CB8AC3E}">
        <p14:creationId xmlns:p14="http://schemas.microsoft.com/office/powerpoint/2010/main" val="246831474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8905C-FABD-FBD4-3E81-C61FF7DB3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14478-7CA8-9A11-CA07-812EDC3B7035}"/>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4097170D-6B7D-B13D-EE5D-4CB241D33411}"/>
              </a:ext>
            </a:extLst>
          </p:cNvPr>
          <p:cNvSpPr>
            <a:spLocks noGrp="1"/>
          </p:cNvSpPr>
          <p:nvPr>
            <p:ph type="body" sz="quarter" idx="10"/>
          </p:nvPr>
        </p:nvSpPr>
        <p:spPr/>
        <p:txBody>
          <a:bodyPr>
            <a:normAutofit fontScale="62500" lnSpcReduction="20000"/>
          </a:bodyPr>
          <a:lstStyle/>
          <a:p>
            <a:r>
              <a:rPr lang="en-US" sz="2400" dirty="0"/>
              <a:t>Amazon Simple Storage Service (Amazon S3)</a:t>
            </a:r>
          </a:p>
        </p:txBody>
      </p:sp>
      <p:sp>
        <p:nvSpPr>
          <p:cNvPr id="4" name="Title 1">
            <a:extLst>
              <a:ext uri="{FF2B5EF4-FFF2-40B4-BE49-F238E27FC236}">
                <a16:creationId xmlns:a16="http://schemas.microsoft.com/office/drawing/2014/main" id="{C00F9A64-856A-7CFA-21A0-8D67DC2AF95C}"/>
              </a:ext>
            </a:extLst>
          </p:cNvPr>
          <p:cNvSpPr txBox="1">
            <a:spLocks/>
          </p:cNvSpPr>
          <p:nvPr/>
        </p:nvSpPr>
        <p:spPr>
          <a:xfrm>
            <a:off x="40386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Graphic 4">
            <a:extLst>
              <a:ext uri="{FF2B5EF4-FFF2-40B4-BE49-F238E27FC236}">
                <a16:creationId xmlns:a16="http://schemas.microsoft.com/office/drawing/2014/main" id="{8A61F6DC-8230-16A6-9EA4-024D359F7E2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5232" y="1676400"/>
            <a:ext cx="783968" cy="783968"/>
          </a:xfrm>
          <a:prstGeom prst="rect">
            <a:avLst/>
          </a:prstGeom>
        </p:spPr>
      </p:pic>
      <p:sp>
        <p:nvSpPr>
          <p:cNvPr id="6" name="TextBox 5">
            <a:extLst>
              <a:ext uri="{FF2B5EF4-FFF2-40B4-BE49-F238E27FC236}">
                <a16:creationId xmlns:a16="http://schemas.microsoft.com/office/drawing/2014/main" id="{83C46D6A-DADF-85CE-6096-FB964B8EF297}"/>
              </a:ext>
            </a:extLst>
          </p:cNvPr>
          <p:cNvSpPr txBox="1"/>
          <p:nvPr/>
        </p:nvSpPr>
        <p:spPr>
          <a:xfrm>
            <a:off x="8853876" y="2468882"/>
            <a:ext cx="1839525" cy="1631216"/>
          </a:xfrm>
          <a:prstGeom prst="rect">
            <a:avLst/>
          </a:prstGeom>
          <a:noFill/>
        </p:spPr>
        <p:txBody>
          <a:bodyPr wrap="square" rtlCol="0">
            <a:spAutoFit/>
          </a:bodyPr>
          <a:lstStyle/>
          <a:p>
            <a:pPr algn="ctr"/>
            <a:r>
              <a:rPr lang="en-US" sz="2000" dirty="0"/>
              <a:t>Amazon Simple Storage Service (Amazon S3)</a:t>
            </a:r>
          </a:p>
        </p:txBody>
      </p:sp>
      <p:sp>
        <p:nvSpPr>
          <p:cNvPr id="7" name="Content Placeholder 3">
            <a:extLst>
              <a:ext uri="{FF2B5EF4-FFF2-40B4-BE49-F238E27FC236}">
                <a16:creationId xmlns:a16="http://schemas.microsoft.com/office/drawing/2014/main" id="{40E088A9-7447-A0C9-BEDA-B1C9DCAD754B}"/>
              </a:ext>
            </a:extLst>
          </p:cNvPr>
          <p:cNvSpPr txBox="1">
            <a:spLocks/>
          </p:cNvSpPr>
          <p:nvPr/>
        </p:nvSpPr>
        <p:spPr>
          <a:xfrm>
            <a:off x="2590801" y="2257726"/>
            <a:ext cx="7848599" cy="3457274"/>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algn="just">
              <a:lnSpc>
                <a:spcPct val="100000"/>
              </a:lnSpc>
              <a:spcBef>
                <a:spcPts val="1200"/>
              </a:spcBef>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Data is stored as objects in buckets</a:t>
            </a:r>
          </a:p>
          <a:p>
            <a:pPr marL="457200" indent="-457200" algn="just">
              <a:lnSpc>
                <a:spcPct val="100000"/>
              </a:lnSpc>
              <a:spcBef>
                <a:spcPts val="1200"/>
              </a:spcBef>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Virtually unlimited storage</a:t>
            </a:r>
          </a:p>
          <a:p>
            <a:pPr marL="793343" lvl="1" indent="-457200" algn="just">
              <a:lnSpc>
                <a:spcPct val="100000"/>
              </a:lnSpc>
              <a:spcBef>
                <a:spcPts val="1200"/>
              </a:spcBef>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Single object is limited to 5 TB</a:t>
            </a:r>
          </a:p>
          <a:p>
            <a:pPr marL="457200" indent="-457200" algn="just">
              <a:lnSpc>
                <a:spcPct val="100000"/>
              </a:lnSpc>
              <a:spcBef>
                <a:spcPts val="1200"/>
              </a:spcBef>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Designed for 11 9s of durability</a:t>
            </a:r>
          </a:p>
          <a:p>
            <a:pPr marL="457200" indent="-457200" algn="just">
              <a:lnSpc>
                <a:spcPct val="100000"/>
              </a:lnSpc>
              <a:spcBef>
                <a:spcPts val="1200"/>
              </a:spcBef>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Granular access to bucket and objects </a:t>
            </a:r>
          </a:p>
        </p:txBody>
      </p:sp>
    </p:spTree>
    <p:extLst>
      <p:ext uri="{BB962C8B-B14F-4D97-AF65-F5344CB8AC3E}">
        <p14:creationId xmlns:p14="http://schemas.microsoft.com/office/powerpoint/2010/main" val="26905671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D431A-16A5-CE80-FBC9-274D380E3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E7889-95A0-BE1D-0407-6CB78B3ACA19}"/>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BF42756A-97E1-6120-857C-5A5891F64C3C}"/>
              </a:ext>
            </a:extLst>
          </p:cNvPr>
          <p:cNvSpPr>
            <a:spLocks noGrp="1"/>
          </p:cNvSpPr>
          <p:nvPr>
            <p:ph type="body" sz="quarter" idx="10"/>
          </p:nvPr>
        </p:nvSpPr>
        <p:spPr/>
        <p:txBody>
          <a:bodyPr>
            <a:normAutofit lnSpcReduction="10000"/>
          </a:bodyPr>
          <a:lstStyle/>
          <a:p>
            <a:r>
              <a:rPr lang="en-US" sz="2400" dirty="0"/>
              <a:t>Amazon S3 storage classes</a:t>
            </a:r>
          </a:p>
        </p:txBody>
      </p:sp>
      <p:sp>
        <p:nvSpPr>
          <p:cNvPr id="4" name="Title 1">
            <a:extLst>
              <a:ext uri="{FF2B5EF4-FFF2-40B4-BE49-F238E27FC236}">
                <a16:creationId xmlns:a16="http://schemas.microsoft.com/office/drawing/2014/main" id="{87CEAF2E-DD3C-9144-37AA-B7B5F30C44D8}"/>
              </a:ext>
            </a:extLst>
          </p:cNvPr>
          <p:cNvSpPr txBox="1">
            <a:spLocks/>
          </p:cNvSpPr>
          <p:nvPr/>
        </p:nvSpPr>
        <p:spPr>
          <a:xfrm>
            <a:off x="41148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CE5B1FAE-84CE-19EC-F64A-BDD54F2E55D6}"/>
              </a:ext>
            </a:extLst>
          </p:cNvPr>
          <p:cNvSpPr txBox="1">
            <a:spLocks/>
          </p:cNvSpPr>
          <p:nvPr/>
        </p:nvSpPr>
        <p:spPr>
          <a:xfrm>
            <a:off x="2590800" y="1676400"/>
            <a:ext cx="7772401" cy="48006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600"/>
              </a:spcBef>
              <a:spcAft>
                <a:spcPts val="800"/>
              </a:spcAft>
              <a:buNone/>
            </a:pPr>
            <a:r>
              <a:rPr lang="en-US" dirty="0"/>
              <a:t>Amazon S3 offers a range of object-level storage classes that are</a:t>
            </a:r>
          </a:p>
          <a:p>
            <a:pPr marL="0" lvl="1" indent="0">
              <a:spcBef>
                <a:spcPts val="600"/>
              </a:spcBef>
              <a:spcAft>
                <a:spcPts val="800"/>
              </a:spcAft>
              <a:buNone/>
            </a:pPr>
            <a:r>
              <a:rPr lang="en-US" dirty="0"/>
              <a:t>designed for different use cases:</a:t>
            </a:r>
          </a:p>
          <a:p>
            <a:pPr marL="914400" lvl="2" indent="-457200">
              <a:spcBef>
                <a:spcPts val="600"/>
              </a:spcBef>
              <a:spcAft>
                <a:spcPts val="800"/>
              </a:spcAft>
            </a:pPr>
            <a:r>
              <a:rPr lang="en-US" dirty="0"/>
              <a:t>Amazon S3 Standard</a:t>
            </a:r>
          </a:p>
          <a:p>
            <a:pPr marL="914400" lvl="2" indent="-457200">
              <a:spcBef>
                <a:spcPts val="600"/>
              </a:spcBef>
              <a:spcAft>
                <a:spcPts val="800"/>
              </a:spcAft>
            </a:pPr>
            <a:r>
              <a:rPr lang="en-US" dirty="0"/>
              <a:t>Amazon S3 Intelligent-Tiering</a:t>
            </a:r>
          </a:p>
          <a:p>
            <a:pPr marL="914400" lvl="2" indent="-457200">
              <a:spcBef>
                <a:spcPts val="600"/>
              </a:spcBef>
              <a:spcAft>
                <a:spcPts val="800"/>
              </a:spcAft>
            </a:pPr>
            <a:r>
              <a:rPr lang="en-US" dirty="0"/>
              <a:t>Amazon S3 Standard-Infrequent Access </a:t>
            </a:r>
          </a:p>
          <a:p>
            <a:pPr marL="457200" lvl="2" indent="0">
              <a:spcBef>
                <a:spcPts val="600"/>
              </a:spcBef>
              <a:spcAft>
                <a:spcPts val="800"/>
              </a:spcAft>
              <a:buNone/>
            </a:pPr>
            <a:r>
              <a:rPr lang="en-US" dirty="0"/>
              <a:t>	(Amazon S3 Standard-IA)</a:t>
            </a:r>
          </a:p>
          <a:p>
            <a:pPr marL="914400" lvl="2" indent="-457200">
              <a:spcBef>
                <a:spcPts val="600"/>
              </a:spcBef>
              <a:spcAft>
                <a:spcPts val="800"/>
              </a:spcAft>
            </a:pPr>
            <a:r>
              <a:rPr lang="en-US" dirty="0"/>
              <a:t>Amazon S3 One Zone-Infrequent Access</a:t>
            </a:r>
          </a:p>
          <a:p>
            <a:pPr marL="457200" lvl="2" indent="0">
              <a:spcBef>
                <a:spcPts val="600"/>
              </a:spcBef>
              <a:spcAft>
                <a:spcPts val="800"/>
              </a:spcAft>
              <a:buNone/>
            </a:pPr>
            <a:r>
              <a:rPr lang="en-US" dirty="0"/>
              <a:t>	(Amazon S3 One Zone-IA)</a:t>
            </a:r>
          </a:p>
          <a:p>
            <a:pPr marL="914400" lvl="2" indent="-457200">
              <a:spcBef>
                <a:spcPts val="600"/>
              </a:spcBef>
              <a:spcAft>
                <a:spcPts val="800"/>
              </a:spcAft>
            </a:pPr>
            <a:r>
              <a:rPr lang="en-US" dirty="0"/>
              <a:t>Amazon S3 Glacier </a:t>
            </a:r>
          </a:p>
          <a:p>
            <a:pPr marL="914400" lvl="2" indent="-457200">
              <a:spcBef>
                <a:spcPts val="600"/>
              </a:spcBef>
              <a:spcAft>
                <a:spcPts val="800"/>
              </a:spcAft>
            </a:pPr>
            <a:r>
              <a:rPr lang="en-US" dirty="0"/>
              <a:t>Amazon S3 Glacier Deep Archive</a:t>
            </a:r>
          </a:p>
        </p:txBody>
      </p:sp>
    </p:spTree>
    <p:extLst>
      <p:ext uri="{BB962C8B-B14F-4D97-AF65-F5344CB8AC3E}">
        <p14:creationId xmlns:p14="http://schemas.microsoft.com/office/powerpoint/2010/main" val="329622137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2A66-5F16-FFB0-144E-7DF8D57A7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D828E-A0AE-8041-1E9E-F853FDCD46B7}"/>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7F0C9852-7501-EE26-F14B-999B29870D0A}"/>
              </a:ext>
            </a:extLst>
          </p:cNvPr>
          <p:cNvSpPr>
            <a:spLocks noGrp="1"/>
          </p:cNvSpPr>
          <p:nvPr>
            <p:ph type="body" sz="quarter" idx="10"/>
          </p:nvPr>
        </p:nvSpPr>
        <p:spPr/>
        <p:txBody>
          <a:bodyPr>
            <a:normAutofit fontScale="70000" lnSpcReduction="20000"/>
          </a:bodyPr>
          <a:lstStyle/>
          <a:p>
            <a:r>
              <a:rPr lang="en-US" sz="2400" dirty="0"/>
              <a:t>Amazon S3 bucket URLs (two styles)</a:t>
            </a:r>
          </a:p>
        </p:txBody>
      </p:sp>
      <p:sp>
        <p:nvSpPr>
          <p:cNvPr id="33" name="Title 1">
            <a:extLst>
              <a:ext uri="{FF2B5EF4-FFF2-40B4-BE49-F238E27FC236}">
                <a16:creationId xmlns:a16="http://schemas.microsoft.com/office/drawing/2014/main" id="{CFA9A498-2946-CAEF-C6FF-E31C29D689B1}"/>
              </a:ext>
            </a:extLst>
          </p:cNvPr>
          <p:cNvSpPr txBox="1">
            <a:spLocks/>
          </p:cNvSpPr>
          <p:nvPr/>
        </p:nvSpPr>
        <p:spPr>
          <a:xfrm>
            <a:off x="3896322" y="533400"/>
            <a:ext cx="72860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ctr">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34" name="Group 33" descr="amazon s3 service, amazon s3 bucket, and bucket object.">
            <a:extLst>
              <a:ext uri="{FF2B5EF4-FFF2-40B4-BE49-F238E27FC236}">
                <a16:creationId xmlns:a16="http://schemas.microsoft.com/office/drawing/2014/main" id="{B788C565-56D0-73F8-76FB-53D7AC6E4DE5}"/>
              </a:ext>
            </a:extLst>
          </p:cNvPr>
          <p:cNvGrpSpPr/>
          <p:nvPr/>
        </p:nvGrpSpPr>
        <p:grpSpPr>
          <a:xfrm>
            <a:off x="2553217" y="1905943"/>
            <a:ext cx="1456259" cy="3809061"/>
            <a:chOff x="854562" y="1297945"/>
            <a:chExt cx="1734786" cy="5165556"/>
          </a:xfrm>
        </p:grpSpPr>
        <p:pic>
          <p:nvPicPr>
            <p:cNvPr id="35" name="Graphic 34" descr="s3 bucket.">
              <a:extLst>
                <a:ext uri="{FF2B5EF4-FFF2-40B4-BE49-F238E27FC236}">
                  <a16:creationId xmlns:a16="http://schemas.microsoft.com/office/drawing/2014/main" id="{BAFF3586-B48B-6F0C-1C48-46CC534C6D5E}"/>
                </a:ext>
                <a:ext uri="{C183D7F6-B498-43B3-948B-1728B52AA6E4}">
                  <adec:decorative xmlns:adec="http://schemas.microsoft.com/office/drawing/2017/decorative" val="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2785" y="3013005"/>
              <a:ext cx="731520" cy="731520"/>
            </a:xfrm>
            <a:prstGeom prst="rect">
              <a:avLst/>
            </a:prstGeom>
          </p:spPr>
        </p:pic>
        <p:sp>
          <p:nvSpPr>
            <p:cNvPr id="36" name="TextBox 46">
              <a:extLst>
                <a:ext uri="{FF2B5EF4-FFF2-40B4-BE49-F238E27FC236}">
                  <a16:creationId xmlns:a16="http://schemas.microsoft.com/office/drawing/2014/main" id="{11B4602B-F850-21DF-2D3C-71B8FEE5F5D7}"/>
                </a:ext>
              </a:extLst>
            </p:cNvPr>
            <p:cNvSpPr txBox="1">
              <a:spLocks noChangeArrowheads="1"/>
            </p:cNvSpPr>
            <p:nvPr/>
          </p:nvSpPr>
          <p:spPr bwMode="auto">
            <a:xfrm>
              <a:off x="1019412" y="1297945"/>
              <a:ext cx="1435140" cy="3756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dirty="0">
                  <a:latin typeface="+mn-lt"/>
                  <a:cs typeface="Arial" charset="0"/>
                </a:rPr>
                <a:t>Amazon S3</a:t>
              </a:r>
            </a:p>
          </p:txBody>
        </p:sp>
        <p:sp>
          <p:nvSpPr>
            <p:cNvPr id="37" name="TextBox 52">
              <a:extLst>
                <a:ext uri="{FF2B5EF4-FFF2-40B4-BE49-F238E27FC236}">
                  <a16:creationId xmlns:a16="http://schemas.microsoft.com/office/drawing/2014/main" id="{F41BE51F-1AC3-08BD-4A4E-6574DF3A0BC9}"/>
                </a:ext>
              </a:extLst>
            </p:cNvPr>
            <p:cNvSpPr txBox="1">
              <a:spLocks noChangeArrowheads="1"/>
            </p:cNvSpPr>
            <p:nvPr/>
          </p:nvSpPr>
          <p:spPr bwMode="auto">
            <a:xfrm>
              <a:off x="980301" y="3809808"/>
              <a:ext cx="1479497" cy="7512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i="1" dirty="0">
                  <a:latin typeface="+mn-lt"/>
                  <a:cs typeface="Arial" charset="0"/>
                </a:rPr>
                <a:t>[bucket name]</a:t>
              </a:r>
            </a:p>
          </p:txBody>
        </p:sp>
        <p:pic>
          <p:nvPicPr>
            <p:cNvPr id="38" name="Picture 37">
              <a:extLst>
                <a:ext uri="{FF2B5EF4-FFF2-40B4-BE49-F238E27FC236}">
                  <a16:creationId xmlns:a16="http://schemas.microsoft.com/office/drawing/2014/main" id="{BEFB45A1-0670-52B1-AF2A-7480FE88BEC1}"/>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33334" y="4489737"/>
              <a:ext cx="975360" cy="975360"/>
            </a:xfrm>
            <a:prstGeom prst="rect">
              <a:avLst/>
            </a:prstGeom>
          </p:spPr>
        </p:pic>
        <p:sp>
          <p:nvSpPr>
            <p:cNvPr id="39" name="TextBox 52">
              <a:extLst>
                <a:ext uri="{FF2B5EF4-FFF2-40B4-BE49-F238E27FC236}">
                  <a16:creationId xmlns:a16="http://schemas.microsoft.com/office/drawing/2014/main" id="{15885E06-A39B-B884-1959-D62F8EC0050E}"/>
                </a:ext>
              </a:extLst>
            </p:cNvPr>
            <p:cNvSpPr txBox="1">
              <a:spLocks noChangeArrowheads="1"/>
            </p:cNvSpPr>
            <p:nvPr/>
          </p:nvSpPr>
          <p:spPr bwMode="auto">
            <a:xfrm>
              <a:off x="957962" y="5441050"/>
              <a:ext cx="1551199" cy="2921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i="1" dirty="0">
                  <a:latin typeface="+mn-lt"/>
                  <a:cs typeface="Arial" charset="0"/>
                </a:rPr>
                <a:t>Preview2.mp4</a:t>
              </a:r>
            </a:p>
          </p:txBody>
        </p:sp>
        <p:sp>
          <p:nvSpPr>
            <p:cNvPr id="40" name="TextBox 33">
              <a:extLst>
                <a:ext uri="{FF2B5EF4-FFF2-40B4-BE49-F238E27FC236}">
                  <a16:creationId xmlns:a16="http://schemas.microsoft.com/office/drawing/2014/main" id="{C3C3B2C6-3ADC-5930-BFC0-51D74F3E8B24}"/>
                </a:ext>
              </a:extLst>
            </p:cNvPr>
            <p:cNvSpPr txBox="1">
              <a:spLocks noChangeArrowheads="1"/>
            </p:cNvSpPr>
            <p:nvPr/>
          </p:nvSpPr>
          <p:spPr bwMode="auto">
            <a:xfrm>
              <a:off x="854562" y="5753499"/>
              <a:ext cx="1730972" cy="626075"/>
            </a:xfrm>
            <a:prstGeom prst="rect">
              <a:avLst/>
            </a:prstGeom>
            <a:noFill/>
            <a:ln w="9525">
              <a:noFill/>
              <a:miter lim="800000"/>
              <a:headEnd/>
              <a:tailEnd/>
            </a:ln>
          </p:spPr>
          <p:txBody>
            <a:bodyPr wrap="square">
              <a:spAutoFit/>
            </a:bodyPr>
            <a:lstStyle/>
            <a:p>
              <a:pPr algn="ctr"/>
              <a:r>
                <a:rPr lang="en-US" sz="1200" dirty="0">
                  <a:ea typeface="Verdana" pitchFamily="34" charset="0"/>
                  <a:cs typeface="Helvetica Neue"/>
                </a:rPr>
                <a:t>Tokyo Region (ap-northeast-1)</a:t>
              </a:r>
            </a:p>
          </p:txBody>
        </p:sp>
        <p:cxnSp>
          <p:nvCxnSpPr>
            <p:cNvPr id="41" name="Straight Connector 40">
              <a:extLst>
                <a:ext uri="{FF2B5EF4-FFF2-40B4-BE49-F238E27FC236}">
                  <a16:creationId xmlns:a16="http://schemas.microsoft.com/office/drawing/2014/main" id="{124413D3-A90B-2086-ADAA-AB5C02B1834D}"/>
                </a:ext>
                <a:ext uri="{C183D7F6-B498-43B3-948B-1728B52AA6E4}">
                  <adec:decorative xmlns:adec="http://schemas.microsoft.com/office/drawing/2017/decorative" val="1"/>
                </a:ext>
              </a:extLst>
            </p:cNvPr>
            <p:cNvCxnSpPr>
              <a:cxnSpLocks/>
            </p:cNvCxnSpPr>
            <p:nvPr/>
          </p:nvCxnSpPr>
          <p:spPr>
            <a:xfrm>
              <a:off x="1729658" y="2472012"/>
              <a:ext cx="3904" cy="446749"/>
            </a:xfrm>
            <a:prstGeom prst="line">
              <a:avLst/>
            </a:prstGeom>
            <a:ln w="28575"/>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9173BAC0-320B-25C8-4475-D753F0FD44E1}"/>
                </a:ext>
                <a:ext uri="{C183D7F6-B498-43B3-948B-1728B52AA6E4}">
                  <adec:decorative xmlns:adec="http://schemas.microsoft.com/office/drawing/2017/decorative" val="1"/>
                </a:ext>
              </a:extLst>
            </p:cNvPr>
            <p:cNvCxnSpPr>
              <a:stCxn id="37" idx="2"/>
              <a:endCxn id="38" idx="0"/>
            </p:cNvCxnSpPr>
            <p:nvPr/>
          </p:nvCxnSpPr>
          <p:spPr>
            <a:xfrm flipV="1">
              <a:off x="1720050" y="4489737"/>
              <a:ext cx="965" cy="71361"/>
            </a:xfrm>
            <a:prstGeom prst="line">
              <a:avLst/>
            </a:prstGeom>
            <a:ln w="28575"/>
          </p:spPr>
          <p:style>
            <a:lnRef idx="1">
              <a:schemeClr val="dk1"/>
            </a:lnRef>
            <a:fillRef idx="0">
              <a:schemeClr val="dk1"/>
            </a:fillRef>
            <a:effectRef idx="0">
              <a:schemeClr val="dk1"/>
            </a:effectRef>
            <a:fontRef idx="minor">
              <a:schemeClr val="tx1"/>
            </a:fontRef>
          </p:style>
        </p:cxnSp>
        <p:sp>
          <p:nvSpPr>
            <p:cNvPr id="43" name="Rounded Rectangle 46">
              <a:extLst>
                <a:ext uri="{FF2B5EF4-FFF2-40B4-BE49-F238E27FC236}">
                  <a16:creationId xmlns:a16="http://schemas.microsoft.com/office/drawing/2014/main" id="{D5143FCC-5285-473C-BF2A-19F2CE84320D}"/>
                </a:ext>
                <a:ext uri="{C183D7F6-B498-43B3-948B-1728B52AA6E4}">
                  <adec:decorative xmlns:adec="http://schemas.microsoft.com/office/drawing/2017/decorative" val="1"/>
                </a:ext>
              </a:extLst>
            </p:cNvPr>
            <p:cNvSpPr/>
            <p:nvPr/>
          </p:nvSpPr>
          <p:spPr>
            <a:xfrm>
              <a:off x="864464" y="2716425"/>
              <a:ext cx="1724884" cy="3747076"/>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cs typeface="Helvetica Neue"/>
              </a:endParaRPr>
            </a:p>
          </p:txBody>
        </p:sp>
        <p:pic>
          <p:nvPicPr>
            <p:cNvPr id="44" name="Graphic 43" descr="Amazon Simple Storage Service icon.">
              <a:extLst>
                <a:ext uri="{FF2B5EF4-FFF2-40B4-BE49-F238E27FC236}">
                  <a16:creationId xmlns:a16="http://schemas.microsoft.com/office/drawing/2014/main" id="{82ED1117-FFB4-60DF-8790-8148BC13CC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63750" y="1630899"/>
              <a:ext cx="754380" cy="754380"/>
            </a:xfrm>
            <a:prstGeom prst="rect">
              <a:avLst/>
            </a:prstGeom>
          </p:spPr>
        </p:pic>
      </p:grpSp>
      <p:sp>
        <p:nvSpPr>
          <p:cNvPr id="45" name="Content Placeholder 2">
            <a:extLst>
              <a:ext uri="{FF2B5EF4-FFF2-40B4-BE49-F238E27FC236}">
                <a16:creationId xmlns:a16="http://schemas.microsoft.com/office/drawing/2014/main" id="{E1E41504-61EF-D8D8-DA65-6B420699B614}"/>
              </a:ext>
            </a:extLst>
          </p:cNvPr>
          <p:cNvSpPr txBox="1">
            <a:spLocks/>
          </p:cNvSpPr>
          <p:nvPr/>
        </p:nvSpPr>
        <p:spPr>
          <a:xfrm>
            <a:off x="4328626" y="1752600"/>
            <a:ext cx="5802698" cy="155007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233" lvl="1" indent="0" algn="just">
              <a:spcBef>
                <a:spcPts val="1200"/>
              </a:spcBef>
              <a:buNone/>
            </a:pPr>
            <a:r>
              <a:rPr lang="en-US" sz="1800" dirty="0"/>
              <a:t>To upload your data: </a:t>
            </a:r>
          </a:p>
          <a:p>
            <a:pPr marL="766214" lvl="1" indent="-452955" algn="just">
              <a:spcBef>
                <a:spcPts val="1200"/>
              </a:spcBef>
              <a:buSzPct val="100000"/>
              <a:buFont typeface="+mj-lt"/>
              <a:buAutoNum type="arabicPeriod"/>
            </a:pPr>
            <a:r>
              <a:rPr lang="en-US" sz="1800" dirty="0"/>
              <a:t>Create a </a:t>
            </a:r>
            <a:r>
              <a:rPr lang="en-US" sz="1800" b="1" dirty="0">
                <a:solidFill>
                  <a:srgbClr val="0070C0"/>
                </a:solidFill>
              </a:rPr>
              <a:t>bucket</a:t>
            </a:r>
            <a:r>
              <a:rPr lang="en-US" sz="1800" dirty="0"/>
              <a:t> in an AWS Region.</a:t>
            </a:r>
          </a:p>
          <a:p>
            <a:pPr marL="766214" lvl="1" indent="-452955" algn="just">
              <a:spcBef>
                <a:spcPts val="1200"/>
              </a:spcBef>
              <a:buSzPct val="100000"/>
              <a:buFont typeface="+mj-lt"/>
              <a:buAutoNum type="arabicPeriod"/>
            </a:pPr>
            <a:r>
              <a:rPr lang="en-US" sz="1800" dirty="0"/>
              <a:t>Upload almost any number of </a:t>
            </a:r>
            <a:r>
              <a:rPr lang="en-US" sz="1800" b="1" dirty="0">
                <a:solidFill>
                  <a:srgbClr val="0070C0"/>
                </a:solidFill>
              </a:rPr>
              <a:t>objects</a:t>
            </a:r>
            <a:r>
              <a:rPr lang="en-US" sz="1800" dirty="0"/>
              <a:t> to the bucket.</a:t>
            </a:r>
          </a:p>
        </p:txBody>
      </p:sp>
      <p:grpSp>
        <p:nvGrpSpPr>
          <p:cNvPr id="46" name="Group 45" descr="bucket path-style url endpoint.">
            <a:extLst>
              <a:ext uri="{FF2B5EF4-FFF2-40B4-BE49-F238E27FC236}">
                <a16:creationId xmlns:a16="http://schemas.microsoft.com/office/drawing/2014/main" id="{FF8376AB-E330-452D-90DA-3FA401D888BE}"/>
              </a:ext>
            </a:extLst>
          </p:cNvPr>
          <p:cNvGrpSpPr/>
          <p:nvPr/>
        </p:nvGrpSpPr>
        <p:grpSpPr>
          <a:xfrm>
            <a:off x="4363487" y="3543842"/>
            <a:ext cx="7124536" cy="1492453"/>
            <a:chOff x="2839486" y="3190505"/>
            <a:chExt cx="9276039" cy="1999663"/>
          </a:xfrm>
        </p:grpSpPr>
        <p:sp>
          <p:nvSpPr>
            <p:cNvPr id="47" name="TextBox 52">
              <a:extLst>
                <a:ext uri="{FF2B5EF4-FFF2-40B4-BE49-F238E27FC236}">
                  <a16:creationId xmlns:a16="http://schemas.microsoft.com/office/drawing/2014/main" id="{E507D792-6D85-217A-83B7-39F0516189DC}"/>
                </a:ext>
              </a:extLst>
            </p:cNvPr>
            <p:cNvSpPr txBox="1">
              <a:spLocks noChangeArrowheads="1"/>
            </p:cNvSpPr>
            <p:nvPr/>
          </p:nvSpPr>
          <p:spPr bwMode="auto">
            <a:xfrm>
              <a:off x="2839486" y="3190505"/>
              <a:ext cx="8579362" cy="371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dirty="0">
                  <a:latin typeface="Open Sans" panose="020B0606030504020204" pitchFamily="34" charset="0"/>
                  <a:ea typeface="Open Sans" panose="020B0606030504020204" pitchFamily="34" charset="0"/>
                  <a:cs typeface="Open Sans" panose="020B0606030504020204" pitchFamily="34" charset="0"/>
                </a:rPr>
                <a:t>Bucket path-style URL endpoint: </a:t>
              </a:r>
            </a:p>
          </p:txBody>
        </p:sp>
        <p:sp>
          <p:nvSpPr>
            <p:cNvPr id="48" name="TextBox 52">
              <a:extLst>
                <a:ext uri="{FF2B5EF4-FFF2-40B4-BE49-F238E27FC236}">
                  <a16:creationId xmlns:a16="http://schemas.microsoft.com/office/drawing/2014/main" id="{F4AD62C0-2ED2-5252-972B-AA1EDAE482DA}"/>
                </a:ext>
                <a:ext uri="{C183D7F6-B498-43B3-948B-1728B52AA6E4}">
                  <adec:decorative xmlns:adec="http://schemas.microsoft.com/office/drawing/2017/decorative" val="1"/>
                </a:ext>
              </a:extLst>
            </p:cNvPr>
            <p:cNvSpPr txBox="1">
              <a:spLocks noChangeArrowheads="1"/>
            </p:cNvSpPr>
            <p:nvPr/>
          </p:nvSpPr>
          <p:spPr bwMode="auto">
            <a:xfrm>
              <a:off x="2839486" y="3695051"/>
              <a:ext cx="9276039" cy="371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00" b="1" i="1" dirty="0">
                  <a:latin typeface="+mn-lt"/>
                  <a:cs typeface="Arial" charset="0"/>
                  <a:hlinkClick r:id="rId8">
                    <a:extLst>
                      <a:ext uri="{A12FA001-AC4F-418D-AE19-62706E023703}">
                        <ahyp:hlinkClr xmlns:ahyp="http://schemas.microsoft.com/office/drawing/2018/hyperlinkcolor" val="tx"/>
                      </a:ext>
                    </a:extLst>
                  </a:hlinkClick>
                </a:rPr>
                <a:t>https://</a:t>
              </a:r>
              <a:r>
                <a:rPr lang="en-US" sz="1800" b="1" i="1" dirty="0">
                  <a:latin typeface="+mn-lt"/>
                  <a:cs typeface="Arial" charset="0"/>
                </a:rPr>
                <a:t>s3.</a:t>
              </a:r>
              <a:r>
                <a:rPr lang="en-US" sz="1800" b="1" i="1" dirty="0">
                  <a:solidFill>
                    <a:schemeClr val="accent6">
                      <a:lumMod val="75000"/>
                    </a:schemeClr>
                  </a:solidFill>
                  <a:latin typeface="+mn-lt"/>
                  <a:cs typeface="Arial" charset="0"/>
                </a:rPr>
                <a:t>ap-northeast-1</a:t>
              </a:r>
              <a:r>
                <a:rPr lang="en-US" sz="1800" b="1" i="1" dirty="0">
                  <a:latin typeface="+mn-lt"/>
                  <a:cs typeface="Arial" charset="0"/>
                </a:rPr>
                <a:t>.amazonaws.com/</a:t>
              </a:r>
              <a:r>
                <a:rPr lang="en-US" sz="1800" b="1" i="1" dirty="0">
                  <a:solidFill>
                    <a:schemeClr val="accent6">
                      <a:lumMod val="75000"/>
                    </a:schemeClr>
                  </a:solidFill>
                  <a:latin typeface="+mn-lt"/>
                  <a:cs typeface="Arial" charset="0"/>
                </a:rPr>
                <a:t>bucket-name</a:t>
              </a:r>
            </a:p>
          </p:txBody>
        </p:sp>
        <p:sp>
          <p:nvSpPr>
            <p:cNvPr id="49" name="TextBox 52">
              <a:extLst>
                <a:ext uri="{FF2B5EF4-FFF2-40B4-BE49-F238E27FC236}">
                  <a16:creationId xmlns:a16="http://schemas.microsoft.com/office/drawing/2014/main" id="{27239038-6A0C-B8EB-225D-0BE69AB97F69}"/>
                </a:ext>
              </a:extLst>
            </p:cNvPr>
            <p:cNvSpPr txBox="1">
              <a:spLocks noChangeArrowheads="1"/>
            </p:cNvSpPr>
            <p:nvPr/>
          </p:nvSpPr>
          <p:spPr bwMode="auto">
            <a:xfrm>
              <a:off x="5227311" y="4459734"/>
              <a:ext cx="1551201" cy="371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b="1" dirty="0">
                  <a:solidFill>
                    <a:schemeClr val="accent2"/>
                  </a:solidFill>
                  <a:latin typeface="+mn-lt"/>
                  <a:cs typeface="Arial" charset="0"/>
                </a:rPr>
                <a:t>Region code</a:t>
              </a:r>
            </a:p>
          </p:txBody>
        </p:sp>
        <p:sp>
          <p:nvSpPr>
            <p:cNvPr id="50" name="Right Brace 49">
              <a:extLst>
                <a:ext uri="{FF2B5EF4-FFF2-40B4-BE49-F238E27FC236}">
                  <a16:creationId xmlns:a16="http://schemas.microsoft.com/office/drawing/2014/main" id="{C4CDFA66-2AD7-B26A-3A9D-D309F9129625}"/>
                </a:ext>
                <a:ext uri="{C183D7F6-B498-43B3-948B-1728B52AA6E4}">
                  <adec:decorative xmlns:adec="http://schemas.microsoft.com/office/drawing/2017/decorative" val="1"/>
                </a:ext>
              </a:extLst>
            </p:cNvPr>
            <p:cNvSpPr/>
            <p:nvPr/>
          </p:nvSpPr>
          <p:spPr>
            <a:xfrm rot="5400000">
              <a:off x="5780047" y="3450927"/>
              <a:ext cx="367700" cy="157060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1" name="TextBox 52">
              <a:extLst>
                <a:ext uri="{FF2B5EF4-FFF2-40B4-BE49-F238E27FC236}">
                  <a16:creationId xmlns:a16="http://schemas.microsoft.com/office/drawing/2014/main" id="{A4832E65-C10A-05D8-0308-3F8E3F6CBB6B}"/>
                </a:ext>
              </a:extLst>
            </p:cNvPr>
            <p:cNvSpPr txBox="1">
              <a:spLocks noChangeArrowheads="1"/>
            </p:cNvSpPr>
            <p:nvPr/>
          </p:nvSpPr>
          <p:spPr bwMode="auto">
            <a:xfrm>
              <a:off x="9630675" y="4447894"/>
              <a:ext cx="1551201" cy="742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b="1" dirty="0">
                  <a:solidFill>
                    <a:schemeClr val="accent2"/>
                  </a:solidFill>
                  <a:latin typeface="+mn-lt"/>
                  <a:cs typeface="Arial" charset="0"/>
                </a:rPr>
                <a:t>Bucket name</a:t>
              </a:r>
            </a:p>
          </p:txBody>
        </p:sp>
        <p:sp>
          <p:nvSpPr>
            <p:cNvPr id="52" name="Right Brace 51">
              <a:extLst>
                <a:ext uri="{FF2B5EF4-FFF2-40B4-BE49-F238E27FC236}">
                  <a16:creationId xmlns:a16="http://schemas.microsoft.com/office/drawing/2014/main" id="{0FBDECC5-152D-7F81-4487-C2E841A401AF}"/>
                </a:ext>
                <a:ext uri="{C183D7F6-B498-43B3-948B-1728B52AA6E4}">
                  <adec:decorative xmlns:adec="http://schemas.microsoft.com/office/drawing/2017/decorative" val="1"/>
                </a:ext>
              </a:extLst>
            </p:cNvPr>
            <p:cNvSpPr/>
            <p:nvPr/>
          </p:nvSpPr>
          <p:spPr>
            <a:xfrm rot="5400000">
              <a:off x="10221609" y="3526346"/>
              <a:ext cx="369332" cy="1387232"/>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grpSp>
        <p:nvGrpSpPr>
          <p:cNvPr id="53" name="Group 52" descr="bucket virtual hosted-style url endpoint.">
            <a:extLst>
              <a:ext uri="{FF2B5EF4-FFF2-40B4-BE49-F238E27FC236}">
                <a16:creationId xmlns:a16="http://schemas.microsoft.com/office/drawing/2014/main" id="{05ADC4B0-091E-7F6D-C43C-3D69C3B915C6}"/>
              </a:ext>
            </a:extLst>
          </p:cNvPr>
          <p:cNvGrpSpPr/>
          <p:nvPr/>
        </p:nvGrpSpPr>
        <p:grpSpPr>
          <a:xfrm>
            <a:off x="4315169" y="5190670"/>
            <a:ext cx="7310317" cy="1634636"/>
            <a:chOff x="2791168" y="4837156"/>
            <a:chExt cx="9517923" cy="2190172"/>
          </a:xfrm>
        </p:grpSpPr>
        <p:sp>
          <p:nvSpPr>
            <p:cNvPr id="54" name="TextBox 52">
              <a:extLst>
                <a:ext uri="{FF2B5EF4-FFF2-40B4-BE49-F238E27FC236}">
                  <a16:creationId xmlns:a16="http://schemas.microsoft.com/office/drawing/2014/main" id="{2A96CC48-9CC0-6C16-094F-FF630CF63EAE}"/>
                </a:ext>
              </a:extLst>
            </p:cNvPr>
            <p:cNvSpPr txBox="1">
              <a:spLocks noChangeArrowheads="1"/>
            </p:cNvSpPr>
            <p:nvPr/>
          </p:nvSpPr>
          <p:spPr bwMode="auto">
            <a:xfrm>
              <a:off x="2791168" y="4837156"/>
              <a:ext cx="6129808" cy="371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dirty="0">
                  <a:latin typeface="Open Sans" panose="020B0606030504020204" pitchFamily="34" charset="0"/>
                  <a:ea typeface="Open Sans" panose="020B0606030504020204" pitchFamily="34" charset="0"/>
                  <a:cs typeface="Open Sans" panose="020B0606030504020204" pitchFamily="34" charset="0"/>
                </a:rPr>
                <a:t>Bucket virtual hosted-style URL endpoint:</a:t>
              </a:r>
            </a:p>
          </p:txBody>
        </p:sp>
        <p:sp>
          <p:nvSpPr>
            <p:cNvPr id="55" name="TextBox 52">
              <a:extLst>
                <a:ext uri="{FF2B5EF4-FFF2-40B4-BE49-F238E27FC236}">
                  <a16:creationId xmlns:a16="http://schemas.microsoft.com/office/drawing/2014/main" id="{0DEC0920-7B49-42BA-28F7-0928CCC17DC9}"/>
                </a:ext>
                <a:ext uri="{C183D7F6-B498-43B3-948B-1728B52AA6E4}">
                  <adec:decorative xmlns:adec="http://schemas.microsoft.com/office/drawing/2017/decorative" val="1"/>
                </a:ext>
              </a:extLst>
            </p:cNvPr>
            <p:cNvSpPr txBox="1">
              <a:spLocks noChangeArrowheads="1"/>
            </p:cNvSpPr>
            <p:nvPr/>
          </p:nvSpPr>
          <p:spPr bwMode="auto">
            <a:xfrm>
              <a:off x="3033052" y="5363809"/>
              <a:ext cx="9276039" cy="371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00" b="1" i="1" dirty="0">
                  <a:latin typeface="+mn-lt"/>
                  <a:cs typeface="Arial" charset="0"/>
                  <a:hlinkClick r:id="rId8">
                    <a:extLst>
                      <a:ext uri="{A12FA001-AC4F-418D-AE19-62706E023703}">
                        <ahyp:hlinkClr xmlns:ahyp="http://schemas.microsoft.com/office/drawing/2018/hyperlinkcolor" val="tx"/>
                      </a:ext>
                    </a:extLst>
                  </a:hlinkClick>
                </a:rPr>
                <a:t>https://</a:t>
              </a:r>
              <a:r>
                <a:rPr lang="en-US" sz="1800" b="1" i="1" dirty="0">
                  <a:solidFill>
                    <a:srgbClr val="FF9933"/>
                  </a:solidFill>
                  <a:latin typeface="+mn-lt"/>
                  <a:cs typeface="Arial" charset="0"/>
                </a:rPr>
                <a:t> </a:t>
              </a:r>
              <a:r>
                <a:rPr lang="en-US" sz="1800" b="1" i="1" dirty="0">
                  <a:solidFill>
                    <a:schemeClr val="accent6">
                      <a:lumMod val="75000"/>
                    </a:schemeClr>
                  </a:solidFill>
                  <a:latin typeface="+mn-lt"/>
                  <a:cs typeface="Arial" charset="0"/>
                </a:rPr>
                <a:t>bucket-name</a:t>
              </a:r>
              <a:r>
                <a:rPr lang="en-US" sz="1800" b="1" i="1" dirty="0">
                  <a:latin typeface="+mn-lt"/>
                  <a:cs typeface="Arial" charset="0"/>
                </a:rPr>
                <a:t>.s3-</a:t>
              </a:r>
              <a:r>
                <a:rPr lang="en-US" sz="1800" b="1" i="1" dirty="0">
                  <a:solidFill>
                    <a:schemeClr val="accent6">
                      <a:lumMod val="75000"/>
                    </a:schemeClr>
                  </a:solidFill>
                  <a:latin typeface="+mn-lt"/>
                  <a:cs typeface="Arial" charset="0"/>
                </a:rPr>
                <a:t>ap-northeast-1</a:t>
              </a:r>
              <a:r>
                <a:rPr lang="en-US" sz="1800" b="1" i="1" dirty="0">
                  <a:latin typeface="+mn-lt"/>
                  <a:cs typeface="Arial" charset="0"/>
                </a:rPr>
                <a:t>.amazonaws.com</a:t>
              </a:r>
              <a:endParaRPr lang="en-US" sz="1800" b="1" i="1" dirty="0">
                <a:solidFill>
                  <a:srgbClr val="FF9933"/>
                </a:solidFill>
                <a:latin typeface="+mn-lt"/>
                <a:cs typeface="Arial" charset="0"/>
              </a:endParaRPr>
            </a:p>
          </p:txBody>
        </p:sp>
        <p:sp>
          <p:nvSpPr>
            <p:cNvPr id="56" name="TextBox 52">
              <a:extLst>
                <a:ext uri="{FF2B5EF4-FFF2-40B4-BE49-F238E27FC236}">
                  <a16:creationId xmlns:a16="http://schemas.microsoft.com/office/drawing/2014/main" id="{D40342C5-7660-0B23-5176-7B95617E62B5}"/>
                </a:ext>
              </a:extLst>
            </p:cNvPr>
            <p:cNvSpPr txBox="1">
              <a:spLocks noChangeArrowheads="1"/>
            </p:cNvSpPr>
            <p:nvPr/>
          </p:nvSpPr>
          <p:spPr bwMode="auto">
            <a:xfrm>
              <a:off x="7363810" y="6182342"/>
              <a:ext cx="1551201" cy="371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b="1" dirty="0">
                  <a:solidFill>
                    <a:schemeClr val="accent2"/>
                  </a:solidFill>
                  <a:latin typeface="+mn-lt"/>
                  <a:cs typeface="Arial" charset="0"/>
                </a:rPr>
                <a:t>Region code </a:t>
              </a:r>
            </a:p>
          </p:txBody>
        </p:sp>
        <p:sp>
          <p:nvSpPr>
            <p:cNvPr id="57" name="Right Brace 56">
              <a:extLst>
                <a:ext uri="{FF2B5EF4-FFF2-40B4-BE49-F238E27FC236}">
                  <a16:creationId xmlns:a16="http://schemas.microsoft.com/office/drawing/2014/main" id="{E763801C-6E7D-3C07-05F4-1C36A5826080}"/>
                </a:ext>
                <a:ext uri="{C183D7F6-B498-43B3-948B-1728B52AA6E4}">
                  <adec:decorative xmlns:adec="http://schemas.microsoft.com/office/drawing/2017/decorative" val="1"/>
                </a:ext>
              </a:extLst>
            </p:cNvPr>
            <p:cNvSpPr/>
            <p:nvPr/>
          </p:nvSpPr>
          <p:spPr>
            <a:xfrm rot="5400000">
              <a:off x="5753847" y="5302642"/>
              <a:ext cx="396325" cy="131291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8" name="TextBox 52">
              <a:extLst>
                <a:ext uri="{FF2B5EF4-FFF2-40B4-BE49-F238E27FC236}">
                  <a16:creationId xmlns:a16="http://schemas.microsoft.com/office/drawing/2014/main" id="{8EB5ED69-0016-CA2F-51A1-57B299428F22}"/>
                </a:ext>
              </a:extLst>
            </p:cNvPr>
            <p:cNvSpPr txBox="1">
              <a:spLocks noChangeArrowheads="1"/>
            </p:cNvSpPr>
            <p:nvPr/>
          </p:nvSpPr>
          <p:spPr bwMode="auto">
            <a:xfrm>
              <a:off x="5176410" y="6285052"/>
              <a:ext cx="1551201" cy="7422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b="1" dirty="0">
                  <a:solidFill>
                    <a:schemeClr val="accent2"/>
                  </a:solidFill>
                  <a:latin typeface="+mn-lt"/>
                  <a:cs typeface="Arial" charset="0"/>
                </a:rPr>
                <a:t>Bucket name</a:t>
              </a:r>
            </a:p>
          </p:txBody>
        </p:sp>
        <p:sp>
          <p:nvSpPr>
            <p:cNvPr id="59" name="Right Brace 58">
              <a:extLst>
                <a:ext uri="{FF2B5EF4-FFF2-40B4-BE49-F238E27FC236}">
                  <a16:creationId xmlns:a16="http://schemas.microsoft.com/office/drawing/2014/main" id="{C9520E7E-7C9A-4BB5-033B-8C3988BDFDEA}"/>
                </a:ext>
                <a:ext uri="{C183D7F6-B498-43B3-948B-1728B52AA6E4}">
                  <adec:decorative xmlns:adec="http://schemas.microsoft.com/office/drawing/2017/decorative" val="1"/>
                </a:ext>
              </a:extLst>
            </p:cNvPr>
            <p:cNvSpPr/>
            <p:nvPr/>
          </p:nvSpPr>
          <p:spPr>
            <a:xfrm rot="5400000">
              <a:off x="7954743" y="5194006"/>
              <a:ext cx="369333" cy="1530184"/>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Tree>
    <p:extLst>
      <p:ext uri="{BB962C8B-B14F-4D97-AF65-F5344CB8AC3E}">
        <p14:creationId xmlns:p14="http://schemas.microsoft.com/office/powerpoint/2010/main" val="317463751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87E6C-DA64-14D0-D20F-F157591D6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6D9E8-9D7E-4C21-53D0-F32604A80BBC}"/>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12C60894-1F83-8195-2D62-E1C9C9B29A0F}"/>
              </a:ext>
            </a:extLst>
          </p:cNvPr>
          <p:cNvSpPr>
            <a:spLocks noGrp="1"/>
          </p:cNvSpPr>
          <p:nvPr>
            <p:ph type="body" sz="quarter" idx="10"/>
          </p:nvPr>
        </p:nvSpPr>
        <p:spPr/>
        <p:txBody>
          <a:bodyPr>
            <a:normAutofit lnSpcReduction="10000"/>
          </a:bodyPr>
          <a:lstStyle/>
          <a:p>
            <a:r>
              <a:rPr lang="en-US" sz="2400" dirty="0"/>
              <a:t>Features</a:t>
            </a:r>
          </a:p>
        </p:txBody>
      </p:sp>
      <p:sp>
        <p:nvSpPr>
          <p:cNvPr id="4" name="Title 4">
            <a:extLst>
              <a:ext uri="{FF2B5EF4-FFF2-40B4-BE49-F238E27FC236}">
                <a16:creationId xmlns:a16="http://schemas.microsoft.com/office/drawing/2014/main" id="{2B6F00DE-302F-22D4-12DC-C849EFD63684}"/>
              </a:ext>
            </a:extLst>
          </p:cNvPr>
          <p:cNvSpPr txBox="1">
            <a:spLocks/>
          </p:cNvSpPr>
          <p:nvPr/>
        </p:nvSpPr>
        <p:spPr>
          <a:xfrm>
            <a:off x="2981325" y="1752600"/>
            <a:ext cx="706755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TextBox 4">
            <a:extLst>
              <a:ext uri="{FF2B5EF4-FFF2-40B4-BE49-F238E27FC236}">
                <a16:creationId xmlns:a16="http://schemas.microsoft.com/office/drawing/2014/main" id="{968A831C-1B95-D1C4-3864-63F5F846969E}"/>
              </a:ext>
            </a:extLst>
          </p:cNvPr>
          <p:cNvSpPr txBox="1"/>
          <p:nvPr/>
        </p:nvSpPr>
        <p:spPr>
          <a:xfrm>
            <a:off x="2743200" y="3124200"/>
            <a:ext cx="7543800" cy="1631216"/>
          </a:xfrm>
          <a:prstGeom prst="rect">
            <a:avLst/>
          </a:prstGeom>
          <a:noFill/>
        </p:spPr>
        <p:txBody>
          <a:bodyPr wrap="square">
            <a:spAutoFit/>
          </a:bodyPr>
          <a:lstStyle/>
          <a:p>
            <a:pPr marL="285750" indent="-285750" algn="l">
              <a:spcBef>
                <a:spcPts val="1200"/>
              </a:spcBef>
              <a:buFontTx/>
              <a:buChar char="-"/>
            </a:pPr>
            <a:r>
              <a:rPr lang="en-US" sz="2000" dirty="0">
                <a:latin typeface="Open Sans" panose="020B0606030504020204" pitchFamily="34" charset="0"/>
                <a:ea typeface="Open Sans" panose="020B0606030504020204" pitchFamily="34" charset="0"/>
                <a:cs typeface="Open Sans" panose="020B0606030504020204" pitchFamily="34" charset="0"/>
              </a:rPr>
              <a:t>Data is redundantly stored in the Region</a:t>
            </a:r>
          </a:p>
          <a:p>
            <a:pPr marL="285750" indent="-285750" algn="l">
              <a:spcBef>
                <a:spcPts val="1200"/>
              </a:spcBef>
              <a:buFontTx/>
              <a:buChar char="-"/>
            </a:pPr>
            <a:r>
              <a:rPr lang="en-US" sz="2000" dirty="0">
                <a:latin typeface="Open Sans" panose="020B0606030504020204" pitchFamily="34" charset="0"/>
                <a:ea typeface="Open Sans" panose="020B0606030504020204" pitchFamily="34" charset="0"/>
                <a:cs typeface="Open Sans" panose="020B0606030504020204" pitchFamily="34" charset="0"/>
              </a:rPr>
              <a:t>Designed for seamless scaling</a:t>
            </a:r>
          </a:p>
          <a:p>
            <a:pPr marL="285750" indent="-285750" algn="l">
              <a:spcBef>
                <a:spcPts val="1200"/>
              </a:spcBef>
              <a:buFontTx/>
              <a:buChar char="-"/>
            </a:pPr>
            <a:r>
              <a:rPr lang="en-US" sz="2000" dirty="0">
                <a:latin typeface="Open Sans" panose="020B0606030504020204" pitchFamily="34" charset="0"/>
                <a:ea typeface="Open Sans" panose="020B0606030504020204" pitchFamily="34" charset="0"/>
                <a:cs typeface="Open Sans" panose="020B0606030504020204" pitchFamily="34" charset="0"/>
              </a:rPr>
              <a:t>Access the data anywhere (AWS management Console, AWS CLI, SDK)</a:t>
            </a:r>
            <a:endParaRPr lang="en-ID"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0944001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7983-E9E9-BD88-8A37-77F9565DA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80BC4-3CCA-A787-0120-BAD83B7B4FA0}"/>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0A005470-4436-C7C4-9ED8-92A0F5EDE17E}"/>
              </a:ext>
            </a:extLst>
          </p:cNvPr>
          <p:cNvSpPr>
            <a:spLocks noGrp="1"/>
          </p:cNvSpPr>
          <p:nvPr>
            <p:ph type="body" sz="quarter" idx="10"/>
          </p:nvPr>
        </p:nvSpPr>
        <p:spPr/>
        <p:txBody>
          <a:bodyPr>
            <a:normAutofit lnSpcReduction="10000"/>
          </a:bodyPr>
          <a:lstStyle/>
          <a:p>
            <a:r>
              <a:rPr lang="en-US" sz="2400" dirty="0"/>
              <a:t>Common use cases</a:t>
            </a:r>
          </a:p>
        </p:txBody>
      </p:sp>
      <p:sp>
        <p:nvSpPr>
          <p:cNvPr id="4" name="Title 1">
            <a:extLst>
              <a:ext uri="{FF2B5EF4-FFF2-40B4-BE49-F238E27FC236}">
                <a16:creationId xmlns:a16="http://schemas.microsoft.com/office/drawing/2014/main" id="{CBDFF81A-4A51-228B-3BBE-802DF0F318A0}"/>
              </a:ext>
            </a:extLst>
          </p:cNvPr>
          <p:cNvSpPr txBox="1">
            <a:spLocks/>
          </p:cNvSpPr>
          <p:nvPr/>
        </p:nvSpPr>
        <p:spPr>
          <a:xfrm>
            <a:off x="2905336" y="18288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3">
            <a:extLst>
              <a:ext uri="{FF2B5EF4-FFF2-40B4-BE49-F238E27FC236}">
                <a16:creationId xmlns:a16="http://schemas.microsoft.com/office/drawing/2014/main" id="{4E897C74-9521-FFDC-557A-10501BCF53DA}"/>
              </a:ext>
            </a:extLst>
          </p:cNvPr>
          <p:cNvSpPr txBox="1">
            <a:spLocks/>
          </p:cNvSpPr>
          <p:nvPr/>
        </p:nvSpPr>
        <p:spPr>
          <a:xfrm>
            <a:off x="2590800" y="3048000"/>
            <a:ext cx="7696200" cy="4038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lnSpc>
                <a:spcPct val="110000"/>
              </a:lnSpc>
              <a:spcBef>
                <a:spcPts val="1200"/>
              </a:spcBef>
            </a:pPr>
            <a:r>
              <a:rPr lang="en-US" dirty="0"/>
              <a:t>Storing application assets</a:t>
            </a:r>
          </a:p>
          <a:p>
            <a:pPr marL="457200" indent="-457200" algn="just">
              <a:lnSpc>
                <a:spcPct val="110000"/>
              </a:lnSpc>
              <a:spcBef>
                <a:spcPts val="1200"/>
              </a:spcBef>
            </a:pPr>
            <a:r>
              <a:rPr lang="en-US" dirty="0"/>
              <a:t>Static web hosting</a:t>
            </a:r>
          </a:p>
          <a:p>
            <a:pPr marL="457200" indent="-457200" algn="just">
              <a:lnSpc>
                <a:spcPct val="110000"/>
              </a:lnSpc>
              <a:spcBef>
                <a:spcPts val="1200"/>
              </a:spcBef>
            </a:pPr>
            <a:r>
              <a:rPr lang="en-US" dirty="0"/>
              <a:t>Backup and disaster recovery (DR)</a:t>
            </a:r>
          </a:p>
          <a:p>
            <a:pPr marL="457200" indent="-457200" algn="just">
              <a:lnSpc>
                <a:spcPct val="110000"/>
              </a:lnSpc>
              <a:spcBef>
                <a:spcPts val="1200"/>
              </a:spcBef>
            </a:pPr>
            <a:r>
              <a:rPr lang="en-US" dirty="0"/>
              <a:t>Staging area for big data</a:t>
            </a:r>
            <a:endParaRPr lang="en-US" sz="2600" i="1" dirty="0"/>
          </a:p>
        </p:txBody>
      </p:sp>
    </p:spTree>
    <p:extLst>
      <p:ext uri="{BB962C8B-B14F-4D97-AF65-F5344CB8AC3E}">
        <p14:creationId xmlns:p14="http://schemas.microsoft.com/office/powerpoint/2010/main" val="384503572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84F3-B6C4-4EB1-0D7E-3882482C8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517C5-A1CA-FF34-05DE-15B53CB478FC}"/>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871E7B3B-10F8-340B-5DFA-4AE777E3F216}"/>
              </a:ext>
            </a:extLst>
          </p:cNvPr>
          <p:cNvSpPr>
            <a:spLocks noGrp="1"/>
          </p:cNvSpPr>
          <p:nvPr>
            <p:ph type="body" sz="quarter" idx="10"/>
          </p:nvPr>
        </p:nvSpPr>
        <p:spPr/>
        <p:txBody>
          <a:bodyPr>
            <a:normAutofit fontScale="85000" lnSpcReduction="10000"/>
          </a:bodyPr>
          <a:lstStyle/>
          <a:p>
            <a:r>
              <a:rPr lang="en-US" sz="2400" dirty="0"/>
              <a:t>Amazon S3 common scenarios</a:t>
            </a:r>
          </a:p>
        </p:txBody>
      </p:sp>
      <p:sp>
        <p:nvSpPr>
          <p:cNvPr id="4" name="Title 1">
            <a:extLst>
              <a:ext uri="{FF2B5EF4-FFF2-40B4-BE49-F238E27FC236}">
                <a16:creationId xmlns:a16="http://schemas.microsoft.com/office/drawing/2014/main" id="{7050960A-2211-3893-C87C-F128420855B3}"/>
              </a:ext>
            </a:extLst>
          </p:cNvPr>
          <p:cNvSpPr txBox="1">
            <a:spLocks/>
          </p:cNvSpPr>
          <p:nvPr/>
        </p:nvSpPr>
        <p:spPr>
          <a:xfrm>
            <a:off x="4069546" y="370254"/>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Rounded Rectangle 26" descr="Backup and storage.&#10;Application hosting.&#10;Media hosting.&#10;Software delivery.">
            <a:extLst>
              <a:ext uri="{FF2B5EF4-FFF2-40B4-BE49-F238E27FC236}">
                <a16:creationId xmlns:a16="http://schemas.microsoft.com/office/drawing/2014/main" id="{362E883C-1CA5-BE73-3237-0950728FEA35}"/>
              </a:ext>
            </a:extLst>
          </p:cNvPr>
          <p:cNvSpPr/>
          <p:nvPr/>
        </p:nvSpPr>
        <p:spPr bwMode="auto">
          <a:xfrm>
            <a:off x="2463375" y="1989459"/>
            <a:ext cx="2207494" cy="1487547"/>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Content Placeholder 3">
            <a:extLst>
              <a:ext uri="{FF2B5EF4-FFF2-40B4-BE49-F238E27FC236}">
                <a16:creationId xmlns:a16="http://schemas.microsoft.com/office/drawing/2014/main" id="{096FAF92-29EB-06CF-922B-1019630A2931}"/>
              </a:ext>
            </a:extLst>
          </p:cNvPr>
          <p:cNvSpPr txBox="1">
            <a:spLocks/>
          </p:cNvSpPr>
          <p:nvPr/>
        </p:nvSpPr>
        <p:spPr>
          <a:xfrm>
            <a:off x="2500911" y="2002510"/>
            <a:ext cx="2169959" cy="14875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pPr>
            <a:r>
              <a:rPr lang="en-US" sz="1400" dirty="0"/>
              <a:t>Backup and storage</a:t>
            </a:r>
          </a:p>
          <a:p>
            <a:pPr>
              <a:lnSpc>
                <a:spcPct val="150000"/>
              </a:lnSpc>
              <a:spcBef>
                <a:spcPts val="0"/>
              </a:spcBef>
            </a:pPr>
            <a:r>
              <a:rPr lang="en-US" sz="1400" dirty="0"/>
              <a:t>Application hosting</a:t>
            </a:r>
          </a:p>
          <a:p>
            <a:pPr>
              <a:lnSpc>
                <a:spcPct val="150000"/>
              </a:lnSpc>
              <a:spcBef>
                <a:spcPts val="0"/>
              </a:spcBef>
            </a:pPr>
            <a:r>
              <a:rPr lang="en-US" sz="1400" dirty="0"/>
              <a:t>Media hosting</a:t>
            </a:r>
          </a:p>
          <a:p>
            <a:pPr>
              <a:lnSpc>
                <a:spcPct val="150000"/>
              </a:lnSpc>
              <a:spcBef>
                <a:spcPts val="0"/>
              </a:spcBef>
            </a:pPr>
            <a:r>
              <a:rPr lang="en-US" sz="1400" dirty="0"/>
              <a:t>Software delivery</a:t>
            </a:r>
          </a:p>
        </p:txBody>
      </p:sp>
      <p:sp>
        <p:nvSpPr>
          <p:cNvPr id="7" name="Rounded Rectangle 4">
            <a:extLst>
              <a:ext uri="{FF2B5EF4-FFF2-40B4-BE49-F238E27FC236}">
                <a16:creationId xmlns:a16="http://schemas.microsoft.com/office/drawing/2014/main" id="{82D8CE21-8373-4FDF-103C-961A0060D14D}"/>
              </a:ext>
              <a:ext uri="{C183D7F6-B498-43B3-948B-1728B52AA6E4}">
                <adec:decorative xmlns:adec="http://schemas.microsoft.com/office/drawing/2017/decorative" val="1"/>
              </a:ext>
            </a:extLst>
          </p:cNvPr>
          <p:cNvSpPr/>
          <p:nvPr/>
        </p:nvSpPr>
        <p:spPr bwMode="auto">
          <a:xfrm>
            <a:off x="5562601" y="2901234"/>
            <a:ext cx="3371265" cy="2307368"/>
          </a:xfrm>
          <a:prstGeom prst="roundRect">
            <a:avLst>
              <a:gd name="adj" fmla="val 12690"/>
            </a:avLst>
          </a:prstGeom>
          <a:solidFill>
            <a:srgbClr val="EFFBFB"/>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a:gradFill>
                <a:gsLst>
                  <a:gs pos="0">
                    <a:srgbClr val="FFFFFF"/>
                  </a:gs>
                  <a:gs pos="100000">
                    <a:srgbClr val="FFFFFF"/>
                  </a:gs>
                </a:gsLst>
                <a:lin ang="5400000" scaled="0"/>
              </a:gradFill>
              <a:ea typeface="Segoe UI" pitchFamily="34" charset="0"/>
              <a:cs typeface="Segoe UI" pitchFamily="34" charset="0"/>
            </a:endParaRPr>
          </a:p>
        </p:txBody>
      </p:sp>
      <p:grpSp>
        <p:nvGrpSpPr>
          <p:cNvPr id="8" name="Group 7" descr="collection of s3 buckets with objects.">
            <a:extLst>
              <a:ext uri="{FF2B5EF4-FFF2-40B4-BE49-F238E27FC236}">
                <a16:creationId xmlns:a16="http://schemas.microsoft.com/office/drawing/2014/main" id="{09C4C9E6-C2C2-7FE0-4974-2875C72B885F}"/>
              </a:ext>
            </a:extLst>
          </p:cNvPr>
          <p:cNvGrpSpPr/>
          <p:nvPr/>
        </p:nvGrpSpPr>
        <p:grpSpPr>
          <a:xfrm>
            <a:off x="6685282" y="3249304"/>
            <a:ext cx="1125900" cy="1425143"/>
            <a:chOff x="7091272" y="3066927"/>
            <a:chExt cx="1784576" cy="1825811"/>
          </a:xfrm>
        </p:grpSpPr>
        <p:pic>
          <p:nvPicPr>
            <p:cNvPr id="9" name="Graphic 38" descr="s3 bucket with objects.">
              <a:extLst>
                <a:ext uri="{FF2B5EF4-FFF2-40B4-BE49-F238E27FC236}">
                  <a16:creationId xmlns:a16="http://schemas.microsoft.com/office/drawing/2014/main" id="{7F0F345A-53A9-FA23-C563-5EA8496FE273}"/>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722" y="3070801"/>
              <a:ext cx="760824" cy="760824"/>
            </a:xfrm>
            <a:prstGeom prst="rect">
              <a:avLst/>
            </a:prstGeom>
          </p:spPr>
        </p:pic>
        <p:pic>
          <p:nvPicPr>
            <p:cNvPr id="10" name="Graphic 38" descr="s3 bucket with objects.">
              <a:extLst>
                <a:ext uri="{FF2B5EF4-FFF2-40B4-BE49-F238E27FC236}">
                  <a16:creationId xmlns:a16="http://schemas.microsoft.com/office/drawing/2014/main" id="{A39BBC40-FFF2-F2D6-F8F2-E1D93CB0A774}"/>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024" y="3066927"/>
              <a:ext cx="760824" cy="760824"/>
            </a:xfrm>
            <a:prstGeom prst="rect">
              <a:avLst/>
            </a:prstGeom>
          </p:spPr>
        </p:pic>
        <p:pic>
          <p:nvPicPr>
            <p:cNvPr id="11" name="Graphic 38" descr="s3 bucket with objects.">
              <a:extLst>
                <a:ext uri="{FF2B5EF4-FFF2-40B4-BE49-F238E27FC236}">
                  <a16:creationId xmlns:a16="http://schemas.microsoft.com/office/drawing/2014/main" id="{32717028-AFA5-23E1-F40F-860EB524033D}"/>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1272" y="4131914"/>
              <a:ext cx="760824" cy="760824"/>
            </a:xfrm>
            <a:prstGeom prst="rect">
              <a:avLst/>
            </a:prstGeom>
          </p:spPr>
        </p:pic>
        <p:pic>
          <p:nvPicPr>
            <p:cNvPr id="12" name="Graphic 38" descr="s3 bucket with objects.">
              <a:extLst>
                <a:ext uri="{FF2B5EF4-FFF2-40B4-BE49-F238E27FC236}">
                  <a16:creationId xmlns:a16="http://schemas.microsoft.com/office/drawing/2014/main" id="{986B805D-BC35-D5F0-2C32-885F678DF93A}"/>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024" y="4131914"/>
              <a:ext cx="760824" cy="760824"/>
            </a:xfrm>
            <a:prstGeom prst="rect">
              <a:avLst/>
            </a:prstGeom>
          </p:spPr>
        </p:pic>
      </p:grpSp>
      <p:sp>
        <p:nvSpPr>
          <p:cNvPr id="13" name="TextBox 33">
            <a:extLst>
              <a:ext uri="{FF2B5EF4-FFF2-40B4-BE49-F238E27FC236}">
                <a16:creationId xmlns:a16="http://schemas.microsoft.com/office/drawing/2014/main" id="{57990F2D-117D-07C8-2392-08FBD90793CB}"/>
              </a:ext>
            </a:extLst>
          </p:cNvPr>
          <p:cNvSpPr txBox="1">
            <a:spLocks noChangeArrowheads="1"/>
          </p:cNvSpPr>
          <p:nvPr/>
        </p:nvSpPr>
        <p:spPr bwMode="auto">
          <a:xfrm>
            <a:off x="6542587" y="3789040"/>
            <a:ext cx="1577173" cy="276999"/>
          </a:xfrm>
          <a:prstGeom prst="rect">
            <a:avLst/>
          </a:prstGeom>
          <a:noFill/>
          <a:ln w="9525">
            <a:noFill/>
            <a:miter lim="800000"/>
            <a:headEnd/>
            <a:tailEnd/>
          </a:ln>
        </p:spPr>
        <p:txBody>
          <a:bodyPr wrap="square">
            <a:spAutoFit/>
          </a:bodyPr>
          <a:lstStyle/>
          <a:p>
            <a:pPr algn="ctr"/>
            <a:r>
              <a:rPr lang="en-US" sz="1200" dirty="0">
                <a:latin typeface="Amazon Ember" panose="02000000000000000000" pitchFamily="2" charset="0"/>
                <a:ea typeface="Amazon Ember" panose="02000000000000000000" pitchFamily="2" charset="0"/>
                <a:cs typeface="Helvetica Neue"/>
              </a:rPr>
              <a:t>Amazon S3 buckets</a:t>
            </a:r>
          </a:p>
        </p:txBody>
      </p:sp>
      <p:grpSp>
        <p:nvGrpSpPr>
          <p:cNvPr id="14" name="Group 13" descr="Corporate data center.">
            <a:extLst>
              <a:ext uri="{FF2B5EF4-FFF2-40B4-BE49-F238E27FC236}">
                <a16:creationId xmlns:a16="http://schemas.microsoft.com/office/drawing/2014/main" id="{192C4BD5-2518-C8A9-3A3B-34DF054BD4D5}"/>
              </a:ext>
            </a:extLst>
          </p:cNvPr>
          <p:cNvGrpSpPr/>
          <p:nvPr/>
        </p:nvGrpSpPr>
        <p:grpSpPr>
          <a:xfrm>
            <a:off x="6097931" y="5050930"/>
            <a:ext cx="1276199" cy="1306307"/>
            <a:chOff x="5647672" y="4937078"/>
            <a:chExt cx="1528127" cy="1371711"/>
          </a:xfrm>
        </p:grpSpPr>
        <p:sp>
          <p:nvSpPr>
            <p:cNvPr id="15" name="Rounded Rectangle 33">
              <a:extLst>
                <a:ext uri="{FF2B5EF4-FFF2-40B4-BE49-F238E27FC236}">
                  <a16:creationId xmlns:a16="http://schemas.microsoft.com/office/drawing/2014/main" id="{D3E654C1-BF29-9440-232C-429D86956255}"/>
                </a:ext>
              </a:extLst>
            </p:cNvPr>
            <p:cNvSpPr/>
            <p:nvPr/>
          </p:nvSpPr>
          <p:spPr>
            <a:xfrm>
              <a:off x="5695456" y="4937078"/>
              <a:ext cx="1432560" cy="1371711"/>
            </a:xfrm>
            <a:prstGeom prst="roundRect">
              <a:avLst>
                <a:gd name="adj" fmla="val 9818"/>
              </a:avLst>
            </a:prstGeom>
            <a:solidFill>
              <a:srgbClr val="EBF4FB"/>
            </a:solidFill>
            <a:ln w="2857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chemeClr val="tx1"/>
                </a:solidFill>
                <a:latin typeface="Arial"/>
                <a:cs typeface="Arial"/>
              </a:endParaRPr>
            </a:p>
          </p:txBody>
        </p:sp>
        <p:sp>
          <p:nvSpPr>
            <p:cNvPr id="16" name="TextBox 37">
              <a:extLst>
                <a:ext uri="{FF2B5EF4-FFF2-40B4-BE49-F238E27FC236}">
                  <a16:creationId xmlns:a16="http://schemas.microsoft.com/office/drawing/2014/main" id="{E424EF85-D090-1D30-D6FF-19D20A1E9E93}"/>
                </a:ext>
              </a:extLst>
            </p:cNvPr>
            <p:cNvSpPr txBox="1">
              <a:spLocks noChangeArrowheads="1"/>
            </p:cNvSpPr>
            <p:nvPr/>
          </p:nvSpPr>
          <p:spPr bwMode="auto">
            <a:xfrm>
              <a:off x="5647672" y="4991859"/>
              <a:ext cx="1528127" cy="484780"/>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09585">
                <a:defRPr/>
              </a:pPr>
              <a:r>
                <a:rPr lang="en-US" sz="1200" dirty="0">
                  <a:latin typeface="Amazon Ember" panose="02000000000000000000" pitchFamily="2" charset="0"/>
                  <a:ea typeface="Amazon Ember" panose="02000000000000000000" pitchFamily="2" charset="0"/>
                  <a:cs typeface="Arial"/>
                </a:rPr>
                <a:t>Corporate</a:t>
              </a:r>
              <a:br>
                <a:rPr lang="en-US" sz="1200" dirty="0">
                  <a:latin typeface="Amazon Ember" panose="02000000000000000000" pitchFamily="2" charset="0"/>
                  <a:ea typeface="Amazon Ember" panose="02000000000000000000" pitchFamily="2" charset="0"/>
                  <a:cs typeface="Arial"/>
                </a:rPr>
              </a:br>
              <a:r>
                <a:rPr lang="en-US" sz="1200" dirty="0">
                  <a:latin typeface="Amazon Ember" panose="02000000000000000000" pitchFamily="2" charset="0"/>
                  <a:ea typeface="Amazon Ember" panose="02000000000000000000" pitchFamily="2" charset="0"/>
                  <a:cs typeface="Arial"/>
                </a:rPr>
                <a:t>data center</a:t>
              </a:r>
            </a:p>
          </p:txBody>
        </p:sp>
        <p:pic>
          <p:nvPicPr>
            <p:cNvPr id="17" name="Picture 16">
              <a:extLst>
                <a:ext uri="{FF2B5EF4-FFF2-40B4-BE49-F238E27FC236}">
                  <a16:creationId xmlns:a16="http://schemas.microsoft.com/office/drawing/2014/main" id="{7381232F-8D85-31C9-0603-33C8F3BD72EF}"/>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l="26852" t="10397" r="17500" b="8174"/>
            <a:stretch/>
          </p:blipFill>
          <p:spPr>
            <a:xfrm>
              <a:off x="5940621" y="5447234"/>
              <a:ext cx="942230" cy="804266"/>
            </a:xfrm>
            <a:prstGeom prst="rect">
              <a:avLst/>
            </a:prstGeom>
          </p:spPr>
        </p:pic>
      </p:grpSp>
      <p:grpSp>
        <p:nvGrpSpPr>
          <p:cNvPr id="18" name="Group 17" descr="ec2 instances.">
            <a:extLst>
              <a:ext uri="{FF2B5EF4-FFF2-40B4-BE49-F238E27FC236}">
                <a16:creationId xmlns:a16="http://schemas.microsoft.com/office/drawing/2014/main" id="{1A0D0245-0B9E-D853-892A-5523839E3C69}"/>
              </a:ext>
            </a:extLst>
          </p:cNvPr>
          <p:cNvGrpSpPr/>
          <p:nvPr/>
        </p:nvGrpSpPr>
        <p:grpSpPr>
          <a:xfrm>
            <a:off x="4069546" y="4811719"/>
            <a:ext cx="709992" cy="996293"/>
            <a:chOff x="4622685" y="4283351"/>
            <a:chExt cx="1125353" cy="1276393"/>
          </a:xfrm>
        </p:grpSpPr>
        <p:sp>
          <p:nvSpPr>
            <p:cNvPr id="19" name="Rectangle 18">
              <a:extLst>
                <a:ext uri="{FF2B5EF4-FFF2-40B4-BE49-F238E27FC236}">
                  <a16:creationId xmlns:a16="http://schemas.microsoft.com/office/drawing/2014/main" id="{57ABD218-E3B4-0000-F262-5687BA971261}"/>
                </a:ext>
              </a:extLst>
            </p:cNvPr>
            <p:cNvSpPr/>
            <p:nvPr/>
          </p:nvSpPr>
          <p:spPr>
            <a:xfrm>
              <a:off x="4622685" y="4283351"/>
              <a:ext cx="1125353" cy="1276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20" name="Graphic 19" descr="ec2 instances.">
              <a:extLst>
                <a:ext uri="{FF2B5EF4-FFF2-40B4-BE49-F238E27FC236}">
                  <a16:creationId xmlns:a16="http://schemas.microsoft.com/office/drawing/2014/main" id="{2394579E-1983-B0A7-DE00-02E8347047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36721" y="4372907"/>
              <a:ext cx="1097280" cy="1097280"/>
            </a:xfrm>
            <a:prstGeom prst="rect">
              <a:avLst/>
            </a:prstGeom>
          </p:spPr>
        </p:pic>
      </p:grpSp>
      <p:sp>
        <p:nvSpPr>
          <p:cNvPr id="21" name="TextBox 33">
            <a:extLst>
              <a:ext uri="{FF2B5EF4-FFF2-40B4-BE49-F238E27FC236}">
                <a16:creationId xmlns:a16="http://schemas.microsoft.com/office/drawing/2014/main" id="{79203A63-D4EB-5DDF-3172-FE3119EFD76E}"/>
              </a:ext>
            </a:extLst>
          </p:cNvPr>
          <p:cNvSpPr txBox="1">
            <a:spLocks noChangeArrowheads="1"/>
          </p:cNvSpPr>
          <p:nvPr/>
        </p:nvSpPr>
        <p:spPr bwMode="auto">
          <a:xfrm>
            <a:off x="3908830" y="5860552"/>
            <a:ext cx="998578" cy="646331"/>
          </a:xfrm>
          <a:prstGeom prst="rect">
            <a:avLst/>
          </a:prstGeom>
          <a:noFill/>
          <a:ln w="9525">
            <a:noFill/>
            <a:miter lim="800000"/>
            <a:headEnd/>
            <a:tailEnd/>
          </a:ln>
        </p:spPr>
        <p:txBody>
          <a:bodyPr wrap="square">
            <a:spAutoFit/>
          </a:bodyPr>
          <a:lstStyle/>
          <a:p>
            <a:pPr algn="ctr"/>
            <a:r>
              <a:rPr lang="en-US" sz="1200" dirty="0">
                <a:latin typeface="Amazon Ember" panose="02000000000000000000" pitchFamily="2" charset="0"/>
                <a:ea typeface="Amazon Ember" panose="02000000000000000000" pitchFamily="2" charset="0"/>
                <a:cs typeface="Arial"/>
              </a:rPr>
              <a:t>Amazon </a:t>
            </a:r>
            <a:br>
              <a:rPr lang="en-US" sz="1200" dirty="0">
                <a:latin typeface="Amazon Ember" panose="02000000000000000000" pitchFamily="2" charset="0"/>
                <a:ea typeface="Amazon Ember" panose="02000000000000000000" pitchFamily="2" charset="0"/>
                <a:cs typeface="Arial"/>
              </a:rPr>
            </a:br>
            <a:r>
              <a:rPr lang="en-US" sz="1200" dirty="0">
                <a:latin typeface="Amazon Ember" panose="02000000000000000000" pitchFamily="2" charset="0"/>
                <a:ea typeface="Amazon Ember" panose="02000000000000000000" pitchFamily="2" charset="0"/>
                <a:cs typeface="Arial"/>
              </a:rPr>
              <a:t>EC2</a:t>
            </a:r>
            <a:br>
              <a:rPr lang="en-US" sz="1200" dirty="0">
                <a:latin typeface="Amazon Ember" panose="02000000000000000000" pitchFamily="2" charset="0"/>
                <a:ea typeface="Amazon Ember" panose="02000000000000000000" pitchFamily="2" charset="0"/>
                <a:cs typeface="Arial"/>
              </a:rPr>
            </a:br>
            <a:r>
              <a:rPr lang="en-US" sz="1200" dirty="0">
                <a:latin typeface="Amazon Ember" panose="02000000000000000000" pitchFamily="2" charset="0"/>
                <a:ea typeface="Amazon Ember" panose="02000000000000000000" pitchFamily="2" charset="0"/>
                <a:cs typeface="Arial"/>
              </a:rPr>
              <a:t>instances</a:t>
            </a:r>
          </a:p>
        </p:txBody>
      </p:sp>
      <p:cxnSp>
        <p:nvCxnSpPr>
          <p:cNvPr id="22" name="Straight Arrow Connector 21">
            <a:extLst>
              <a:ext uri="{FF2B5EF4-FFF2-40B4-BE49-F238E27FC236}">
                <a16:creationId xmlns:a16="http://schemas.microsoft.com/office/drawing/2014/main" id="{B6571F54-53E5-1792-A0F6-C5145A9A44FC}"/>
              </a:ext>
              <a:ext uri="{C183D7F6-B498-43B3-948B-1728B52AA6E4}">
                <adec:decorative xmlns:adec="http://schemas.microsoft.com/office/drawing/2017/decorative" val="1"/>
              </a:ext>
            </a:extLst>
          </p:cNvPr>
          <p:cNvCxnSpPr>
            <a:cxnSpLocks/>
          </p:cNvCxnSpPr>
          <p:nvPr/>
        </p:nvCxnSpPr>
        <p:spPr>
          <a:xfrm flipV="1">
            <a:off x="5110742" y="4710207"/>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3" name="Group 22" descr="collection of apps.">
            <a:extLst>
              <a:ext uri="{FF2B5EF4-FFF2-40B4-BE49-F238E27FC236}">
                <a16:creationId xmlns:a16="http://schemas.microsoft.com/office/drawing/2014/main" id="{BFA44765-9AAA-B745-275F-960E3D88BE9E}"/>
              </a:ext>
            </a:extLst>
          </p:cNvPr>
          <p:cNvGrpSpPr/>
          <p:nvPr/>
        </p:nvGrpSpPr>
        <p:grpSpPr>
          <a:xfrm>
            <a:off x="9183528" y="1518838"/>
            <a:ext cx="1408274" cy="1876806"/>
            <a:chOff x="9408430" y="1415475"/>
            <a:chExt cx="2232143" cy="2404455"/>
          </a:xfrm>
        </p:grpSpPr>
        <p:pic>
          <p:nvPicPr>
            <p:cNvPr id="24" name="Picture 23">
              <a:extLst>
                <a:ext uri="{FF2B5EF4-FFF2-40B4-BE49-F238E27FC236}">
                  <a16:creationId xmlns:a16="http://schemas.microsoft.com/office/drawing/2014/main" id="{2E8EDC35-9DE3-DDA9-8FF2-CAE7BF17452D}"/>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08430" y="1415475"/>
              <a:ext cx="2148946" cy="1794370"/>
            </a:xfrm>
            <a:prstGeom prst="rect">
              <a:avLst/>
            </a:prstGeom>
          </p:spPr>
        </p:pic>
        <p:pic>
          <p:nvPicPr>
            <p:cNvPr id="25" name="Picture 24">
              <a:extLst>
                <a:ext uri="{FF2B5EF4-FFF2-40B4-BE49-F238E27FC236}">
                  <a16:creationId xmlns:a16="http://schemas.microsoft.com/office/drawing/2014/main" id="{FAF832FC-3907-D29D-5B5A-2CE705DAB81C}"/>
                </a:ext>
                <a:ext uri="{C183D7F6-B498-43B3-948B-1728B52AA6E4}">
                  <adec:decorative xmlns:adec="http://schemas.microsoft.com/office/drawing/2017/decorative" val="1"/>
                </a:ext>
              </a:extLst>
            </p:cNvPr>
            <p:cNvPicPr>
              <a:picLocks noChangeAspect="1"/>
            </p:cNvPicPr>
            <p:nvPr/>
          </p:nvPicPr>
          <p:blipFill rotWithShape="1">
            <a:blip r:embed="rId8">
              <a:extLst>
                <a:ext uri="{28A0092B-C50C-407E-A947-70E740481C1C}">
                  <a14:useLocalDpi xmlns:a14="http://schemas.microsoft.com/office/drawing/2010/main" val="0"/>
                </a:ext>
              </a:extLst>
            </a:blip>
            <a:srcRect l="38697" t="19801" r="34066" b="17723"/>
            <a:stretch/>
          </p:blipFill>
          <p:spPr>
            <a:xfrm>
              <a:off x="10491503" y="2282444"/>
              <a:ext cx="1149070" cy="1537486"/>
            </a:xfrm>
            <a:prstGeom prst="rect">
              <a:avLst/>
            </a:prstGeom>
          </p:spPr>
        </p:pic>
      </p:grpSp>
      <p:cxnSp>
        <p:nvCxnSpPr>
          <p:cNvPr id="26" name="Straight Arrow Connector 25">
            <a:extLst>
              <a:ext uri="{FF2B5EF4-FFF2-40B4-BE49-F238E27FC236}">
                <a16:creationId xmlns:a16="http://schemas.microsoft.com/office/drawing/2014/main" id="{FAE7F68C-66E1-AF5C-053E-C8C4505C79DB}"/>
              </a:ext>
              <a:ext uri="{C183D7F6-B498-43B3-948B-1728B52AA6E4}">
                <adec:decorative xmlns:adec="http://schemas.microsoft.com/office/drawing/2017/decorative" val="1"/>
              </a:ext>
            </a:extLst>
          </p:cNvPr>
          <p:cNvCxnSpPr>
            <a:cxnSpLocks/>
          </p:cNvCxnSpPr>
          <p:nvPr/>
        </p:nvCxnSpPr>
        <p:spPr>
          <a:xfrm flipV="1">
            <a:off x="8010893" y="2857092"/>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7" name="Picture 26" descr="camera.">
            <a:extLst>
              <a:ext uri="{FF2B5EF4-FFF2-40B4-BE49-F238E27FC236}">
                <a16:creationId xmlns:a16="http://schemas.microsoft.com/office/drawing/2014/main" id="{BB26C914-3D6C-8E46-B2C9-D483E48917ED}"/>
              </a:ext>
            </a:extLst>
          </p:cNvPr>
          <p:cNvPicPr>
            <a:picLocks noChangeAspect="1"/>
          </p:cNvPicPr>
          <p:nvPr/>
        </p:nvPicPr>
        <p:blipFill>
          <a:blip r:embed="rId9"/>
          <a:stretch>
            <a:fillRect/>
          </a:stretch>
        </p:blipFill>
        <p:spPr>
          <a:xfrm>
            <a:off x="4711145" y="1900294"/>
            <a:ext cx="1135964" cy="774348"/>
          </a:xfrm>
          <a:prstGeom prst="rect">
            <a:avLst/>
          </a:prstGeom>
        </p:spPr>
      </p:pic>
      <p:cxnSp>
        <p:nvCxnSpPr>
          <p:cNvPr id="28" name="Straight Arrow Connector 27">
            <a:extLst>
              <a:ext uri="{FF2B5EF4-FFF2-40B4-BE49-F238E27FC236}">
                <a16:creationId xmlns:a16="http://schemas.microsoft.com/office/drawing/2014/main" id="{B627BBC6-169A-765E-036E-231F9A088402}"/>
              </a:ext>
              <a:ext uri="{C183D7F6-B498-43B3-948B-1728B52AA6E4}">
                <adec:decorative xmlns:adec="http://schemas.microsoft.com/office/drawing/2017/decorative" val="1"/>
              </a:ext>
            </a:extLst>
          </p:cNvPr>
          <p:cNvCxnSpPr>
            <a:cxnSpLocks/>
          </p:cNvCxnSpPr>
          <p:nvPr/>
        </p:nvCxnSpPr>
        <p:spPr>
          <a:xfrm>
            <a:off x="5464834" y="2768776"/>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9" name="Picture 28" descr="computer.">
            <a:extLst>
              <a:ext uri="{FF2B5EF4-FFF2-40B4-BE49-F238E27FC236}">
                <a16:creationId xmlns:a16="http://schemas.microsoft.com/office/drawing/2014/main" id="{E956E3E8-DCF1-484D-645E-C82982FED83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41854" y="4871895"/>
            <a:ext cx="1567484" cy="1567484"/>
          </a:xfrm>
          <a:prstGeom prst="rect">
            <a:avLst/>
          </a:prstGeom>
        </p:spPr>
      </p:pic>
      <p:cxnSp>
        <p:nvCxnSpPr>
          <p:cNvPr id="30" name="Straight Arrow Connector 29">
            <a:extLst>
              <a:ext uri="{FF2B5EF4-FFF2-40B4-BE49-F238E27FC236}">
                <a16:creationId xmlns:a16="http://schemas.microsoft.com/office/drawing/2014/main" id="{5A68C77E-7596-FDA7-CD3F-D8E41BF5CE03}"/>
              </a:ext>
              <a:ext uri="{C183D7F6-B498-43B3-948B-1728B52AA6E4}">
                <adec:decorative xmlns:adec="http://schemas.microsoft.com/office/drawing/2017/decorative" val="1"/>
              </a:ext>
            </a:extLst>
          </p:cNvPr>
          <p:cNvCxnSpPr>
            <a:cxnSpLocks/>
          </p:cNvCxnSpPr>
          <p:nvPr/>
        </p:nvCxnSpPr>
        <p:spPr>
          <a:xfrm>
            <a:off x="7811182" y="4718588"/>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370809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CBBF0-01E4-F079-FB27-B87C1C4EA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A8832-3399-D9ED-2908-2FA14E53F368}"/>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A850C492-9AA1-E507-40B4-967B2878A6D6}"/>
              </a:ext>
            </a:extLst>
          </p:cNvPr>
          <p:cNvSpPr>
            <a:spLocks noGrp="1"/>
          </p:cNvSpPr>
          <p:nvPr>
            <p:ph type="body" sz="quarter" idx="10"/>
          </p:nvPr>
        </p:nvSpPr>
        <p:spPr/>
        <p:txBody>
          <a:bodyPr>
            <a:normAutofit lnSpcReduction="10000"/>
          </a:bodyPr>
          <a:lstStyle/>
          <a:p>
            <a:r>
              <a:rPr lang="en-US" sz="2400" dirty="0"/>
              <a:t>Amazon S3 pricing </a:t>
            </a:r>
          </a:p>
        </p:txBody>
      </p:sp>
      <p:sp>
        <p:nvSpPr>
          <p:cNvPr id="4" name="Title 1">
            <a:extLst>
              <a:ext uri="{FF2B5EF4-FFF2-40B4-BE49-F238E27FC236}">
                <a16:creationId xmlns:a16="http://schemas.microsoft.com/office/drawing/2014/main" id="{0F1A9576-22D6-8EF2-6D64-31CE606AEEAF}"/>
              </a:ext>
            </a:extLst>
          </p:cNvPr>
          <p:cNvSpPr txBox="1">
            <a:spLocks/>
          </p:cNvSpPr>
          <p:nvPr/>
        </p:nvSpPr>
        <p:spPr>
          <a:xfrm>
            <a:off x="38862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63D33A2E-1D13-4110-65C3-A29C840370C1}"/>
              </a:ext>
            </a:extLst>
          </p:cNvPr>
          <p:cNvSpPr txBox="1">
            <a:spLocks/>
          </p:cNvSpPr>
          <p:nvPr/>
        </p:nvSpPr>
        <p:spPr>
          <a:xfrm>
            <a:off x="2590800" y="1752600"/>
            <a:ext cx="7620000" cy="483710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Bef>
                <a:spcPts val="1200"/>
              </a:spcBef>
              <a:spcAft>
                <a:spcPts val="800"/>
              </a:spcAft>
            </a:pPr>
            <a:r>
              <a:rPr lang="en-US" dirty="0"/>
              <a:t>Pay only for what you use, including </a:t>
            </a:r>
          </a:p>
          <a:p>
            <a:pPr marL="914400" lvl="1" indent="-457200" algn="just">
              <a:lnSpc>
                <a:spcPct val="120000"/>
              </a:lnSpc>
              <a:spcBef>
                <a:spcPts val="1200"/>
              </a:spcBef>
            </a:pPr>
            <a:r>
              <a:rPr lang="en-US" dirty="0"/>
              <a:t>GBs per month</a:t>
            </a:r>
          </a:p>
          <a:p>
            <a:pPr marL="914400" lvl="1" indent="-457200" algn="just">
              <a:lnSpc>
                <a:spcPct val="120000"/>
              </a:lnSpc>
              <a:spcBef>
                <a:spcPts val="1200"/>
              </a:spcBef>
            </a:pPr>
            <a:r>
              <a:rPr lang="en-US" dirty="0"/>
              <a:t>Transfer OUT to other Regions</a:t>
            </a:r>
          </a:p>
          <a:p>
            <a:pPr marL="914400" lvl="1" indent="-457200" algn="just">
              <a:lnSpc>
                <a:spcPct val="120000"/>
              </a:lnSpc>
              <a:spcBef>
                <a:spcPts val="1200"/>
              </a:spcBef>
            </a:pPr>
            <a:r>
              <a:rPr lang="en-US" dirty="0"/>
              <a:t>PUT, COPY, POST, LIST, and GET requests</a:t>
            </a:r>
          </a:p>
          <a:p>
            <a:pPr indent="-457200" algn="just">
              <a:spcBef>
                <a:spcPts val="1200"/>
              </a:spcBef>
              <a:spcAft>
                <a:spcPts val="800"/>
              </a:spcAft>
            </a:pPr>
            <a:r>
              <a:rPr lang="en-US" dirty="0"/>
              <a:t>You do not pay for </a:t>
            </a:r>
          </a:p>
          <a:p>
            <a:pPr marL="914400" lvl="1" indent="-457200" algn="just">
              <a:lnSpc>
                <a:spcPct val="120000"/>
              </a:lnSpc>
              <a:spcBef>
                <a:spcPts val="1200"/>
              </a:spcBef>
            </a:pPr>
            <a:r>
              <a:rPr lang="en-US" dirty="0"/>
              <a:t>Transfers IN to Amazon S3</a:t>
            </a:r>
          </a:p>
          <a:p>
            <a:pPr marL="914400" lvl="1" indent="-457200" algn="just">
              <a:lnSpc>
                <a:spcPct val="120000"/>
              </a:lnSpc>
              <a:spcBef>
                <a:spcPts val="1200"/>
              </a:spcBef>
            </a:pPr>
            <a:r>
              <a:rPr lang="en-US" dirty="0"/>
              <a:t>Transfers OUT from Amazon S3 to Amazon CloudFront or Amazon EC2 in the same Region</a:t>
            </a:r>
          </a:p>
        </p:txBody>
      </p:sp>
    </p:spTree>
    <p:extLst>
      <p:ext uri="{BB962C8B-B14F-4D97-AF65-F5344CB8AC3E}">
        <p14:creationId xmlns:p14="http://schemas.microsoft.com/office/powerpoint/2010/main" val="213229019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3D24E-F3B4-B953-654A-C271CE262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2878A-50CB-E35D-D963-B443CF848E2B}"/>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3A1543D5-911E-02EF-DEBD-5ADB71FB409C}"/>
              </a:ext>
            </a:extLst>
          </p:cNvPr>
          <p:cNvSpPr>
            <a:spLocks noGrp="1"/>
          </p:cNvSpPr>
          <p:nvPr>
            <p:ph type="body" sz="quarter" idx="10"/>
          </p:nvPr>
        </p:nvSpPr>
        <p:spPr/>
        <p:txBody>
          <a:bodyPr>
            <a:normAutofit lnSpcReduction="10000"/>
          </a:bodyPr>
          <a:lstStyle/>
          <a:p>
            <a:r>
              <a:rPr lang="en-US" sz="2400" dirty="0"/>
              <a:t>Amazon S3 pricing </a:t>
            </a:r>
          </a:p>
        </p:txBody>
      </p:sp>
      <p:sp>
        <p:nvSpPr>
          <p:cNvPr id="4" name="Title 1">
            <a:extLst>
              <a:ext uri="{FF2B5EF4-FFF2-40B4-BE49-F238E27FC236}">
                <a16:creationId xmlns:a16="http://schemas.microsoft.com/office/drawing/2014/main" id="{471747DB-5E21-CDCE-63D7-4230AF84E177}"/>
              </a:ext>
            </a:extLst>
          </p:cNvPr>
          <p:cNvSpPr txBox="1">
            <a:spLocks/>
          </p:cNvSpPr>
          <p:nvPr/>
        </p:nvSpPr>
        <p:spPr>
          <a:xfrm>
            <a:off x="38862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2B0B9A00-F4B6-082E-0225-F41466CB55F2}"/>
              </a:ext>
            </a:extLst>
          </p:cNvPr>
          <p:cNvSpPr txBox="1">
            <a:spLocks/>
          </p:cNvSpPr>
          <p:nvPr/>
        </p:nvSpPr>
        <p:spPr>
          <a:xfrm>
            <a:off x="2652100" y="1828800"/>
            <a:ext cx="7787300" cy="480118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200"/>
              </a:spcBef>
              <a:buNone/>
            </a:pPr>
            <a:r>
              <a:rPr lang="en-US" dirty="0">
                <a:latin typeface="Open Sans" panose="020B0606030504020204" pitchFamily="34" charset="0"/>
                <a:ea typeface="Open Sans" panose="020B0606030504020204" pitchFamily="34" charset="0"/>
                <a:cs typeface="Open Sans" panose="020B0606030504020204" pitchFamily="34" charset="0"/>
              </a:rPr>
              <a:t>To estimate Amazon S3 costs, consider the following:</a:t>
            </a:r>
          </a:p>
          <a:p>
            <a:pPr marL="514350" indent="-514350" algn="just">
              <a:spcBef>
                <a:spcPts val="1200"/>
              </a:spcBef>
              <a:buFont typeface="+mj-lt"/>
              <a:buAutoNum type="arabicPeriod"/>
            </a:pPr>
            <a:r>
              <a:rPr lang="en-US" b="1" dirty="0">
                <a:solidFill>
                  <a:srgbClr val="0070C0"/>
                </a:solidFill>
                <a:latin typeface="Open Sans" panose="020B0606030504020204" pitchFamily="34" charset="0"/>
                <a:ea typeface="Open Sans" panose="020B0606030504020204" pitchFamily="34" charset="0"/>
                <a:cs typeface="Open Sans" panose="020B0606030504020204" pitchFamily="34" charset="0"/>
              </a:rPr>
              <a:t>Storage class type </a:t>
            </a:r>
          </a:p>
          <a:p>
            <a:pPr marL="922338" lvl="1"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Standard storage is designed for:</a:t>
            </a:r>
          </a:p>
          <a:p>
            <a:pPr marL="1384300" lvl="2" indent="-469900"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11 9s of durability</a:t>
            </a:r>
          </a:p>
          <a:p>
            <a:pPr marL="1384300" lvl="2" indent="-469900"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Four 9s of availability</a:t>
            </a:r>
          </a:p>
          <a:p>
            <a:pPr marL="981075" lvl="1" indent="-523875"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S3 Standard-Infrequent Access (S-IA) is designed for:</a:t>
            </a:r>
          </a:p>
          <a:p>
            <a:pPr marL="1384300" lvl="2" indent="-469900"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11 9s of durability</a:t>
            </a:r>
          </a:p>
          <a:p>
            <a:pPr marL="1384300" lvl="2" indent="-469900"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Three 9s of availability</a:t>
            </a:r>
          </a:p>
          <a:p>
            <a:pPr marL="514350" indent="-514350" algn="just">
              <a:spcBef>
                <a:spcPts val="1200"/>
              </a:spcBef>
              <a:buFont typeface="+mj-lt"/>
              <a:buAutoNum type="arabicPeriod"/>
            </a:pPr>
            <a:r>
              <a:rPr lang="en-US" b="1" dirty="0">
                <a:solidFill>
                  <a:srgbClr val="0070C0"/>
                </a:solidFill>
                <a:latin typeface="Open Sans" panose="020B0606030504020204" pitchFamily="34" charset="0"/>
                <a:ea typeface="Open Sans" panose="020B0606030504020204" pitchFamily="34" charset="0"/>
                <a:cs typeface="Open Sans" panose="020B0606030504020204" pitchFamily="34" charset="0"/>
              </a:rPr>
              <a:t>Amount of storage </a:t>
            </a:r>
          </a:p>
          <a:p>
            <a:pPr marL="922338" lvl="1"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The number and size of objects</a:t>
            </a:r>
          </a:p>
          <a:p>
            <a:pPr lvl="1" algn="just">
              <a:spcBef>
                <a:spcPts val="1200"/>
              </a:spcBef>
            </a:pP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876658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5">
                                            <p:txEl>
                                              <p:pRg st="7" end="7"/>
                                            </p:txEl>
                                          </p:spTgt>
                                        </p:tgtEl>
                                        <p:attrNameLst>
                                          <p:attrName>style.color</p:attrName>
                                        </p:attrNameLst>
                                      </p:cBhvr>
                                      <p:to>
                                        <p:clrVal>
                                          <a:schemeClr val="accent2"/>
                                        </p:clrVal>
                                      </p:to>
                                    </p:set>
                                    <p:set>
                                      <p:cBhvr>
                                        <p:cTn id="49" dur="500" fill="hold"/>
                                        <p:tgtEl>
                                          <p:spTgt spid="5">
                                            <p:txEl>
                                              <p:pRg st="7" end="7"/>
                                            </p:txEl>
                                          </p:spTgt>
                                        </p:tgtEl>
                                        <p:attrNameLst>
                                          <p:attrName>fillcolor</p:attrName>
                                        </p:attrNameLst>
                                      </p:cBhvr>
                                      <p:to>
                                        <p:clrVal>
                                          <a:schemeClr val="accent2"/>
                                        </p:clrVal>
                                      </p:to>
                                    </p:set>
                                    <p:set>
                                      <p:cBhvr>
                                        <p:cTn id="50" dur="500" fill="hold"/>
                                        <p:tgtEl>
                                          <p:spTgt spid="5">
                                            <p:txEl>
                                              <p:pRg st="7" end="7"/>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5">
                                            <p:txEl>
                                              <p:pRg st="8" end="8"/>
                                            </p:txEl>
                                          </p:spTgt>
                                        </p:tgtEl>
                                        <p:attrNameLst>
                                          <p:attrName>style.color</p:attrName>
                                        </p:attrNameLst>
                                      </p:cBhvr>
                                      <p:to>
                                        <p:clrVal>
                                          <a:schemeClr val="accent2"/>
                                        </p:clrVal>
                                      </p:to>
                                    </p:set>
                                    <p:set>
                                      <p:cBhvr>
                                        <p:cTn id="55" dur="500" fill="hold"/>
                                        <p:tgtEl>
                                          <p:spTgt spid="5">
                                            <p:txEl>
                                              <p:pRg st="8" end="8"/>
                                            </p:txEl>
                                          </p:spTgt>
                                        </p:tgtEl>
                                        <p:attrNameLst>
                                          <p:attrName>fillcolor</p:attrName>
                                        </p:attrNameLst>
                                      </p:cBhvr>
                                      <p:to>
                                        <p:clrVal>
                                          <a:schemeClr val="accent2"/>
                                        </p:clrVal>
                                      </p:to>
                                    </p:set>
                                    <p:set>
                                      <p:cBhvr>
                                        <p:cTn id="56" dur="500" fill="hold"/>
                                        <p:tgtEl>
                                          <p:spTgt spid="5">
                                            <p:txEl>
                                              <p:pRg st="8" end="8"/>
                                            </p:txEl>
                                          </p:spTgt>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nodeType="clickEffect">
                                  <p:stCondLst>
                                    <p:cond delay="0"/>
                                  </p:stCondLst>
                                  <p:iterate type="lt">
                                    <p:tmPct val="4000"/>
                                  </p:iterate>
                                  <p:childTnLst>
                                    <p:set>
                                      <p:cBhvr override="childStyle">
                                        <p:cTn id="60" dur="500" fill="hold"/>
                                        <p:tgtEl>
                                          <p:spTgt spid="5">
                                            <p:txEl>
                                              <p:pRg st="9" end="9"/>
                                            </p:txEl>
                                          </p:spTgt>
                                        </p:tgtEl>
                                        <p:attrNameLst>
                                          <p:attrName>style.color</p:attrName>
                                        </p:attrNameLst>
                                      </p:cBhvr>
                                      <p:to>
                                        <p:clrVal>
                                          <a:schemeClr val="accent2"/>
                                        </p:clrVal>
                                      </p:to>
                                    </p:set>
                                    <p:set>
                                      <p:cBhvr>
                                        <p:cTn id="61" dur="500" fill="hold"/>
                                        <p:tgtEl>
                                          <p:spTgt spid="5">
                                            <p:txEl>
                                              <p:pRg st="9" end="9"/>
                                            </p:txEl>
                                          </p:spTgt>
                                        </p:tgtEl>
                                        <p:attrNameLst>
                                          <p:attrName>fillcolor</p:attrName>
                                        </p:attrNameLst>
                                      </p:cBhvr>
                                      <p:to>
                                        <p:clrVal>
                                          <a:schemeClr val="accent2"/>
                                        </p:clrVal>
                                      </p:to>
                                    </p:set>
                                    <p:set>
                                      <p:cBhvr>
                                        <p:cTn id="62" dur="500" fill="hold"/>
                                        <p:tgtEl>
                                          <p:spTgt spid="5">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CF0AA-F438-4507-1840-E2960AD7A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956EB-19F8-54F6-0C88-603A9EF9A98A}"/>
              </a:ext>
            </a:extLst>
          </p:cNvPr>
          <p:cNvSpPr>
            <a:spLocks noGrp="1"/>
          </p:cNvSpPr>
          <p:nvPr>
            <p:ph type="title"/>
          </p:nvPr>
        </p:nvSpPr>
        <p:spPr>
          <a:xfrm>
            <a:off x="1083689" y="894465"/>
            <a:ext cx="8001000" cy="255141"/>
          </a:xfrm>
        </p:spPr>
        <p:txBody>
          <a:bodyPr>
            <a:noAutofit/>
          </a:bodyPr>
          <a:lstStyle/>
          <a:p>
            <a:r>
              <a:rPr lang="en-US" sz="2400" dirty="0">
                <a:latin typeface="Tahoma" panose="020B0604030504040204" pitchFamily="34" charset="0"/>
                <a:ea typeface="Tahoma" panose="020B0604030504040204" pitchFamily="34" charset="0"/>
                <a:cs typeface="Tahoma" panose="020B0604030504040204" pitchFamily="34" charset="0"/>
              </a:rPr>
              <a:t>Amazon Simple Storage Service (Amazon S3)</a:t>
            </a:r>
            <a:endParaRPr lang="en-US" sz="2400" dirty="0"/>
          </a:p>
        </p:txBody>
      </p:sp>
      <p:sp>
        <p:nvSpPr>
          <p:cNvPr id="3" name="Text Placeholder 2">
            <a:extLst>
              <a:ext uri="{FF2B5EF4-FFF2-40B4-BE49-F238E27FC236}">
                <a16:creationId xmlns:a16="http://schemas.microsoft.com/office/drawing/2014/main" id="{AF55A019-2795-12CD-E90B-9FB0EA6F3129}"/>
              </a:ext>
            </a:extLst>
          </p:cNvPr>
          <p:cNvSpPr>
            <a:spLocks noGrp="1"/>
          </p:cNvSpPr>
          <p:nvPr>
            <p:ph type="body" sz="quarter" idx="10"/>
          </p:nvPr>
        </p:nvSpPr>
        <p:spPr/>
        <p:txBody>
          <a:bodyPr>
            <a:normAutofit lnSpcReduction="10000"/>
          </a:bodyPr>
          <a:lstStyle/>
          <a:p>
            <a:r>
              <a:rPr lang="en-US" sz="2400" dirty="0"/>
              <a:t>Amazon S3 pricing </a:t>
            </a:r>
          </a:p>
        </p:txBody>
      </p:sp>
      <p:sp>
        <p:nvSpPr>
          <p:cNvPr id="4" name="Title 1">
            <a:extLst>
              <a:ext uri="{FF2B5EF4-FFF2-40B4-BE49-F238E27FC236}">
                <a16:creationId xmlns:a16="http://schemas.microsoft.com/office/drawing/2014/main" id="{4349D6E2-C9F7-7821-4F94-3802E86AF188}"/>
              </a:ext>
            </a:extLst>
          </p:cNvPr>
          <p:cNvSpPr txBox="1">
            <a:spLocks/>
          </p:cNvSpPr>
          <p:nvPr/>
        </p:nvSpPr>
        <p:spPr>
          <a:xfrm>
            <a:off x="37338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70436D33-2BAE-1587-1238-499BC8F5C429}"/>
              </a:ext>
            </a:extLst>
          </p:cNvPr>
          <p:cNvSpPr txBox="1">
            <a:spLocks/>
          </p:cNvSpPr>
          <p:nvPr/>
        </p:nvSpPr>
        <p:spPr>
          <a:xfrm>
            <a:off x="2667000" y="1752600"/>
            <a:ext cx="7772400" cy="464878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just">
              <a:spcBef>
                <a:spcPts val="1200"/>
              </a:spcBef>
              <a:buFont typeface="+mj-lt"/>
              <a:buAutoNum type="arabicPeriod" startAt="3"/>
            </a:pPr>
            <a:r>
              <a:rPr lang="en-US" b="1" dirty="0">
                <a:solidFill>
                  <a:srgbClr val="0070C0"/>
                </a:solidFill>
                <a:latin typeface="Open Sans" panose="020B0606030504020204" pitchFamily="34" charset="0"/>
                <a:ea typeface="Open Sans" panose="020B0606030504020204" pitchFamily="34" charset="0"/>
                <a:cs typeface="Open Sans" panose="020B0606030504020204" pitchFamily="34" charset="0"/>
              </a:rPr>
              <a:t>Requests</a:t>
            </a:r>
            <a:r>
              <a:rPr lang="en-US" dirty="0">
                <a:solidFill>
                  <a:schemeClr val="accent5"/>
                </a:solidFill>
                <a:latin typeface="Open Sans" panose="020B0606030504020204" pitchFamily="34" charset="0"/>
                <a:ea typeface="Open Sans" panose="020B0606030504020204" pitchFamily="34" charset="0"/>
                <a:cs typeface="Open Sans" panose="020B0606030504020204" pitchFamily="34" charset="0"/>
              </a:rPr>
              <a:t> </a:t>
            </a:r>
          </a:p>
          <a:p>
            <a:pPr marL="922338" lvl="1"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The number and type of requests </a:t>
            </a:r>
            <a:r>
              <a:rPr lang="en-US" b="1" dirty="0">
                <a:latin typeface="Open Sans" panose="020B0606030504020204" pitchFamily="34" charset="0"/>
                <a:ea typeface="Open Sans" panose="020B0606030504020204" pitchFamily="34" charset="0"/>
                <a:cs typeface="Open Sans" panose="020B0606030504020204" pitchFamily="34" charset="0"/>
              </a:rPr>
              <a:t>(GET, PUT, COPY)</a:t>
            </a:r>
            <a:endParaRPr lang="en-US" dirty="0">
              <a:latin typeface="Open Sans" panose="020B0606030504020204" pitchFamily="34" charset="0"/>
              <a:ea typeface="Open Sans" panose="020B0606030504020204" pitchFamily="34" charset="0"/>
              <a:cs typeface="Open Sans" panose="020B0606030504020204" pitchFamily="34" charset="0"/>
            </a:endParaRPr>
          </a:p>
          <a:p>
            <a:pPr marL="922338" lvl="1"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Type of requests:</a:t>
            </a:r>
          </a:p>
          <a:p>
            <a:pPr marL="1379538" lvl="2"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Different rates for GET requests than other requests.</a:t>
            </a:r>
          </a:p>
          <a:p>
            <a:pPr marL="514350" indent="-514350" algn="just">
              <a:spcBef>
                <a:spcPts val="1200"/>
              </a:spcBef>
              <a:buFont typeface="+mj-lt"/>
              <a:buAutoNum type="arabicPeriod" startAt="3"/>
            </a:pPr>
            <a:r>
              <a:rPr lang="en-US" b="1" dirty="0">
                <a:solidFill>
                  <a:srgbClr val="0070C0"/>
                </a:solidFill>
                <a:latin typeface="Open Sans" panose="020B0606030504020204" pitchFamily="34" charset="0"/>
                <a:ea typeface="Open Sans" panose="020B0606030504020204" pitchFamily="34" charset="0"/>
                <a:cs typeface="Open Sans" panose="020B0606030504020204" pitchFamily="34" charset="0"/>
              </a:rPr>
              <a:t>Data transfer </a:t>
            </a:r>
          </a:p>
          <a:p>
            <a:pPr marL="922338" lvl="1"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Pricing is based on the amount of data that is transferred out of the Amazon S3 Region</a:t>
            </a:r>
          </a:p>
          <a:p>
            <a:pPr marL="1379538" lvl="2" indent="-465138" algn="just">
              <a:spcBef>
                <a:spcPts val="1200"/>
              </a:spcBef>
            </a:pPr>
            <a:r>
              <a:rPr lang="en-US" dirty="0">
                <a:latin typeface="Open Sans" panose="020B0606030504020204" pitchFamily="34" charset="0"/>
                <a:ea typeface="Open Sans" panose="020B0606030504020204" pitchFamily="34" charset="0"/>
                <a:cs typeface="Open Sans" panose="020B0606030504020204" pitchFamily="34" charset="0"/>
              </a:rPr>
              <a:t>Data transfer in is free, but you incur charges for data that is transferred out.</a:t>
            </a:r>
          </a:p>
        </p:txBody>
      </p:sp>
    </p:spTree>
    <p:extLst>
      <p:ext uri="{BB962C8B-B14F-4D97-AF65-F5344CB8AC3E}">
        <p14:creationId xmlns:p14="http://schemas.microsoft.com/office/powerpoint/2010/main" val="31776698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sv-SE" sz="3600" b="1" dirty="0"/>
              <a:t>Amazon Elastic File System (Amazon EFS)</a:t>
            </a:r>
            <a:endParaRPr lang="en-US" sz="3600" b="1" dirty="0"/>
          </a:p>
        </p:txBody>
      </p:sp>
    </p:spTree>
    <p:extLst>
      <p:ext uri="{BB962C8B-B14F-4D97-AF65-F5344CB8AC3E}">
        <p14:creationId xmlns:p14="http://schemas.microsoft.com/office/powerpoint/2010/main" val="20043950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6AF1-7031-46B2-B8F9-87C4A1532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7BD24-087D-6F57-5ED7-3852C628C193}"/>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File System (Amazon EFS)</a:t>
            </a:r>
            <a:endParaRPr lang="en-US" sz="2400" dirty="0"/>
          </a:p>
        </p:txBody>
      </p:sp>
      <p:sp>
        <p:nvSpPr>
          <p:cNvPr id="3" name="Text Placeholder 2">
            <a:extLst>
              <a:ext uri="{FF2B5EF4-FFF2-40B4-BE49-F238E27FC236}">
                <a16:creationId xmlns:a16="http://schemas.microsoft.com/office/drawing/2014/main" id="{604C0D26-BDDD-7ED6-DF6D-D35C47B1DEB9}"/>
              </a:ext>
            </a:extLst>
          </p:cNvPr>
          <p:cNvSpPr>
            <a:spLocks noGrp="1"/>
          </p:cNvSpPr>
          <p:nvPr>
            <p:ph type="body" sz="quarter" idx="10"/>
          </p:nvPr>
        </p:nvSpPr>
        <p:spPr/>
        <p:txBody>
          <a:bodyPr>
            <a:normAutofit lnSpcReduction="10000"/>
          </a:bodyPr>
          <a:lstStyle/>
          <a:p>
            <a:r>
              <a:rPr lang="en-US" sz="2400" dirty="0"/>
              <a:t>Amazon EFS features</a:t>
            </a:r>
          </a:p>
        </p:txBody>
      </p:sp>
      <p:sp>
        <p:nvSpPr>
          <p:cNvPr id="4" name="Title 1">
            <a:extLst>
              <a:ext uri="{FF2B5EF4-FFF2-40B4-BE49-F238E27FC236}">
                <a16:creationId xmlns:a16="http://schemas.microsoft.com/office/drawing/2014/main" id="{99CE1557-217E-A451-97A8-BBE6ABA3914B}"/>
              </a:ext>
            </a:extLst>
          </p:cNvPr>
          <p:cNvSpPr txBox="1">
            <a:spLocks/>
          </p:cNvSpPr>
          <p:nvPr/>
        </p:nvSpPr>
        <p:spPr>
          <a:xfrm>
            <a:off x="3600872" y="365301"/>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TextBox 4">
            <a:extLst>
              <a:ext uri="{FF2B5EF4-FFF2-40B4-BE49-F238E27FC236}">
                <a16:creationId xmlns:a16="http://schemas.microsoft.com/office/drawing/2014/main" id="{96B85030-8580-C343-5F24-050AF2E4E07F}"/>
              </a:ext>
            </a:extLst>
          </p:cNvPr>
          <p:cNvSpPr txBox="1"/>
          <p:nvPr/>
        </p:nvSpPr>
        <p:spPr>
          <a:xfrm>
            <a:off x="8676466" y="2037465"/>
            <a:ext cx="1991534" cy="738664"/>
          </a:xfrm>
          <a:prstGeom prst="rect">
            <a:avLst/>
          </a:prstGeom>
          <a:noFill/>
        </p:spPr>
        <p:txBody>
          <a:bodyPr wrap="square" lIns="0" tIns="0" rIns="0" bIns="0" rtlCol="0" anchor="ctr">
            <a:spAutoFit/>
          </a:bodyPr>
          <a:lstStyle/>
          <a:p>
            <a:pPr algn="ctr"/>
            <a:r>
              <a:rPr lang="sv-SE" sz="1600" dirty="0"/>
              <a:t>Amazon Elastic File System (Amazon EFS)</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 name="Graphic 5">
            <a:extLst>
              <a:ext uri="{FF2B5EF4-FFF2-40B4-BE49-F238E27FC236}">
                <a16:creationId xmlns:a16="http://schemas.microsoft.com/office/drawing/2014/main" id="{2700E2F0-7E6D-8C6D-C90F-C79C29FB33D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1233" y="1219201"/>
            <a:ext cx="762001" cy="762001"/>
          </a:xfrm>
          <a:prstGeom prst="rect">
            <a:avLst/>
          </a:prstGeom>
        </p:spPr>
      </p:pic>
      <p:sp>
        <p:nvSpPr>
          <p:cNvPr id="7" name="Content Placeholder 2">
            <a:extLst>
              <a:ext uri="{FF2B5EF4-FFF2-40B4-BE49-F238E27FC236}">
                <a16:creationId xmlns:a16="http://schemas.microsoft.com/office/drawing/2014/main" id="{4053CACE-D426-8722-87FC-2EAE4C06EF8B}"/>
              </a:ext>
            </a:extLst>
          </p:cNvPr>
          <p:cNvSpPr txBox="1">
            <a:spLocks/>
          </p:cNvSpPr>
          <p:nvPr/>
        </p:nvSpPr>
        <p:spPr>
          <a:xfrm>
            <a:off x="2667001" y="2263600"/>
            <a:ext cx="7772400" cy="45182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Aft>
                <a:spcPts val="800"/>
              </a:spcAft>
            </a:pPr>
            <a:r>
              <a:rPr lang="en-US" dirty="0"/>
              <a:t>File storage in the AWS Cloud </a:t>
            </a:r>
          </a:p>
          <a:p>
            <a:pPr marL="457200" indent="-457200" algn="just">
              <a:spcAft>
                <a:spcPts val="800"/>
              </a:spcAft>
            </a:pPr>
            <a:r>
              <a:rPr lang="en-US" dirty="0"/>
              <a:t>Works well for big data and analytics, media processing workflows, content management, web serving, and home directories</a:t>
            </a:r>
          </a:p>
          <a:p>
            <a:pPr marL="457200" indent="-457200" algn="just">
              <a:spcAft>
                <a:spcPts val="800"/>
              </a:spcAft>
            </a:pPr>
            <a:r>
              <a:rPr lang="en-US" dirty="0"/>
              <a:t>Petabyte-scale, low-latency file system</a:t>
            </a:r>
          </a:p>
          <a:p>
            <a:pPr marL="457200" indent="-457200" algn="just">
              <a:spcAft>
                <a:spcPts val="800"/>
              </a:spcAft>
            </a:pPr>
            <a:r>
              <a:rPr lang="en-US" dirty="0"/>
              <a:t>Shared storage</a:t>
            </a:r>
          </a:p>
          <a:p>
            <a:pPr marL="457200" indent="-457200" algn="just">
              <a:spcAft>
                <a:spcPts val="800"/>
              </a:spcAft>
            </a:pPr>
            <a:r>
              <a:rPr lang="en-US" dirty="0"/>
              <a:t>Elastic capacity</a:t>
            </a:r>
          </a:p>
          <a:p>
            <a:pPr marL="457200" indent="-457200" algn="just">
              <a:spcAft>
                <a:spcPts val="800"/>
              </a:spcAft>
            </a:pPr>
            <a:r>
              <a:rPr lang="en-US" dirty="0"/>
              <a:t>Supports Network File System (NFS) versions 4.0 and 4.1 (NFSv4)</a:t>
            </a:r>
          </a:p>
          <a:p>
            <a:pPr marL="457200" indent="-457200" algn="just">
              <a:spcAft>
                <a:spcPts val="800"/>
              </a:spcAft>
            </a:pPr>
            <a:r>
              <a:rPr lang="en-US" dirty="0"/>
              <a:t>Compatible with all Linux-based AMIs for Amazon EC2</a:t>
            </a:r>
          </a:p>
        </p:txBody>
      </p:sp>
    </p:spTree>
    <p:extLst>
      <p:ext uri="{BB962C8B-B14F-4D97-AF65-F5344CB8AC3E}">
        <p14:creationId xmlns:p14="http://schemas.microsoft.com/office/powerpoint/2010/main" val="210030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3B6E6-3FA4-3A82-3F3C-99A8A5E1E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79FBA-CB32-9944-00AE-0380D13C43E8}"/>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File System (Amazon EFS)</a:t>
            </a:r>
            <a:endParaRPr lang="en-US" sz="2400" dirty="0"/>
          </a:p>
        </p:txBody>
      </p:sp>
      <p:sp>
        <p:nvSpPr>
          <p:cNvPr id="3" name="Text Placeholder 2">
            <a:extLst>
              <a:ext uri="{FF2B5EF4-FFF2-40B4-BE49-F238E27FC236}">
                <a16:creationId xmlns:a16="http://schemas.microsoft.com/office/drawing/2014/main" id="{B4ECEBCD-3C74-B657-720B-876C281C3973}"/>
              </a:ext>
            </a:extLst>
          </p:cNvPr>
          <p:cNvSpPr>
            <a:spLocks noGrp="1"/>
          </p:cNvSpPr>
          <p:nvPr>
            <p:ph type="body" sz="quarter" idx="10"/>
          </p:nvPr>
        </p:nvSpPr>
        <p:spPr/>
        <p:txBody>
          <a:bodyPr>
            <a:normAutofit lnSpcReduction="10000"/>
          </a:bodyPr>
          <a:lstStyle/>
          <a:p>
            <a:r>
              <a:rPr lang="en-US" sz="2400" dirty="0"/>
              <a:t>Amazon EFS architecture</a:t>
            </a:r>
          </a:p>
        </p:txBody>
      </p:sp>
      <p:sp>
        <p:nvSpPr>
          <p:cNvPr id="4" name="Title 1">
            <a:extLst>
              <a:ext uri="{FF2B5EF4-FFF2-40B4-BE49-F238E27FC236}">
                <a16:creationId xmlns:a16="http://schemas.microsoft.com/office/drawing/2014/main" id="{78128125-B555-7A05-853D-ECFA28E624B8}"/>
              </a:ext>
            </a:extLst>
          </p:cNvPr>
          <p:cNvSpPr txBox="1">
            <a:spLocks/>
          </p:cNvSpPr>
          <p:nvPr/>
        </p:nvSpPr>
        <p:spPr>
          <a:xfrm>
            <a:off x="4038600" y="381000"/>
            <a:ext cx="706755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Amazon Elastic File System architecture.">
            <a:extLst>
              <a:ext uri="{FF2B5EF4-FFF2-40B4-BE49-F238E27FC236}">
                <a16:creationId xmlns:a16="http://schemas.microsoft.com/office/drawing/2014/main" id="{A44FF99D-8C94-D70D-670A-EC7D9C0EF19A}"/>
              </a:ext>
            </a:extLst>
          </p:cNvPr>
          <p:cNvGrpSpPr/>
          <p:nvPr/>
        </p:nvGrpSpPr>
        <p:grpSpPr>
          <a:xfrm>
            <a:off x="2286001" y="2057401"/>
            <a:ext cx="8222791" cy="4135665"/>
            <a:chOff x="768809" y="1501866"/>
            <a:chExt cx="10526720" cy="4993621"/>
          </a:xfrm>
        </p:grpSpPr>
        <p:sp>
          <p:nvSpPr>
            <p:cNvPr id="6" name="Rectangle 5">
              <a:extLst>
                <a:ext uri="{FF2B5EF4-FFF2-40B4-BE49-F238E27FC236}">
                  <a16:creationId xmlns:a16="http://schemas.microsoft.com/office/drawing/2014/main" id="{A743709C-77F5-14B8-155E-63F33F7B4A73}"/>
                </a:ext>
              </a:extLst>
            </p:cNvPr>
            <p:cNvSpPr/>
            <p:nvPr/>
          </p:nvSpPr>
          <p:spPr>
            <a:xfrm>
              <a:off x="768809" y="1501866"/>
              <a:ext cx="10526720" cy="453317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200" kern="0" dirty="0">
                  <a:ln w="0"/>
                  <a:solidFill>
                    <a:srgbClr val="1D8900"/>
                  </a:solidFill>
                  <a:latin typeface="Arial" panose="020B0604020202020204"/>
                </a:rPr>
                <a:t> VPC</a:t>
              </a:r>
            </a:p>
          </p:txBody>
        </p:sp>
        <p:pic>
          <p:nvPicPr>
            <p:cNvPr id="7" name="Graphic 6">
              <a:extLst>
                <a:ext uri="{FF2B5EF4-FFF2-40B4-BE49-F238E27FC236}">
                  <a16:creationId xmlns:a16="http://schemas.microsoft.com/office/drawing/2014/main" id="{B2982640-3785-7D4A-B8DC-30251008E36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809" y="1501867"/>
              <a:ext cx="457200" cy="457200"/>
            </a:xfrm>
            <a:prstGeom prst="rect">
              <a:avLst/>
            </a:prstGeom>
          </p:spPr>
        </p:pic>
        <p:sp>
          <p:nvSpPr>
            <p:cNvPr id="8" name="Rectangle: Rounded Corners 7">
              <a:extLst>
                <a:ext uri="{FF2B5EF4-FFF2-40B4-BE49-F238E27FC236}">
                  <a16:creationId xmlns:a16="http://schemas.microsoft.com/office/drawing/2014/main" id="{03EE4541-68D6-2E77-2DA2-8106332C7E5B}"/>
                </a:ext>
                <a:ext uri="{C183D7F6-B498-43B3-948B-1728B52AA6E4}">
                  <adec:decorative xmlns:adec="http://schemas.microsoft.com/office/drawing/2017/decorative" val="1"/>
                </a:ext>
              </a:extLst>
            </p:cNvPr>
            <p:cNvSpPr/>
            <p:nvPr/>
          </p:nvSpPr>
          <p:spPr>
            <a:xfrm>
              <a:off x="2175425" y="4118759"/>
              <a:ext cx="1127174" cy="679153"/>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Network Interface</a:t>
              </a:r>
            </a:p>
          </p:txBody>
        </p:sp>
        <p:sp>
          <p:nvSpPr>
            <p:cNvPr id="9" name="Rectangle: Rounded Corners 8">
              <a:extLst>
                <a:ext uri="{FF2B5EF4-FFF2-40B4-BE49-F238E27FC236}">
                  <a16:creationId xmlns:a16="http://schemas.microsoft.com/office/drawing/2014/main" id="{0CE9D17C-8BEE-BF88-876E-7DA849DFD13A}"/>
                </a:ext>
                <a:ext uri="{C183D7F6-B498-43B3-948B-1728B52AA6E4}">
                  <adec:decorative xmlns:adec="http://schemas.microsoft.com/office/drawing/2017/decorative" val="1"/>
                </a:ext>
              </a:extLst>
            </p:cNvPr>
            <p:cNvSpPr/>
            <p:nvPr/>
          </p:nvSpPr>
          <p:spPr>
            <a:xfrm>
              <a:off x="2000922" y="4024966"/>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TextBox 9">
              <a:extLst>
                <a:ext uri="{FF2B5EF4-FFF2-40B4-BE49-F238E27FC236}">
                  <a16:creationId xmlns:a16="http://schemas.microsoft.com/office/drawing/2014/main" id="{8890349B-25E6-3C23-80A2-FCC67A9ED643}"/>
                </a:ext>
                <a:ext uri="{C183D7F6-B498-43B3-948B-1728B52AA6E4}">
                  <adec:decorative xmlns:adec="http://schemas.microsoft.com/office/drawing/2017/decorative" val="1"/>
                </a:ext>
              </a:extLst>
            </p:cNvPr>
            <p:cNvSpPr txBox="1"/>
            <p:nvPr/>
          </p:nvSpPr>
          <p:spPr>
            <a:xfrm>
              <a:off x="2051399" y="4774608"/>
              <a:ext cx="1704763" cy="334463"/>
            </a:xfrm>
            <a:prstGeom prst="rect">
              <a:avLst/>
            </a:prstGeom>
            <a:noFill/>
          </p:spPr>
          <p:txBody>
            <a:bodyPr wrap="squar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1" name="Rectangle: Rounded Corners 10">
              <a:extLst>
                <a:ext uri="{FF2B5EF4-FFF2-40B4-BE49-F238E27FC236}">
                  <a16:creationId xmlns:a16="http://schemas.microsoft.com/office/drawing/2014/main" id="{3C0BB9F3-0F3F-BB98-8247-D46B0E8DEBBB}"/>
                </a:ext>
                <a:ext uri="{C183D7F6-B498-43B3-948B-1728B52AA6E4}">
                  <adec:decorative xmlns:adec="http://schemas.microsoft.com/office/drawing/2017/decorative" val="1"/>
                </a:ext>
              </a:extLst>
            </p:cNvPr>
            <p:cNvSpPr/>
            <p:nvPr/>
          </p:nvSpPr>
          <p:spPr>
            <a:xfrm>
              <a:off x="5565871" y="4142063"/>
              <a:ext cx="1127174" cy="688482"/>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Network Interface</a:t>
              </a:r>
            </a:p>
          </p:txBody>
        </p:sp>
        <p:sp>
          <p:nvSpPr>
            <p:cNvPr id="12" name="TextBox 11">
              <a:extLst>
                <a:ext uri="{FF2B5EF4-FFF2-40B4-BE49-F238E27FC236}">
                  <a16:creationId xmlns:a16="http://schemas.microsoft.com/office/drawing/2014/main" id="{6C6A9766-C8BB-9A38-0184-F12D3A52C6B9}"/>
                </a:ext>
                <a:ext uri="{C183D7F6-B498-43B3-948B-1728B52AA6E4}">
                  <adec:decorative xmlns:adec="http://schemas.microsoft.com/office/drawing/2017/decorative" val="1"/>
                </a:ext>
              </a:extLst>
            </p:cNvPr>
            <p:cNvSpPr txBox="1"/>
            <p:nvPr/>
          </p:nvSpPr>
          <p:spPr>
            <a:xfrm>
              <a:off x="5441845" y="4797912"/>
              <a:ext cx="1704763" cy="334463"/>
            </a:xfrm>
            <a:prstGeom prst="rect">
              <a:avLst/>
            </a:prstGeom>
            <a:noFill/>
          </p:spPr>
          <p:txBody>
            <a:bodyPr wrap="squar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3" name="Rectangle: Rounded Corners 12">
              <a:extLst>
                <a:ext uri="{FF2B5EF4-FFF2-40B4-BE49-F238E27FC236}">
                  <a16:creationId xmlns:a16="http://schemas.microsoft.com/office/drawing/2014/main" id="{3A18894C-8AFF-D904-63E6-0E5EE8CC6738}"/>
                </a:ext>
                <a:ext uri="{C183D7F6-B498-43B3-948B-1728B52AA6E4}">
                  <adec:decorative xmlns:adec="http://schemas.microsoft.com/office/drawing/2017/decorative" val="1"/>
                </a:ext>
              </a:extLst>
            </p:cNvPr>
            <p:cNvSpPr/>
            <p:nvPr/>
          </p:nvSpPr>
          <p:spPr>
            <a:xfrm>
              <a:off x="9067214" y="4248525"/>
              <a:ext cx="1127174" cy="688482"/>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Network Interface</a:t>
              </a:r>
            </a:p>
          </p:txBody>
        </p:sp>
        <p:sp>
          <p:nvSpPr>
            <p:cNvPr id="14" name="Rectangle: Rounded Corners 13">
              <a:extLst>
                <a:ext uri="{FF2B5EF4-FFF2-40B4-BE49-F238E27FC236}">
                  <a16:creationId xmlns:a16="http://schemas.microsoft.com/office/drawing/2014/main" id="{89A40F38-BD42-EFAE-3FF8-80B4F2F37C6E}"/>
                </a:ext>
                <a:ext uri="{C183D7F6-B498-43B3-948B-1728B52AA6E4}">
                  <adec:decorative xmlns:adec="http://schemas.microsoft.com/office/drawing/2017/decorative" val="1"/>
                </a:ext>
              </a:extLst>
            </p:cNvPr>
            <p:cNvSpPr/>
            <p:nvPr/>
          </p:nvSpPr>
          <p:spPr>
            <a:xfrm>
              <a:off x="8902236" y="4154732"/>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extBox 14">
              <a:extLst>
                <a:ext uri="{FF2B5EF4-FFF2-40B4-BE49-F238E27FC236}">
                  <a16:creationId xmlns:a16="http://schemas.microsoft.com/office/drawing/2014/main" id="{40D3A0F6-FC10-CA38-38AE-32E548CAEBB8}"/>
                </a:ext>
                <a:ext uri="{C183D7F6-B498-43B3-948B-1728B52AA6E4}">
                  <adec:decorative xmlns:adec="http://schemas.microsoft.com/office/drawing/2017/decorative" val="1"/>
                </a:ext>
              </a:extLst>
            </p:cNvPr>
            <p:cNvSpPr txBox="1"/>
            <p:nvPr/>
          </p:nvSpPr>
          <p:spPr>
            <a:xfrm>
              <a:off x="8943188" y="4904374"/>
              <a:ext cx="1704763" cy="334463"/>
            </a:xfrm>
            <a:prstGeom prst="rect">
              <a:avLst/>
            </a:prstGeom>
            <a:noFill/>
          </p:spPr>
          <p:txBody>
            <a:bodyPr wrap="squar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6" name="Rectangle: Rounded Corners 15">
              <a:extLst>
                <a:ext uri="{FF2B5EF4-FFF2-40B4-BE49-F238E27FC236}">
                  <a16:creationId xmlns:a16="http://schemas.microsoft.com/office/drawing/2014/main" id="{D898D88B-8F7C-C5C6-6116-CB83C8320108}"/>
                </a:ext>
                <a:ext uri="{C183D7F6-B498-43B3-948B-1728B52AA6E4}">
                  <adec:decorative xmlns:adec="http://schemas.microsoft.com/office/drawing/2017/decorative" val="1"/>
                </a:ext>
              </a:extLst>
            </p:cNvPr>
            <p:cNvSpPr/>
            <p:nvPr/>
          </p:nvSpPr>
          <p:spPr>
            <a:xfrm>
              <a:off x="1705496" y="2949175"/>
              <a:ext cx="860801"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Network Interface</a:t>
              </a:r>
            </a:p>
          </p:txBody>
        </p:sp>
        <p:sp>
          <p:nvSpPr>
            <p:cNvPr id="17" name="Rectangle: Rounded Corners 16">
              <a:extLst>
                <a:ext uri="{FF2B5EF4-FFF2-40B4-BE49-F238E27FC236}">
                  <a16:creationId xmlns:a16="http://schemas.microsoft.com/office/drawing/2014/main" id="{5A1B4D28-5E55-DC0A-8694-366204404578}"/>
                </a:ext>
                <a:ext uri="{C183D7F6-B498-43B3-948B-1728B52AA6E4}">
                  <adec:decorative xmlns:adec="http://schemas.microsoft.com/office/drawing/2017/decorative" val="1"/>
                </a:ext>
              </a:extLst>
            </p:cNvPr>
            <p:cNvSpPr/>
            <p:nvPr/>
          </p:nvSpPr>
          <p:spPr>
            <a:xfrm>
              <a:off x="2865925" y="2949175"/>
              <a:ext cx="841085"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Network Interface</a:t>
              </a:r>
            </a:p>
          </p:txBody>
        </p:sp>
        <p:pic>
          <p:nvPicPr>
            <p:cNvPr id="18" name="Graphic 17">
              <a:extLst>
                <a:ext uri="{FF2B5EF4-FFF2-40B4-BE49-F238E27FC236}">
                  <a16:creationId xmlns:a16="http://schemas.microsoft.com/office/drawing/2014/main" id="{EA6C4D74-B903-6482-ED90-7560A562BBC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12496" y="2726171"/>
              <a:ext cx="1194098" cy="1094580"/>
            </a:xfrm>
            <a:prstGeom prst="rect">
              <a:avLst/>
            </a:prstGeom>
          </p:spPr>
        </p:pic>
        <p:sp>
          <p:nvSpPr>
            <p:cNvPr id="19" name="Rectangle: Rounded Corners 18">
              <a:extLst>
                <a:ext uri="{FF2B5EF4-FFF2-40B4-BE49-F238E27FC236}">
                  <a16:creationId xmlns:a16="http://schemas.microsoft.com/office/drawing/2014/main" id="{871D45C1-F8A4-8AAB-54AE-F778B010FB87}"/>
                </a:ext>
                <a:ext uri="{C183D7F6-B498-43B3-948B-1728B52AA6E4}">
                  <adec:decorative xmlns:adec="http://schemas.microsoft.com/office/drawing/2017/decorative" val="1"/>
                </a:ext>
              </a:extLst>
            </p:cNvPr>
            <p:cNvSpPr/>
            <p:nvPr/>
          </p:nvSpPr>
          <p:spPr>
            <a:xfrm>
              <a:off x="9163105" y="2977056"/>
              <a:ext cx="892880"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Network Interface</a:t>
              </a:r>
            </a:p>
          </p:txBody>
        </p:sp>
        <p:cxnSp>
          <p:nvCxnSpPr>
            <p:cNvPr id="20" name="Straight Arrow Connector 19">
              <a:extLst>
                <a:ext uri="{FF2B5EF4-FFF2-40B4-BE49-F238E27FC236}">
                  <a16:creationId xmlns:a16="http://schemas.microsoft.com/office/drawing/2014/main" id="{521A7E43-F330-092E-206C-9CCE5A195CD7}"/>
                </a:ext>
                <a:ext uri="{C183D7F6-B498-43B3-948B-1728B52AA6E4}">
                  <adec:decorative xmlns:adec="http://schemas.microsoft.com/office/drawing/2017/decorative" val="1"/>
                </a:ext>
              </a:extLst>
            </p:cNvPr>
            <p:cNvCxnSpPr>
              <a:cxnSpLocks/>
            </p:cNvCxnSpPr>
            <p:nvPr/>
          </p:nvCxnSpPr>
          <p:spPr>
            <a:xfrm>
              <a:off x="2062157" y="3696873"/>
              <a:ext cx="481227" cy="357338"/>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6FBE6DC-F72F-1665-3A24-8697E57EA3B3}"/>
                </a:ext>
                <a:ext uri="{C183D7F6-B498-43B3-948B-1728B52AA6E4}">
                  <adec:decorative xmlns:adec="http://schemas.microsoft.com/office/drawing/2017/decorative" val="1"/>
                </a:ext>
              </a:extLst>
            </p:cNvPr>
            <p:cNvCxnSpPr>
              <a:cxnSpLocks/>
            </p:cNvCxnSpPr>
            <p:nvPr/>
          </p:nvCxnSpPr>
          <p:spPr>
            <a:xfrm flipH="1">
              <a:off x="3003180" y="3677455"/>
              <a:ext cx="388143" cy="370815"/>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16DA0D-9A4D-3533-9D02-90DFDE9AAF0F}"/>
                </a:ext>
                <a:ext uri="{C183D7F6-B498-43B3-948B-1728B52AA6E4}">
                  <adec:decorative xmlns:adec="http://schemas.microsoft.com/office/drawing/2017/decorative" val="1"/>
                </a:ext>
              </a:extLst>
            </p:cNvPr>
            <p:cNvCxnSpPr>
              <a:cxnSpLocks/>
            </p:cNvCxnSpPr>
            <p:nvPr/>
          </p:nvCxnSpPr>
          <p:spPr>
            <a:xfrm>
              <a:off x="9673615" y="3802064"/>
              <a:ext cx="0" cy="136978"/>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7FC87C2-FEF8-EE51-D9FA-3FE0A0DA946F}"/>
                </a:ext>
                <a:ext uri="{C183D7F6-B498-43B3-948B-1728B52AA6E4}">
                  <adec:decorative xmlns:adec="http://schemas.microsoft.com/office/drawing/2017/decorative" val="1"/>
                </a:ext>
              </a:extLst>
            </p:cNvPr>
            <p:cNvCxnSpPr>
              <a:cxnSpLocks/>
              <a:endCxn id="31" idx="0"/>
            </p:cNvCxnSpPr>
            <p:nvPr/>
          </p:nvCxnSpPr>
          <p:spPr>
            <a:xfrm>
              <a:off x="6172200" y="5114925"/>
              <a:ext cx="11922" cy="669362"/>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832E92A-82D9-6C9E-5942-32F2B5F030BB}"/>
                </a:ext>
                <a:ext uri="{C183D7F6-B498-43B3-948B-1728B52AA6E4}">
                  <adec:decorative xmlns:adec="http://schemas.microsoft.com/office/drawing/2017/decorative" val="1"/>
                </a:ext>
              </a:extLst>
            </p:cNvPr>
            <p:cNvCxnSpPr>
              <a:stCxn id="31" idx="1"/>
              <a:endCxn id="26" idx="2"/>
            </p:cNvCxnSpPr>
            <p:nvPr/>
          </p:nvCxnSpPr>
          <p:spPr>
            <a:xfrm rot="10800000">
              <a:off x="2723091" y="5439140"/>
              <a:ext cx="3105433" cy="70074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FBA7938-F2B9-FBD3-AEC3-5104C9437E95}"/>
                </a:ext>
                <a:ext uri="{C183D7F6-B498-43B3-948B-1728B52AA6E4}">
                  <adec:decorative xmlns:adec="http://schemas.microsoft.com/office/drawing/2017/decorative" val="1"/>
                </a:ext>
              </a:extLst>
            </p:cNvPr>
            <p:cNvSpPr/>
            <p:nvPr/>
          </p:nvSpPr>
          <p:spPr>
            <a:xfrm>
              <a:off x="1183341" y="2011680"/>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26" name="Rectangle 25">
              <a:extLst>
                <a:ext uri="{FF2B5EF4-FFF2-40B4-BE49-F238E27FC236}">
                  <a16:creationId xmlns:a16="http://schemas.microsoft.com/office/drawing/2014/main" id="{72330C86-AD6F-9ACE-6E24-4FA3B4AC16BD}"/>
                </a:ext>
                <a:ext uri="{C183D7F6-B498-43B3-948B-1728B52AA6E4}">
                  <adec:decorative xmlns:adec="http://schemas.microsoft.com/office/drawing/2017/decorative" val="1"/>
                </a:ext>
              </a:extLst>
            </p:cNvPr>
            <p:cNvSpPr/>
            <p:nvPr/>
          </p:nvSpPr>
          <p:spPr>
            <a:xfrm>
              <a:off x="1528990" y="2438945"/>
              <a:ext cx="2388197" cy="300019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6">
                      <a:lumMod val="75000"/>
                    </a:schemeClr>
                  </a:solidFill>
                </a:rPr>
                <a:t>Private subnet</a:t>
              </a:r>
            </a:p>
          </p:txBody>
        </p:sp>
        <p:sp>
          <p:nvSpPr>
            <p:cNvPr id="27" name="Rectangle 26">
              <a:extLst>
                <a:ext uri="{FF2B5EF4-FFF2-40B4-BE49-F238E27FC236}">
                  <a16:creationId xmlns:a16="http://schemas.microsoft.com/office/drawing/2014/main" id="{AB59E92F-527B-9751-8143-6369086C907D}"/>
                </a:ext>
                <a:ext uri="{C183D7F6-B498-43B3-948B-1728B52AA6E4}">
                  <adec:decorative xmlns:adec="http://schemas.microsoft.com/office/drawing/2017/decorative" val="1"/>
                </a:ext>
              </a:extLst>
            </p:cNvPr>
            <p:cNvSpPr/>
            <p:nvPr/>
          </p:nvSpPr>
          <p:spPr>
            <a:xfrm>
              <a:off x="4990024" y="2396636"/>
              <a:ext cx="2388197" cy="300019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6">
                      <a:lumMod val="75000"/>
                    </a:schemeClr>
                  </a:solidFill>
                </a:rPr>
                <a:t>Private subnet</a:t>
              </a:r>
            </a:p>
          </p:txBody>
        </p:sp>
        <p:sp>
          <p:nvSpPr>
            <p:cNvPr id="28" name="Rectangle 27">
              <a:extLst>
                <a:ext uri="{FF2B5EF4-FFF2-40B4-BE49-F238E27FC236}">
                  <a16:creationId xmlns:a16="http://schemas.microsoft.com/office/drawing/2014/main" id="{59C932B1-846F-AAC2-27DE-D3EC753C0811}"/>
                </a:ext>
                <a:ext uri="{C183D7F6-B498-43B3-948B-1728B52AA6E4}">
                  <adec:decorative xmlns:adec="http://schemas.microsoft.com/office/drawing/2017/decorative" val="1"/>
                </a:ext>
              </a:extLst>
            </p:cNvPr>
            <p:cNvSpPr/>
            <p:nvPr/>
          </p:nvSpPr>
          <p:spPr>
            <a:xfrm>
              <a:off x="8366138" y="2444753"/>
              <a:ext cx="2388197" cy="134523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6">
                      <a:lumMod val="75000"/>
                    </a:schemeClr>
                  </a:solidFill>
                </a:rPr>
                <a:t>    Private subnet</a:t>
              </a:r>
            </a:p>
          </p:txBody>
        </p:sp>
        <p:sp>
          <p:nvSpPr>
            <p:cNvPr id="29" name="Rectangle 28">
              <a:extLst>
                <a:ext uri="{FF2B5EF4-FFF2-40B4-BE49-F238E27FC236}">
                  <a16:creationId xmlns:a16="http://schemas.microsoft.com/office/drawing/2014/main" id="{7311F168-D1B9-37BD-8704-032650A9F367}"/>
                </a:ext>
                <a:ext uri="{C183D7F6-B498-43B3-948B-1728B52AA6E4}">
                  <adec:decorative xmlns:adec="http://schemas.microsoft.com/office/drawing/2017/decorative" val="1"/>
                </a:ext>
              </a:extLst>
            </p:cNvPr>
            <p:cNvSpPr/>
            <p:nvPr/>
          </p:nvSpPr>
          <p:spPr>
            <a:xfrm>
              <a:off x="8377736" y="3894072"/>
              <a:ext cx="2388197" cy="145281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050" dirty="0">
                  <a:solidFill>
                    <a:schemeClr val="accent3"/>
                  </a:solidFill>
                </a:rPr>
                <a:t>    </a:t>
              </a:r>
              <a:r>
                <a:rPr lang="en-US" sz="1050" dirty="0">
                  <a:solidFill>
                    <a:schemeClr val="accent6">
                      <a:lumMod val="75000"/>
                    </a:schemeClr>
                  </a:solidFill>
                </a:rPr>
                <a:t>Private subnet</a:t>
              </a:r>
            </a:p>
          </p:txBody>
        </p:sp>
        <p:pic>
          <p:nvPicPr>
            <p:cNvPr id="30" name="Graphic 29">
              <a:extLst>
                <a:ext uri="{FF2B5EF4-FFF2-40B4-BE49-F238E27FC236}">
                  <a16:creationId xmlns:a16="http://schemas.microsoft.com/office/drawing/2014/main" id="{6AE14F0C-4C96-4ED5-9266-D77CCE252A8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2416" y="2698279"/>
              <a:ext cx="1194098" cy="1094580"/>
            </a:xfrm>
            <a:prstGeom prst="rect">
              <a:avLst/>
            </a:prstGeom>
          </p:spPr>
        </p:pic>
        <p:pic>
          <p:nvPicPr>
            <p:cNvPr id="31" name="Graphic 30">
              <a:extLst>
                <a:ext uri="{FF2B5EF4-FFF2-40B4-BE49-F238E27FC236}">
                  <a16:creationId xmlns:a16="http://schemas.microsoft.com/office/drawing/2014/main" id="{9CCE4AA0-44CD-CE63-44E9-DDC2431DCA9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28522" y="5784287"/>
              <a:ext cx="711200" cy="711200"/>
            </a:xfrm>
            <a:prstGeom prst="rect">
              <a:avLst/>
            </a:prstGeom>
          </p:spPr>
        </p:pic>
        <p:sp>
          <p:nvSpPr>
            <p:cNvPr id="32" name="TextBox 31">
              <a:extLst>
                <a:ext uri="{FF2B5EF4-FFF2-40B4-BE49-F238E27FC236}">
                  <a16:creationId xmlns:a16="http://schemas.microsoft.com/office/drawing/2014/main" id="{E76350AD-4789-DBE4-80EA-048A0FFF0E7D}"/>
                </a:ext>
                <a:ext uri="{C183D7F6-B498-43B3-948B-1728B52AA6E4}">
                  <adec:decorative xmlns:adec="http://schemas.microsoft.com/office/drawing/2017/decorative" val="1"/>
                </a:ext>
              </a:extLst>
            </p:cNvPr>
            <p:cNvSpPr txBox="1"/>
            <p:nvPr/>
          </p:nvSpPr>
          <p:spPr>
            <a:xfrm>
              <a:off x="6683460" y="6109220"/>
              <a:ext cx="1682678" cy="334463"/>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Elastic File System</a:t>
              </a:r>
            </a:p>
          </p:txBody>
        </p:sp>
        <p:sp>
          <p:nvSpPr>
            <p:cNvPr id="33" name="Rectangle: Rounded Corners 32">
              <a:extLst>
                <a:ext uri="{FF2B5EF4-FFF2-40B4-BE49-F238E27FC236}">
                  <a16:creationId xmlns:a16="http://schemas.microsoft.com/office/drawing/2014/main" id="{684CC5C9-6C67-8966-9505-479F335926E0}"/>
                </a:ext>
                <a:ext uri="{C183D7F6-B498-43B3-948B-1728B52AA6E4}">
                  <adec:decorative xmlns:adec="http://schemas.microsoft.com/office/drawing/2017/decorative" val="1"/>
                </a:ext>
              </a:extLst>
            </p:cNvPr>
            <p:cNvSpPr/>
            <p:nvPr/>
          </p:nvSpPr>
          <p:spPr>
            <a:xfrm>
              <a:off x="5391368" y="4048270"/>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34" name="Graphic 33">
              <a:extLst>
                <a:ext uri="{FF2B5EF4-FFF2-40B4-BE49-F238E27FC236}">
                  <a16:creationId xmlns:a16="http://schemas.microsoft.com/office/drawing/2014/main" id="{34291419-BAEC-6064-A83E-3A3A913CA08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83638" y="2693655"/>
              <a:ext cx="1194098" cy="1094580"/>
            </a:xfrm>
            <a:prstGeom prst="rect">
              <a:avLst/>
            </a:prstGeom>
          </p:spPr>
        </p:pic>
        <p:sp>
          <p:nvSpPr>
            <p:cNvPr id="35" name="Rectangle 34">
              <a:extLst>
                <a:ext uri="{FF2B5EF4-FFF2-40B4-BE49-F238E27FC236}">
                  <a16:creationId xmlns:a16="http://schemas.microsoft.com/office/drawing/2014/main" id="{E1BC457C-D71F-AF43-EED7-54038459C557}"/>
                </a:ext>
                <a:ext uri="{C183D7F6-B498-43B3-948B-1728B52AA6E4}">
                  <adec:decorative xmlns:adec="http://schemas.microsoft.com/office/drawing/2017/decorative" val="1"/>
                </a:ext>
              </a:extLst>
            </p:cNvPr>
            <p:cNvSpPr/>
            <p:nvPr/>
          </p:nvSpPr>
          <p:spPr>
            <a:xfrm>
              <a:off x="4573571" y="2027037"/>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36" name="Rectangle 35">
              <a:extLst>
                <a:ext uri="{FF2B5EF4-FFF2-40B4-BE49-F238E27FC236}">
                  <a16:creationId xmlns:a16="http://schemas.microsoft.com/office/drawing/2014/main" id="{34983C40-9AE3-41D0-EFC5-46536BC1D08E}"/>
                </a:ext>
                <a:ext uri="{C183D7F6-B498-43B3-948B-1728B52AA6E4}">
                  <adec:decorative xmlns:adec="http://schemas.microsoft.com/office/drawing/2017/decorative" val="1"/>
                </a:ext>
              </a:extLst>
            </p:cNvPr>
            <p:cNvSpPr/>
            <p:nvPr/>
          </p:nvSpPr>
          <p:spPr>
            <a:xfrm>
              <a:off x="7974558" y="2011679"/>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37" name="TextBox 36">
              <a:extLst>
                <a:ext uri="{FF2B5EF4-FFF2-40B4-BE49-F238E27FC236}">
                  <a16:creationId xmlns:a16="http://schemas.microsoft.com/office/drawing/2014/main" id="{4DF367BD-52BF-5A5A-6FE1-ADD9E63834DB}"/>
                </a:ext>
                <a:ext uri="{C183D7F6-B498-43B3-948B-1728B52AA6E4}">
                  <adec:decorative xmlns:adec="http://schemas.microsoft.com/office/drawing/2017/decorative" val="1"/>
                </a:ext>
              </a:extLst>
            </p:cNvPr>
            <p:cNvSpPr txBox="1"/>
            <p:nvPr/>
          </p:nvSpPr>
          <p:spPr>
            <a:xfrm>
              <a:off x="1792442" y="2011680"/>
              <a:ext cx="1704594" cy="334463"/>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A</a:t>
              </a:r>
            </a:p>
          </p:txBody>
        </p:sp>
        <p:sp>
          <p:nvSpPr>
            <p:cNvPr id="38" name="TextBox 37">
              <a:extLst>
                <a:ext uri="{FF2B5EF4-FFF2-40B4-BE49-F238E27FC236}">
                  <a16:creationId xmlns:a16="http://schemas.microsoft.com/office/drawing/2014/main" id="{1620FC9F-C6B2-0283-71DD-F104046462BC}"/>
                </a:ext>
                <a:ext uri="{C183D7F6-B498-43B3-948B-1728B52AA6E4}">
                  <adec:decorative xmlns:adec="http://schemas.microsoft.com/office/drawing/2017/decorative" val="1"/>
                </a:ext>
              </a:extLst>
            </p:cNvPr>
            <p:cNvSpPr txBox="1"/>
            <p:nvPr/>
          </p:nvSpPr>
          <p:spPr>
            <a:xfrm>
              <a:off x="5290472" y="2078015"/>
              <a:ext cx="1696385" cy="334463"/>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B</a:t>
              </a:r>
            </a:p>
          </p:txBody>
        </p:sp>
        <p:sp>
          <p:nvSpPr>
            <p:cNvPr id="39" name="TextBox 38">
              <a:extLst>
                <a:ext uri="{FF2B5EF4-FFF2-40B4-BE49-F238E27FC236}">
                  <a16:creationId xmlns:a16="http://schemas.microsoft.com/office/drawing/2014/main" id="{5E5A99FD-0E2E-913D-5897-F40AF726F8D5}"/>
                </a:ext>
                <a:ext uri="{C183D7F6-B498-43B3-948B-1728B52AA6E4}">
                  <adec:decorative xmlns:adec="http://schemas.microsoft.com/office/drawing/2017/decorative" val="1"/>
                </a:ext>
              </a:extLst>
            </p:cNvPr>
            <p:cNvSpPr txBox="1"/>
            <p:nvPr/>
          </p:nvSpPr>
          <p:spPr>
            <a:xfrm>
              <a:off x="8732901" y="2110289"/>
              <a:ext cx="1694334" cy="334463"/>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C</a:t>
              </a:r>
            </a:p>
          </p:txBody>
        </p:sp>
      </p:grpSp>
    </p:spTree>
    <p:extLst>
      <p:ext uri="{BB962C8B-B14F-4D97-AF65-F5344CB8AC3E}">
        <p14:creationId xmlns:p14="http://schemas.microsoft.com/office/powerpoint/2010/main" val="39873875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CEFAC-1B7F-98AD-61A4-64BD8FCC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54081-E41A-7854-B7A1-5460C20F4AB5}"/>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File System (Amazon EFS)</a:t>
            </a:r>
            <a:endParaRPr lang="en-US" sz="2400" dirty="0"/>
          </a:p>
        </p:txBody>
      </p:sp>
      <p:sp>
        <p:nvSpPr>
          <p:cNvPr id="3" name="Text Placeholder 2">
            <a:extLst>
              <a:ext uri="{FF2B5EF4-FFF2-40B4-BE49-F238E27FC236}">
                <a16:creationId xmlns:a16="http://schemas.microsoft.com/office/drawing/2014/main" id="{7F40A6EE-C646-DAAA-85BE-F4DBD5EBD1E4}"/>
              </a:ext>
            </a:extLst>
          </p:cNvPr>
          <p:cNvSpPr>
            <a:spLocks noGrp="1"/>
          </p:cNvSpPr>
          <p:nvPr>
            <p:ph type="body" sz="quarter" idx="10"/>
          </p:nvPr>
        </p:nvSpPr>
        <p:spPr/>
        <p:txBody>
          <a:bodyPr>
            <a:normAutofit fontScale="92500" lnSpcReduction="10000"/>
          </a:bodyPr>
          <a:lstStyle/>
          <a:p>
            <a:r>
              <a:rPr lang="en-US" sz="2400" dirty="0"/>
              <a:t>Amazon EFS implementation</a:t>
            </a:r>
          </a:p>
        </p:txBody>
      </p:sp>
      <p:sp>
        <p:nvSpPr>
          <p:cNvPr id="4" name="Title 1">
            <a:extLst>
              <a:ext uri="{FF2B5EF4-FFF2-40B4-BE49-F238E27FC236}">
                <a16:creationId xmlns:a16="http://schemas.microsoft.com/office/drawing/2014/main" id="{2254409E-7A1C-7B9D-0244-358D7D0183A5}"/>
              </a:ext>
            </a:extLst>
          </p:cNvPr>
          <p:cNvSpPr txBox="1">
            <a:spLocks/>
          </p:cNvSpPr>
          <p:nvPr/>
        </p:nvSpPr>
        <p:spPr>
          <a:xfrm>
            <a:off x="39624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11">
            <a:extLst>
              <a:ext uri="{FF2B5EF4-FFF2-40B4-BE49-F238E27FC236}">
                <a16:creationId xmlns:a16="http://schemas.microsoft.com/office/drawing/2014/main" id="{7A4FFCD5-A814-2BB1-9E68-29B0506F7515}"/>
              </a:ext>
              <a:ext uri="{C183D7F6-B498-43B3-948B-1728B52AA6E4}">
                <adec:decorative xmlns:adec="http://schemas.microsoft.com/office/drawing/2017/decorative" val="1"/>
              </a:ext>
            </a:extLst>
          </p:cNvPr>
          <p:cNvSpPr txBox="1">
            <a:spLocks/>
          </p:cNvSpPr>
          <p:nvPr/>
        </p:nvSpPr>
        <p:spPr>
          <a:xfrm>
            <a:off x="2667000" y="2057400"/>
            <a:ext cx="7620000" cy="375353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800"/>
              </a:spcBef>
              <a:buFont typeface="Open Sans" panose="020B0606030504020204" pitchFamily="34" charset="0"/>
              <a:buChar char="–"/>
            </a:pPr>
            <a:r>
              <a:rPr lang="en-US" dirty="0"/>
              <a:t>Create your Amazon EC2 resources and launch your Amazon EC2 instance.</a:t>
            </a:r>
          </a:p>
          <a:p>
            <a:pPr>
              <a:spcBef>
                <a:spcPts val="1800"/>
              </a:spcBef>
              <a:buFont typeface="Open Sans" panose="020B0606030504020204" pitchFamily="34" charset="0"/>
              <a:buChar char="–"/>
            </a:pPr>
            <a:r>
              <a:rPr lang="en-US" dirty="0"/>
              <a:t>Create your Amazon EFS file system.</a:t>
            </a:r>
          </a:p>
          <a:p>
            <a:pPr>
              <a:spcBef>
                <a:spcPts val="1800"/>
              </a:spcBef>
              <a:buFont typeface="Open Sans" panose="020B0606030504020204" pitchFamily="34" charset="0"/>
              <a:buChar char="–"/>
              <a:tabLst>
                <a:tab pos="1528195" algn="l"/>
                <a:tab pos="1674242" algn="l"/>
              </a:tabLst>
            </a:pPr>
            <a:r>
              <a:rPr lang="en-US" dirty="0"/>
              <a:t>Create your mount targets in the appropriate subnets. </a:t>
            </a:r>
          </a:p>
          <a:p>
            <a:pPr>
              <a:spcBef>
                <a:spcPts val="1800"/>
              </a:spcBef>
              <a:buFont typeface="Open Sans" panose="020B0606030504020204" pitchFamily="34" charset="0"/>
              <a:buChar char="–"/>
              <a:tabLst>
                <a:tab pos="1528195" algn="l"/>
                <a:tab pos="1674242" algn="l"/>
              </a:tabLst>
            </a:pPr>
            <a:r>
              <a:rPr lang="en-US" dirty="0"/>
              <a:t>Connect your Amazon EC2 instances to the mount targets.</a:t>
            </a:r>
          </a:p>
          <a:p>
            <a:pPr>
              <a:spcBef>
                <a:spcPts val="1800"/>
              </a:spcBef>
              <a:buFont typeface="Open Sans" panose="020B0606030504020204" pitchFamily="34" charset="0"/>
              <a:buChar char="–"/>
              <a:tabLst>
                <a:tab pos="1528195" algn="l"/>
                <a:tab pos="1674242" algn="l"/>
              </a:tabLst>
            </a:pPr>
            <a:r>
              <a:rPr lang="en-US" dirty="0"/>
              <a:t>Verify the resources and protection of your AWS account.</a:t>
            </a:r>
          </a:p>
        </p:txBody>
      </p:sp>
    </p:spTree>
    <p:extLst>
      <p:ext uri="{BB962C8B-B14F-4D97-AF65-F5344CB8AC3E}">
        <p14:creationId xmlns:p14="http://schemas.microsoft.com/office/powerpoint/2010/main" val="410228565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18F9-9D29-9ECA-AECE-D40D5D966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79FB0-9E73-79E8-FBE3-8033D258BC42}"/>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Elastic File System (Amazon EFS)</a:t>
            </a:r>
            <a:endParaRPr lang="en-US" sz="2400" dirty="0"/>
          </a:p>
        </p:txBody>
      </p:sp>
      <p:sp>
        <p:nvSpPr>
          <p:cNvPr id="3" name="Text Placeholder 2">
            <a:extLst>
              <a:ext uri="{FF2B5EF4-FFF2-40B4-BE49-F238E27FC236}">
                <a16:creationId xmlns:a16="http://schemas.microsoft.com/office/drawing/2014/main" id="{64C658E9-A737-7182-229E-0B9C78D4ECB0}"/>
              </a:ext>
            </a:extLst>
          </p:cNvPr>
          <p:cNvSpPr>
            <a:spLocks noGrp="1"/>
          </p:cNvSpPr>
          <p:nvPr>
            <p:ph type="body" sz="quarter" idx="10"/>
          </p:nvPr>
        </p:nvSpPr>
        <p:spPr/>
        <p:txBody>
          <a:bodyPr>
            <a:normAutofit lnSpcReduction="10000"/>
          </a:bodyPr>
          <a:lstStyle/>
          <a:p>
            <a:r>
              <a:rPr lang="en-US" sz="2400" dirty="0"/>
              <a:t>Amazon EFS resources</a:t>
            </a:r>
          </a:p>
        </p:txBody>
      </p:sp>
      <p:sp>
        <p:nvSpPr>
          <p:cNvPr id="4" name="Title 1">
            <a:extLst>
              <a:ext uri="{FF2B5EF4-FFF2-40B4-BE49-F238E27FC236}">
                <a16:creationId xmlns:a16="http://schemas.microsoft.com/office/drawing/2014/main" id="{BAC94266-E39D-CB30-406F-CF426E6B3292}"/>
              </a:ext>
            </a:extLst>
          </p:cNvPr>
          <p:cNvSpPr txBox="1">
            <a:spLocks/>
          </p:cNvSpPr>
          <p:nvPr/>
        </p:nvSpPr>
        <p:spPr>
          <a:xfrm>
            <a:off x="39624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7698A905-33F5-1ABA-E981-4503023B1622}"/>
              </a:ext>
            </a:extLst>
          </p:cNvPr>
          <p:cNvSpPr txBox="1">
            <a:spLocks/>
          </p:cNvSpPr>
          <p:nvPr/>
        </p:nvSpPr>
        <p:spPr>
          <a:xfrm>
            <a:off x="2667000" y="1600200"/>
            <a:ext cx="7543800" cy="491330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200"/>
              </a:spcBef>
              <a:buNone/>
            </a:pPr>
            <a:r>
              <a:rPr lang="en-US" dirty="0"/>
              <a:t>File system</a:t>
            </a:r>
          </a:p>
          <a:p>
            <a:pPr marL="746125" lvl="1" indent="-457200" algn="just">
              <a:spcBef>
                <a:spcPts val="1200"/>
              </a:spcBef>
              <a:spcAft>
                <a:spcPts val="800"/>
              </a:spcAft>
            </a:pPr>
            <a:r>
              <a:rPr lang="en-US" dirty="0"/>
              <a:t>Mount target</a:t>
            </a:r>
          </a:p>
          <a:p>
            <a:pPr marL="1262063" lvl="1" indent="-457200" algn="just">
              <a:spcBef>
                <a:spcPts val="1200"/>
              </a:spcBef>
              <a:buClr>
                <a:schemeClr val="bg2">
                  <a:lumMod val="10000"/>
                </a:schemeClr>
              </a:buClr>
            </a:pPr>
            <a:r>
              <a:rPr lang="en-US" dirty="0"/>
              <a:t>Subnet ID</a:t>
            </a:r>
          </a:p>
          <a:p>
            <a:pPr marL="1262063" lvl="1" indent="-457200" algn="just">
              <a:spcBef>
                <a:spcPts val="1200"/>
              </a:spcBef>
              <a:buClr>
                <a:schemeClr val="bg2">
                  <a:lumMod val="10000"/>
                </a:schemeClr>
              </a:buClr>
            </a:pPr>
            <a:r>
              <a:rPr lang="en-US" dirty="0"/>
              <a:t>Security groups</a:t>
            </a:r>
          </a:p>
          <a:p>
            <a:pPr marL="1262063" lvl="1" indent="-457200" algn="just">
              <a:spcBef>
                <a:spcPts val="1200"/>
              </a:spcBef>
              <a:buClr>
                <a:schemeClr val="bg2">
                  <a:lumMod val="10000"/>
                </a:schemeClr>
              </a:buClr>
            </a:pPr>
            <a:r>
              <a:rPr lang="en-US" dirty="0"/>
              <a:t>One or more per file system</a:t>
            </a:r>
          </a:p>
          <a:p>
            <a:pPr marL="1262063" lvl="1" indent="-457200" algn="just">
              <a:spcBef>
                <a:spcPts val="1200"/>
              </a:spcBef>
              <a:buClr>
                <a:schemeClr val="bg2">
                  <a:lumMod val="10000"/>
                </a:schemeClr>
              </a:buClr>
            </a:pPr>
            <a:r>
              <a:rPr lang="en-US" dirty="0"/>
              <a:t>Create in a VPC subnet</a:t>
            </a:r>
          </a:p>
          <a:p>
            <a:pPr marL="1262063" lvl="1" indent="-457200" algn="just">
              <a:spcBef>
                <a:spcPts val="1200"/>
              </a:spcBef>
              <a:buClr>
                <a:schemeClr val="bg2">
                  <a:lumMod val="10000"/>
                </a:schemeClr>
              </a:buClr>
            </a:pPr>
            <a:r>
              <a:rPr lang="en-US" dirty="0"/>
              <a:t>One per Availability Zone</a:t>
            </a:r>
          </a:p>
          <a:p>
            <a:pPr marL="1262063" lvl="1" indent="-457200" algn="just">
              <a:spcBef>
                <a:spcPts val="1200"/>
              </a:spcBef>
              <a:buClr>
                <a:schemeClr val="bg2">
                  <a:lumMod val="10000"/>
                </a:schemeClr>
              </a:buClr>
            </a:pPr>
            <a:r>
              <a:rPr lang="en-US" dirty="0"/>
              <a:t>Must be in the same VPC</a:t>
            </a:r>
          </a:p>
          <a:p>
            <a:pPr marL="746125" lvl="1" indent="-457200" algn="just">
              <a:spcBef>
                <a:spcPts val="1200"/>
              </a:spcBef>
              <a:spcAft>
                <a:spcPts val="800"/>
              </a:spcAft>
            </a:pPr>
            <a:r>
              <a:rPr lang="en-US" dirty="0"/>
              <a:t>Tags</a:t>
            </a:r>
          </a:p>
          <a:p>
            <a:pPr marL="1262063" lvl="1" indent="-457200" algn="just">
              <a:spcBef>
                <a:spcPts val="1200"/>
              </a:spcBef>
              <a:buClr>
                <a:schemeClr val="bg2">
                  <a:lumMod val="10000"/>
                </a:schemeClr>
              </a:buClr>
            </a:pPr>
            <a:r>
              <a:rPr lang="en-US" dirty="0"/>
              <a:t>Key-value pairs</a:t>
            </a:r>
          </a:p>
        </p:txBody>
      </p:sp>
    </p:spTree>
    <p:extLst>
      <p:ext uri="{BB962C8B-B14F-4D97-AF65-F5344CB8AC3E}">
        <p14:creationId xmlns:p14="http://schemas.microsoft.com/office/powerpoint/2010/main" val="27883039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398FC-315C-C9FA-4761-92BEFD195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9EC7D-1068-5F36-3492-25EBD05CA768}"/>
              </a:ext>
            </a:extLst>
          </p:cNvPr>
          <p:cNvSpPr>
            <a:spLocks noGrp="1"/>
          </p:cNvSpPr>
          <p:nvPr>
            <p:ph type="title"/>
          </p:nvPr>
        </p:nvSpPr>
        <p:spPr/>
        <p:txBody>
          <a:bodyPr>
            <a:noAutofit/>
          </a:bodyPr>
          <a:lstStyle/>
          <a:p>
            <a:r>
              <a:rPr lang="en-US" sz="3600" b="1" dirty="0"/>
              <a:t>Amazon S3 Glacier</a:t>
            </a:r>
          </a:p>
        </p:txBody>
      </p:sp>
    </p:spTree>
    <p:extLst>
      <p:ext uri="{BB962C8B-B14F-4D97-AF65-F5344CB8AC3E}">
        <p14:creationId xmlns:p14="http://schemas.microsoft.com/office/powerpoint/2010/main" val="28350792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10D5B-33A6-5F7D-B89C-7175FA7DD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FCA2F-3953-A772-4BB6-9A988DDA7599}"/>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017891CD-84FB-D957-D93D-C39315D28C5F}"/>
              </a:ext>
            </a:extLst>
          </p:cNvPr>
          <p:cNvSpPr>
            <a:spLocks noGrp="1"/>
          </p:cNvSpPr>
          <p:nvPr>
            <p:ph type="body" sz="quarter" idx="10"/>
          </p:nvPr>
        </p:nvSpPr>
        <p:spPr/>
        <p:txBody>
          <a:bodyPr>
            <a:normAutofit lnSpcReduction="10000"/>
          </a:bodyPr>
          <a:lstStyle/>
          <a:p>
            <a:r>
              <a:rPr lang="en-US" sz="2400" dirty="0"/>
              <a:t>S3 Glacier	</a:t>
            </a:r>
          </a:p>
        </p:txBody>
      </p:sp>
      <p:sp>
        <p:nvSpPr>
          <p:cNvPr id="4" name="Title 1">
            <a:extLst>
              <a:ext uri="{FF2B5EF4-FFF2-40B4-BE49-F238E27FC236}">
                <a16:creationId xmlns:a16="http://schemas.microsoft.com/office/drawing/2014/main" id="{2DED89BC-6284-02BE-615E-05BF2DC51BA1}"/>
              </a:ext>
            </a:extLst>
          </p:cNvPr>
          <p:cNvSpPr txBox="1">
            <a:spLocks/>
          </p:cNvSpPr>
          <p:nvPr/>
        </p:nvSpPr>
        <p:spPr>
          <a:xfrm>
            <a:off x="37338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Graphic 4">
            <a:extLst>
              <a:ext uri="{FF2B5EF4-FFF2-40B4-BE49-F238E27FC236}">
                <a16:creationId xmlns:a16="http://schemas.microsoft.com/office/drawing/2014/main" id="{5F7C80C2-E844-ECB2-C329-2B398D42C8A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250" y="673566"/>
            <a:ext cx="704079" cy="704079"/>
          </a:xfrm>
          <a:prstGeom prst="rect">
            <a:avLst/>
          </a:prstGeom>
        </p:spPr>
      </p:pic>
      <p:sp>
        <p:nvSpPr>
          <p:cNvPr id="6" name="TextBox 5">
            <a:extLst>
              <a:ext uri="{FF2B5EF4-FFF2-40B4-BE49-F238E27FC236}">
                <a16:creationId xmlns:a16="http://schemas.microsoft.com/office/drawing/2014/main" id="{78D9B5B7-A4EA-74F5-259B-91540D6D6ED0}"/>
              </a:ext>
            </a:extLst>
          </p:cNvPr>
          <p:cNvSpPr txBox="1"/>
          <p:nvPr/>
        </p:nvSpPr>
        <p:spPr>
          <a:xfrm>
            <a:off x="9028480" y="1346867"/>
            <a:ext cx="1677621" cy="615553"/>
          </a:xfrm>
          <a:prstGeom prst="rect">
            <a:avLst/>
          </a:prstGeom>
          <a:noFill/>
        </p:spPr>
        <p:txBody>
          <a:bodyPr wrap="square" lIns="0" tIns="0" rIns="0" bIns="0" rtlCol="0" anchor="ctr">
            <a:spAutoFit/>
          </a:bodyPr>
          <a:lstStyle/>
          <a:p>
            <a:pPr algn="ctr"/>
            <a:r>
              <a:rPr lang="en-US" sz="2000" dirty="0">
                <a:ea typeface="Amazon Ember" panose="020B0603020204020204" pitchFamily="34" charset="0"/>
                <a:cs typeface="Amazon Ember" panose="020B0603020204020204" pitchFamily="34" charset="0"/>
              </a:rPr>
              <a:t>Amazon S3 Glacier</a:t>
            </a:r>
          </a:p>
        </p:txBody>
      </p:sp>
      <p:sp>
        <p:nvSpPr>
          <p:cNvPr id="7" name="Content Placeholder 2">
            <a:extLst>
              <a:ext uri="{FF2B5EF4-FFF2-40B4-BE49-F238E27FC236}">
                <a16:creationId xmlns:a16="http://schemas.microsoft.com/office/drawing/2014/main" id="{281CD670-E715-BECD-E5A3-C5BADA338F47}"/>
              </a:ext>
            </a:extLst>
          </p:cNvPr>
          <p:cNvSpPr txBox="1">
            <a:spLocks/>
          </p:cNvSpPr>
          <p:nvPr/>
        </p:nvSpPr>
        <p:spPr>
          <a:xfrm>
            <a:off x="2667000" y="2081723"/>
            <a:ext cx="7696200" cy="4852477"/>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200"/>
              </a:spcBef>
              <a:spcAft>
                <a:spcPts val="800"/>
              </a:spcAft>
              <a:buNone/>
            </a:pPr>
            <a:r>
              <a:rPr lang="en-US" sz="1800" dirty="0">
                <a:latin typeface="Open Sans" panose="020B0606030504020204" pitchFamily="34" charset="0"/>
                <a:ea typeface="Open Sans" panose="020B0606030504020204" pitchFamily="34" charset="0"/>
                <a:cs typeface="Open Sans" panose="020B0606030504020204" pitchFamily="34" charset="0"/>
              </a:rPr>
              <a:t>Amazon S3 Glacier is a </a:t>
            </a:r>
            <a:r>
              <a:rPr lang="en-US" sz="18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data archiving service </a:t>
            </a:r>
            <a:r>
              <a:rPr lang="en-US" sz="1800" dirty="0">
                <a:latin typeface="Open Sans" panose="020B0606030504020204" pitchFamily="34" charset="0"/>
                <a:ea typeface="Open Sans" panose="020B0606030504020204" pitchFamily="34" charset="0"/>
                <a:cs typeface="Open Sans" panose="020B0606030504020204" pitchFamily="34" charset="0"/>
              </a:rPr>
              <a:t>that is designed for </a:t>
            </a:r>
            <a:r>
              <a:rPr lang="en-US" sz="18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security</a:t>
            </a:r>
            <a:r>
              <a:rPr lang="en-US" sz="1800" dirty="0">
                <a:latin typeface="Open Sans" panose="020B0606030504020204" pitchFamily="34" charset="0"/>
                <a:ea typeface="Open Sans" panose="020B0606030504020204" pitchFamily="34" charset="0"/>
                <a:cs typeface="Open Sans" panose="020B0606030504020204" pitchFamily="34" charset="0"/>
              </a:rPr>
              <a:t>, </a:t>
            </a:r>
            <a:r>
              <a:rPr lang="en-US" sz="18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durability</a:t>
            </a:r>
            <a:r>
              <a:rPr lang="en-US" sz="1800" dirty="0">
                <a:latin typeface="Open Sans" panose="020B0606030504020204" pitchFamily="34" charset="0"/>
                <a:ea typeface="Open Sans" panose="020B0606030504020204" pitchFamily="34" charset="0"/>
                <a:cs typeface="Open Sans" panose="020B0606030504020204" pitchFamily="34" charset="0"/>
              </a:rPr>
              <a:t>, and an </a:t>
            </a:r>
            <a:r>
              <a:rPr lang="en-US" sz="18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extremely low cost</a:t>
            </a:r>
            <a:r>
              <a:rPr lang="en-US" sz="1800" dirty="0">
                <a:latin typeface="Open Sans" panose="020B0606030504020204" pitchFamily="34" charset="0"/>
                <a:ea typeface="Open Sans" panose="020B0606030504020204" pitchFamily="34" charset="0"/>
                <a:cs typeface="Open Sans" panose="020B0606030504020204" pitchFamily="34" charset="0"/>
              </a:rPr>
              <a:t>.</a:t>
            </a:r>
          </a:p>
          <a:p>
            <a:pPr marL="457200" lvl="1" indent="-457200" algn="just">
              <a:spcBef>
                <a:spcPts val="12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Amazon S3 Glacier is designed to provide 11 9s of durability for objects.</a:t>
            </a:r>
          </a:p>
          <a:p>
            <a:pPr marL="457200" lvl="1" indent="-457200" algn="just">
              <a:spcBef>
                <a:spcPts val="12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It supports the encryption of data in transit and at rest through Secure Sockets Layer (SSL) or Transport Layer Security (TLS).</a:t>
            </a:r>
          </a:p>
          <a:p>
            <a:pPr marL="457200" lvl="1" indent="-457200" algn="just">
              <a:spcBef>
                <a:spcPts val="12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The Vault Lock feature enforces compliance through a policy.</a:t>
            </a:r>
          </a:p>
          <a:p>
            <a:pPr marL="457200" lvl="1" indent="-457200" algn="just">
              <a:spcBef>
                <a:spcPts val="12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Extremely low-cost design works well for long-term archiving.</a:t>
            </a:r>
          </a:p>
          <a:p>
            <a:pPr marL="914400" lvl="2" indent="-457200" algn="just">
              <a:spcBef>
                <a:spcPts val="12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Provides three options for access to archives expedited, standard, and bulk retrieval times range from a few minutes to several hours.</a:t>
            </a:r>
          </a:p>
        </p:txBody>
      </p:sp>
    </p:spTree>
    <p:extLst>
      <p:ext uri="{BB962C8B-B14F-4D97-AF65-F5344CB8AC3E}">
        <p14:creationId xmlns:p14="http://schemas.microsoft.com/office/powerpoint/2010/main" val="89043308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BFD6-AE26-752E-82B2-460DB4930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F76CF-83A8-FD26-965E-0ABB8381E97C}"/>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0C45EE03-3E85-86CF-EF75-8324FAAAA8BB}"/>
              </a:ext>
            </a:extLst>
          </p:cNvPr>
          <p:cNvSpPr>
            <a:spLocks noGrp="1"/>
          </p:cNvSpPr>
          <p:nvPr>
            <p:ph type="body" sz="quarter" idx="10"/>
          </p:nvPr>
        </p:nvSpPr>
        <p:spPr/>
        <p:txBody>
          <a:bodyPr>
            <a:normAutofit lnSpcReduction="10000"/>
          </a:bodyPr>
          <a:lstStyle/>
          <a:p>
            <a:r>
              <a:rPr lang="en-US" sz="2400" dirty="0"/>
              <a:t>S3 Glacier</a:t>
            </a:r>
          </a:p>
        </p:txBody>
      </p:sp>
      <p:sp>
        <p:nvSpPr>
          <p:cNvPr id="4" name="Title 1">
            <a:extLst>
              <a:ext uri="{FF2B5EF4-FFF2-40B4-BE49-F238E27FC236}">
                <a16:creationId xmlns:a16="http://schemas.microsoft.com/office/drawing/2014/main" id="{E6C120F3-7F07-E894-0D37-36FE8C153F86}"/>
              </a:ext>
            </a:extLst>
          </p:cNvPr>
          <p:cNvSpPr txBox="1">
            <a:spLocks/>
          </p:cNvSpPr>
          <p:nvPr/>
        </p:nvSpPr>
        <p:spPr>
          <a:xfrm>
            <a:off x="33528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Rounded Rectangle 27" descr="Amazon S3 Glacier features.">
            <a:extLst>
              <a:ext uri="{FF2B5EF4-FFF2-40B4-BE49-F238E27FC236}">
                <a16:creationId xmlns:a16="http://schemas.microsoft.com/office/drawing/2014/main" id="{E37FC759-020B-287F-B46A-D750EED0E05E}"/>
              </a:ext>
            </a:extLst>
          </p:cNvPr>
          <p:cNvSpPr/>
          <p:nvPr/>
        </p:nvSpPr>
        <p:spPr bwMode="auto">
          <a:xfrm>
            <a:off x="2133600" y="2514601"/>
            <a:ext cx="4128150" cy="3435881"/>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gradFill>
                <a:gsLst>
                  <a:gs pos="0">
                    <a:srgbClr val="FFFFFF"/>
                  </a:gs>
                  <a:gs pos="100000">
                    <a:srgbClr val="FFFFFF"/>
                  </a:gs>
                </a:gsLst>
                <a:lin ang="5400000" scaled="0"/>
              </a:gradFill>
              <a:ea typeface="Segoe UI" pitchFamily="34" charset="0"/>
              <a:cs typeface="Segoe UI" pitchFamily="34" charset="0"/>
            </a:endParaRPr>
          </a:p>
        </p:txBody>
      </p:sp>
      <p:sp>
        <p:nvSpPr>
          <p:cNvPr id="6" name="Content Placeholder 2">
            <a:extLst>
              <a:ext uri="{FF2B5EF4-FFF2-40B4-BE49-F238E27FC236}">
                <a16:creationId xmlns:a16="http://schemas.microsoft.com/office/drawing/2014/main" id="{9FC813FC-D94B-E176-0F46-DC6940526031}"/>
              </a:ext>
            </a:extLst>
          </p:cNvPr>
          <p:cNvSpPr txBox="1">
            <a:spLocks/>
          </p:cNvSpPr>
          <p:nvPr/>
        </p:nvSpPr>
        <p:spPr>
          <a:xfrm>
            <a:off x="2258541" y="2668509"/>
            <a:ext cx="3909500" cy="29948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600"/>
              </a:spcBef>
            </a:pPr>
            <a:r>
              <a:rPr lang="en-US" sz="1600" dirty="0"/>
              <a:t>Storage service for low-cost data archiving and long-term backup </a:t>
            </a:r>
          </a:p>
          <a:p>
            <a:pPr algn="just">
              <a:spcBef>
                <a:spcPts val="600"/>
              </a:spcBef>
            </a:pPr>
            <a:r>
              <a:rPr lang="en-US" sz="1600" dirty="0"/>
              <a:t>You can configure lifecycle archiving of Amazon S3 content to Amazon S3 Glacier</a:t>
            </a:r>
          </a:p>
          <a:p>
            <a:pPr algn="just">
              <a:spcBef>
                <a:spcPts val="600"/>
              </a:spcBef>
            </a:pPr>
            <a:r>
              <a:rPr lang="en-US" sz="1600" dirty="0"/>
              <a:t>Retrieval options – </a:t>
            </a:r>
          </a:p>
          <a:p>
            <a:pPr lvl="1" algn="just">
              <a:spcBef>
                <a:spcPts val="600"/>
              </a:spcBef>
            </a:pPr>
            <a:r>
              <a:rPr lang="en-US" sz="1600" dirty="0"/>
              <a:t>Standard: 3–5 hours</a:t>
            </a:r>
          </a:p>
          <a:p>
            <a:pPr lvl="1" algn="just">
              <a:spcBef>
                <a:spcPts val="600"/>
              </a:spcBef>
            </a:pPr>
            <a:r>
              <a:rPr lang="en-US" sz="1600" dirty="0"/>
              <a:t>Bulk: 5–12 hours</a:t>
            </a:r>
          </a:p>
          <a:p>
            <a:pPr lvl="1" algn="just">
              <a:spcBef>
                <a:spcPts val="600"/>
              </a:spcBef>
            </a:pPr>
            <a:r>
              <a:rPr lang="en-US" sz="1600" dirty="0"/>
              <a:t>Expedited: 1–5 minutes</a:t>
            </a:r>
          </a:p>
        </p:txBody>
      </p:sp>
      <p:grpSp>
        <p:nvGrpSpPr>
          <p:cNvPr id="7" name="Group 6" descr="move objects from s3 bucket to amazon s3 glacier archive after 30 days. delete objects from amazon s3 glacier archive after 5 years.">
            <a:extLst>
              <a:ext uri="{FF2B5EF4-FFF2-40B4-BE49-F238E27FC236}">
                <a16:creationId xmlns:a16="http://schemas.microsoft.com/office/drawing/2014/main" id="{BF382692-3A0C-C165-B3BC-6A806C12B9D2}"/>
              </a:ext>
            </a:extLst>
          </p:cNvPr>
          <p:cNvGrpSpPr/>
          <p:nvPr/>
        </p:nvGrpSpPr>
        <p:grpSpPr>
          <a:xfrm>
            <a:off x="6386691" y="2514601"/>
            <a:ext cx="4128150" cy="3435881"/>
            <a:chOff x="6311250" y="1610343"/>
            <a:chExt cx="5389258" cy="4340138"/>
          </a:xfrm>
        </p:grpSpPr>
        <p:sp>
          <p:nvSpPr>
            <p:cNvPr id="8" name="Rounded Rectangle 29" descr="illustrates Amazon S3 bucket sending data to archive in Amazon S3 Glacier.">
              <a:extLst>
                <a:ext uri="{FF2B5EF4-FFF2-40B4-BE49-F238E27FC236}">
                  <a16:creationId xmlns:a16="http://schemas.microsoft.com/office/drawing/2014/main" id="{FCAE6F2A-925D-7808-A8A0-B1687E9880C5}"/>
                </a:ext>
              </a:extLst>
            </p:cNvPr>
            <p:cNvSpPr/>
            <p:nvPr/>
          </p:nvSpPr>
          <p:spPr bwMode="auto">
            <a:xfrm>
              <a:off x="6311250"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B43FB2E2-6295-20A5-46BB-FD7B3BD18CA8}"/>
                </a:ext>
                <a:ext uri="{C183D7F6-B498-43B3-948B-1728B52AA6E4}">
                  <adec:decorative xmlns:adec="http://schemas.microsoft.com/office/drawing/2017/decorative" val="1"/>
                </a:ext>
              </a:extLst>
            </p:cNvPr>
            <p:cNvSpPr/>
            <p:nvPr/>
          </p:nvSpPr>
          <p:spPr>
            <a:xfrm>
              <a:off x="6578450" y="3904669"/>
              <a:ext cx="1488920" cy="3527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0" name="Graphic 9">
              <a:extLst>
                <a:ext uri="{FF2B5EF4-FFF2-40B4-BE49-F238E27FC236}">
                  <a16:creationId xmlns:a16="http://schemas.microsoft.com/office/drawing/2014/main" id="{E165BC0E-FA50-89F9-CAB4-0C97BE07DE3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3396" y="3210259"/>
              <a:ext cx="640080" cy="640080"/>
            </a:xfrm>
            <a:prstGeom prst="rect">
              <a:avLst/>
            </a:prstGeom>
          </p:spPr>
        </p:pic>
        <p:sp>
          <p:nvSpPr>
            <p:cNvPr id="11" name="TextBox 10">
              <a:extLst>
                <a:ext uri="{FF2B5EF4-FFF2-40B4-BE49-F238E27FC236}">
                  <a16:creationId xmlns:a16="http://schemas.microsoft.com/office/drawing/2014/main" id="{49871A0A-AF4A-BD18-B86D-54F14361FAAD}"/>
                </a:ext>
                <a:ext uri="{C183D7F6-B498-43B3-948B-1728B52AA6E4}">
                  <adec:decorative xmlns:adec="http://schemas.microsoft.com/office/drawing/2017/decorative" val="1"/>
                </a:ext>
              </a:extLst>
            </p:cNvPr>
            <p:cNvSpPr txBox="1"/>
            <p:nvPr/>
          </p:nvSpPr>
          <p:spPr>
            <a:xfrm>
              <a:off x="6528626" y="3876478"/>
              <a:ext cx="1370728" cy="660921"/>
            </a:xfrm>
            <a:prstGeom prst="rect">
              <a:avLst/>
            </a:prstGeom>
            <a:noFill/>
          </p:spPr>
          <p:txBody>
            <a:bodyPr wrap="square" rtlCol="0">
              <a:spAutoFit/>
            </a:bodyPr>
            <a:lstStyle/>
            <a:p>
              <a:pPr algn="ctr"/>
              <a:r>
                <a:rPr lang="en-US" sz="1400" b="1" dirty="0">
                  <a:solidFill>
                    <a:srgbClr val="0070C0"/>
                  </a:solidFill>
                  <a:latin typeface="Amazon Ember"/>
                  <a:ea typeface="Amazon Ember Medium" panose="020B0603020204030204" pitchFamily="34" charset="0"/>
                  <a:cs typeface="Arial" panose="020B0604020202020204" pitchFamily="34" charset="0"/>
                </a:rPr>
                <a:t>Amazon S3 bucket</a:t>
              </a:r>
            </a:p>
          </p:txBody>
        </p:sp>
        <p:sp>
          <p:nvSpPr>
            <p:cNvPr id="12" name="TextBox 11">
              <a:extLst>
                <a:ext uri="{FF2B5EF4-FFF2-40B4-BE49-F238E27FC236}">
                  <a16:creationId xmlns:a16="http://schemas.microsoft.com/office/drawing/2014/main" id="{4AD87D08-B8D3-87EA-E4F4-70F5CD0CF753}"/>
                </a:ext>
                <a:ext uri="{C183D7F6-B498-43B3-948B-1728B52AA6E4}">
                  <adec:decorative xmlns:adec="http://schemas.microsoft.com/office/drawing/2017/decorative" val="1"/>
                </a:ext>
              </a:extLst>
            </p:cNvPr>
            <p:cNvSpPr txBox="1"/>
            <p:nvPr/>
          </p:nvSpPr>
          <p:spPr>
            <a:xfrm>
              <a:off x="7522272" y="3014342"/>
              <a:ext cx="1370728" cy="583166"/>
            </a:xfrm>
            <a:prstGeom prst="rect">
              <a:avLst/>
            </a:prstGeom>
            <a:noFill/>
          </p:spPr>
          <p:txBody>
            <a:bodyPr wrap="square" rtlCol="0">
              <a:spAutoFit/>
            </a:bodyPr>
            <a:lstStyle/>
            <a:p>
              <a:pPr algn="ctr"/>
              <a:r>
                <a:rPr lang="en-US" sz="1200" dirty="0">
                  <a:latin typeface="Amazon Ember"/>
                  <a:ea typeface="Amazon Ember Light" panose="020B0403020204020204" pitchFamily="34" charset="0"/>
                  <a:cs typeface="Amazon Ember Light" panose="020B0403020204020204" pitchFamily="34" charset="0"/>
                </a:rPr>
                <a:t>Archive after 30 days</a:t>
              </a:r>
            </a:p>
          </p:txBody>
        </p:sp>
        <p:cxnSp>
          <p:nvCxnSpPr>
            <p:cNvPr id="13" name="Straight Arrow Connector 12">
              <a:extLst>
                <a:ext uri="{FF2B5EF4-FFF2-40B4-BE49-F238E27FC236}">
                  <a16:creationId xmlns:a16="http://schemas.microsoft.com/office/drawing/2014/main" id="{DC00855B-11B3-38C3-732D-1A1B90A9B0C0}"/>
                </a:ext>
                <a:ext uri="{C183D7F6-B498-43B3-948B-1728B52AA6E4}">
                  <adec:decorative xmlns:adec="http://schemas.microsoft.com/office/drawing/2017/decorative" val="1"/>
                </a:ext>
              </a:extLst>
            </p:cNvPr>
            <p:cNvCxnSpPr/>
            <p:nvPr/>
          </p:nvCxnSpPr>
          <p:spPr>
            <a:xfrm>
              <a:off x="7563331"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18CD9D71-8511-1B88-818C-A29D10CD3ED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81006" y="3217522"/>
              <a:ext cx="640080" cy="640080"/>
            </a:xfrm>
            <a:prstGeom prst="rect">
              <a:avLst/>
            </a:prstGeom>
          </p:spPr>
        </p:pic>
        <p:sp>
          <p:nvSpPr>
            <p:cNvPr id="15" name="TextBox 14">
              <a:extLst>
                <a:ext uri="{FF2B5EF4-FFF2-40B4-BE49-F238E27FC236}">
                  <a16:creationId xmlns:a16="http://schemas.microsoft.com/office/drawing/2014/main" id="{1FB99CC7-C1C5-AFA3-76CA-C77EC5B9FCA7}"/>
                </a:ext>
                <a:ext uri="{C183D7F6-B498-43B3-948B-1728B52AA6E4}">
                  <adec:decorative xmlns:adec="http://schemas.microsoft.com/office/drawing/2017/decorative" val="1"/>
                </a:ext>
              </a:extLst>
            </p:cNvPr>
            <p:cNvSpPr txBox="1"/>
            <p:nvPr/>
          </p:nvSpPr>
          <p:spPr>
            <a:xfrm>
              <a:off x="8518192" y="3861557"/>
              <a:ext cx="1370728" cy="933066"/>
            </a:xfrm>
            <a:prstGeom prst="rect">
              <a:avLst/>
            </a:prstGeom>
            <a:noFill/>
          </p:spPr>
          <p:txBody>
            <a:bodyPr wrap="square" rtlCol="0">
              <a:spAutoFit/>
            </a:bodyPr>
            <a:lstStyle/>
            <a:p>
              <a:pPr algn="ctr"/>
              <a:r>
                <a:rPr lang="en-US" sz="1400" b="1" dirty="0">
                  <a:solidFill>
                    <a:srgbClr val="0070C0"/>
                  </a:solidFill>
                  <a:latin typeface="Amazon Ember"/>
                  <a:ea typeface="Amazon Ember Medium" panose="020B0603020204030204" pitchFamily="34" charset="0"/>
                  <a:cs typeface="Arial" panose="020B0604020202020204" pitchFamily="34" charset="0"/>
                </a:rPr>
                <a:t>Amazon S3 Glacier Archive</a:t>
              </a:r>
            </a:p>
          </p:txBody>
        </p:sp>
        <p:sp>
          <p:nvSpPr>
            <p:cNvPr id="16" name="TextBox 15">
              <a:extLst>
                <a:ext uri="{FF2B5EF4-FFF2-40B4-BE49-F238E27FC236}">
                  <a16:creationId xmlns:a16="http://schemas.microsoft.com/office/drawing/2014/main" id="{86EACF45-AC12-9E81-03BE-53EB6F867F27}"/>
                </a:ext>
                <a:ext uri="{C183D7F6-B498-43B3-948B-1728B52AA6E4}">
                  <adec:decorative xmlns:adec="http://schemas.microsoft.com/office/drawing/2017/decorative" val="1"/>
                </a:ext>
              </a:extLst>
            </p:cNvPr>
            <p:cNvSpPr txBox="1"/>
            <p:nvPr/>
          </p:nvSpPr>
          <p:spPr>
            <a:xfrm>
              <a:off x="9430693" y="3014342"/>
              <a:ext cx="1370728" cy="583166"/>
            </a:xfrm>
            <a:prstGeom prst="rect">
              <a:avLst/>
            </a:prstGeom>
            <a:noFill/>
          </p:spPr>
          <p:txBody>
            <a:bodyPr wrap="square" rtlCol="0">
              <a:spAutoFit/>
            </a:bodyPr>
            <a:lstStyle/>
            <a:p>
              <a:pPr algn="ctr"/>
              <a:r>
                <a:rPr lang="en-US" sz="1200" dirty="0">
                  <a:latin typeface="Amazon Ember"/>
                  <a:ea typeface="Amazon Ember Light" panose="020B0403020204020204" pitchFamily="34" charset="0"/>
                  <a:cs typeface="Amazon Ember Light" panose="020B0403020204020204" pitchFamily="34" charset="0"/>
                </a:rPr>
                <a:t>Delete after 5 years</a:t>
              </a:r>
            </a:p>
          </p:txBody>
        </p:sp>
        <p:cxnSp>
          <p:nvCxnSpPr>
            <p:cNvPr id="17" name="Straight Arrow Connector 16">
              <a:extLst>
                <a:ext uri="{FF2B5EF4-FFF2-40B4-BE49-F238E27FC236}">
                  <a16:creationId xmlns:a16="http://schemas.microsoft.com/office/drawing/2014/main" id="{96F71B64-D0D0-51A1-865C-59B32B64DB1C}"/>
                </a:ext>
                <a:ext uri="{C183D7F6-B498-43B3-948B-1728B52AA6E4}">
                  <adec:decorative xmlns:adec="http://schemas.microsoft.com/office/drawing/2017/decorative" val="1"/>
                </a:ext>
              </a:extLst>
            </p:cNvPr>
            <p:cNvCxnSpPr/>
            <p:nvPr/>
          </p:nvCxnSpPr>
          <p:spPr>
            <a:xfrm>
              <a:off x="9471752"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38D7B508-84EC-32B0-B712-C0822789742B}"/>
                </a:ext>
                <a:ext uri="{C183D7F6-B498-43B3-948B-1728B52AA6E4}">
                  <adec:decorative xmlns:adec="http://schemas.microsoft.com/office/drawing/2017/decorative" val="1"/>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5900"/>
                      </a14:imgEffect>
                    </a14:imgLayer>
                  </a14:imgProps>
                </a:ext>
                <a:ext uri="{28A0092B-C50C-407E-A947-70E740481C1C}">
                  <a14:useLocalDpi xmlns:a14="http://schemas.microsoft.com/office/drawing/2010/main" val="0"/>
                </a:ext>
              </a:extLst>
            </a:blip>
            <a:stretch>
              <a:fillRect/>
            </a:stretch>
          </p:blipFill>
          <p:spPr>
            <a:xfrm>
              <a:off x="10640001" y="3196007"/>
              <a:ext cx="793308" cy="793308"/>
            </a:xfrm>
            <a:prstGeom prst="rect">
              <a:avLst/>
            </a:prstGeom>
          </p:spPr>
        </p:pic>
      </p:grpSp>
    </p:spTree>
    <p:extLst>
      <p:ext uri="{BB962C8B-B14F-4D97-AF65-F5344CB8AC3E}">
        <p14:creationId xmlns:p14="http://schemas.microsoft.com/office/powerpoint/2010/main" val="87467699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7BEE1-BE79-2298-DDCF-C3AEFCCA7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55E80-598C-373D-F6BA-C3BDE8E3E5CD}"/>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32BB9C43-3F75-7852-F4DC-00CEA5912ECB}"/>
              </a:ext>
            </a:extLst>
          </p:cNvPr>
          <p:cNvSpPr>
            <a:spLocks noGrp="1"/>
          </p:cNvSpPr>
          <p:nvPr>
            <p:ph type="body" sz="quarter" idx="10"/>
          </p:nvPr>
        </p:nvSpPr>
        <p:spPr/>
        <p:txBody>
          <a:bodyPr>
            <a:normAutofit fontScale="92500" lnSpcReduction="10000"/>
          </a:bodyPr>
          <a:lstStyle/>
          <a:p>
            <a:r>
              <a:rPr lang="en-US" sz="2400" dirty="0"/>
              <a:t>Amazon S3 Glacier use cases</a:t>
            </a:r>
          </a:p>
        </p:txBody>
      </p:sp>
      <p:sp>
        <p:nvSpPr>
          <p:cNvPr id="4" name="Title 1">
            <a:extLst>
              <a:ext uri="{FF2B5EF4-FFF2-40B4-BE49-F238E27FC236}">
                <a16:creationId xmlns:a16="http://schemas.microsoft.com/office/drawing/2014/main" id="{1139F2A6-1FDF-C227-7D96-C6DCD33C7549}"/>
              </a:ext>
            </a:extLst>
          </p:cNvPr>
          <p:cNvSpPr txBox="1">
            <a:spLocks/>
          </p:cNvSpPr>
          <p:nvPr/>
        </p:nvSpPr>
        <p:spPr>
          <a:xfrm>
            <a:off x="39624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Rounded Rectangle 13" descr="Amazon S3 Glacier use cases.">
            <a:extLst>
              <a:ext uri="{FF2B5EF4-FFF2-40B4-BE49-F238E27FC236}">
                <a16:creationId xmlns:a16="http://schemas.microsoft.com/office/drawing/2014/main" id="{73F299B4-F788-6AA5-0D6B-0B5E0AABFFC9}"/>
              </a:ext>
            </a:extLst>
          </p:cNvPr>
          <p:cNvSpPr/>
          <p:nvPr/>
        </p:nvSpPr>
        <p:spPr bwMode="auto">
          <a:xfrm>
            <a:off x="3276601" y="1752600"/>
            <a:ext cx="6791971" cy="4422626"/>
          </a:xfrm>
          <a:prstGeom prst="roundRect">
            <a:avLst>
              <a:gd name="adj" fmla="val 13771"/>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Content Placeholder 2">
            <a:extLst>
              <a:ext uri="{FF2B5EF4-FFF2-40B4-BE49-F238E27FC236}">
                <a16:creationId xmlns:a16="http://schemas.microsoft.com/office/drawing/2014/main" id="{FA3FDA41-8B43-2EB7-2694-B766BCC03B68}"/>
              </a:ext>
            </a:extLst>
          </p:cNvPr>
          <p:cNvSpPr txBox="1">
            <a:spLocks/>
          </p:cNvSpPr>
          <p:nvPr/>
        </p:nvSpPr>
        <p:spPr>
          <a:xfrm>
            <a:off x="4643513" y="1913730"/>
            <a:ext cx="5425058" cy="42614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200"/>
              </a:spcBef>
              <a:buNone/>
            </a:pPr>
            <a:r>
              <a:rPr lang="en-US" sz="2400" dirty="0"/>
              <a:t>Media asset archiving</a:t>
            </a:r>
          </a:p>
          <a:p>
            <a:pPr marL="0" indent="0">
              <a:lnSpc>
                <a:spcPct val="150000"/>
              </a:lnSpc>
              <a:spcBef>
                <a:spcPts val="1200"/>
              </a:spcBef>
              <a:buNone/>
            </a:pPr>
            <a:r>
              <a:rPr lang="en-US" sz="2400" dirty="0"/>
              <a:t>Healthcare information archiving</a:t>
            </a:r>
          </a:p>
          <a:p>
            <a:pPr marL="0" indent="0">
              <a:lnSpc>
                <a:spcPct val="150000"/>
              </a:lnSpc>
              <a:spcBef>
                <a:spcPts val="1200"/>
              </a:spcBef>
              <a:buNone/>
            </a:pPr>
            <a:r>
              <a:rPr lang="en-US" sz="2400" dirty="0"/>
              <a:t>Regulatory and compliance archiving</a:t>
            </a:r>
          </a:p>
          <a:p>
            <a:pPr marL="0" indent="0">
              <a:lnSpc>
                <a:spcPct val="150000"/>
              </a:lnSpc>
              <a:spcBef>
                <a:spcPts val="1200"/>
              </a:spcBef>
              <a:buNone/>
            </a:pPr>
            <a:r>
              <a:rPr lang="en-US" sz="2400" dirty="0"/>
              <a:t>Scientific data archiving</a:t>
            </a:r>
          </a:p>
          <a:p>
            <a:pPr marL="0" indent="0">
              <a:lnSpc>
                <a:spcPct val="150000"/>
              </a:lnSpc>
              <a:spcBef>
                <a:spcPts val="1200"/>
              </a:spcBef>
              <a:buNone/>
            </a:pPr>
            <a:r>
              <a:rPr lang="en-US" sz="2400" dirty="0"/>
              <a:t>Digital preservation</a:t>
            </a:r>
          </a:p>
          <a:p>
            <a:pPr marL="0" indent="0">
              <a:lnSpc>
                <a:spcPct val="150000"/>
              </a:lnSpc>
              <a:spcBef>
                <a:spcPts val="1200"/>
              </a:spcBef>
              <a:buNone/>
            </a:pPr>
            <a:r>
              <a:rPr lang="en-US" sz="2400" dirty="0"/>
              <a:t>Magnetic tape replacement</a:t>
            </a:r>
          </a:p>
        </p:txBody>
      </p:sp>
      <p:pic>
        <p:nvPicPr>
          <p:cNvPr id="7" name="Picture 6">
            <a:extLst>
              <a:ext uri="{FF2B5EF4-FFF2-40B4-BE49-F238E27FC236}">
                <a16:creationId xmlns:a16="http://schemas.microsoft.com/office/drawing/2014/main" id="{5C6E52C3-0FEE-C1F3-9F66-72D859F4FAAC}"/>
              </a:ext>
              <a:ext uri="{C183D7F6-B498-43B3-948B-1728B52AA6E4}">
                <adec:decorative xmlns:adec="http://schemas.microsoft.com/office/drawing/2017/decorative" val="1"/>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828725" y="1913731"/>
            <a:ext cx="782422" cy="778694"/>
          </a:xfrm>
          <a:prstGeom prst="rect">
            <a:avLst/>
          </a:prstGeom>
        </p:spPr>
      </p:pic>
      <p:pic>
        <p:nvPicPr>
          <p:cNvPr id="8" name="Picture 7">
            <a:extLst>
              <a:ext uri="{FF2B5EF4-FFF2-40B4-BE49-F238E27FC236}">
                <a16:creationId xmlns:a16="http://schemas.microsoft.com/office/drawing/2014/main" id="{7B49CA4C-3801-670C-E446-0F4069FCC588}"/>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928531" y="2708199"/>
            <a:ext cx="582810" cy="582810"/>
          </a:xfrm>
          <a:prstGeom prst="rect">
            <a:avLst/>
          </a:prstGeom>
        </p:spPr>
      </p:pic>
      <p:pic>
        <p:nvPicPr>
          <p:cNvPr id="9" name="Picture 8">
            <a:extLst>
              <a:ext uri="{FF2B5EF4-FFF2-40B4-BE49-F238E27FC236}">
                <a16:creationId xmlns:a16="http://schemas.microsoft.com/office/drawing/2014/main" id="{5478E3AB-258A-39AA-7AC4-DC0663ED9591}"/>
              </a:ext>
              <a:ext uri="{C183D7F6-B498-43B3-948B-1728B52AA6E4}">
                <adec:decorative xmlns:adec="http://schemas.microsoft.com/office/drawing/2017/decorative" val="1"/>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907123" y="3320102"/>
            <a:ext cx="625626" cy="622646"/>
          </a:xfrm>
          <a:prstGeom prst="rect">
            <a:avLst/>
          </a:prstGeom>
        </p:spPr>
      </p:pic>
      <p:pic>
        <p:nvPicPr>
          <p:cNvPr id="10" name="Picture 9">
            <a:extLst>
              <a:ext uri="{FF2B5EF4-FFF2-40B4-BE49-F238E27FC236}">
                <a16:creationId xmlns:a16="http://schemas.microsoft.com/office/drawing/2014/main" id="{2AA446BC-B068-295A-5A9A-1B9AD5ABDA24}"/>
              </a:ext>
              <a:ext uri="{C183D7F6-B498-43B3-948B-1728B52AA6E4}">
                <adec:decorative xmlns:adec="http://schemas.microsoft.com/office/drawing/2017/decorative" val="1"/>
              </a:ext>
            </a:extLst>
          </p:cNvPr>
          <p:cNvPicPr>
            <a:picLocks noChangeAspect="1"/>
          </p:cNvPicPr>
          <p:nvPr/>
        </p:nvPicPr>
        <p:blipFill>
          <a:blip r:embed="rId6">
            <a:duotone>
              <a:prstClr val="black"/>
              <a:schemeClr val="tx2">
                <a:tint val="45000"/>
                <a:satMod val="400000"/>
              </a:schemeClr>
            </a:duotone>
          </a:blip>
          <a:stretch>
            <a:fillRect/>
          </a:stretch>
        </p:blipFill>
        <p:spPr>
          <a:xfrm>
            <a:off x="3817767" y="4033594"/>
            <a:ext cx="804338" cy="804338"/>
          </a:xfrm>
          <a:prstGeom prst="rect">
            <a:avLst/>
          </a:prstGeom>
        </p:spPr>
      </p:pic>
      <p:pic>
        <p:nvPicPr>
          <p:cNvPr id="11" name="Picture 10">
            <a:extLst>
              <a:ext uri="{FF2B5EF4-FFF2-40B4-BE49-F238E27FC236}">
                <a16:creationId xmlns:a16="http://schemas.microsoft.com/office/drawing/2014/main" id="{F1E7B4D8-C38D-186A-E4BC-B59785B7C4DB}"/>
              </a:ext>
              <a:ext uri="{C183D7F6-B498-43B3-948B-1728B52AA6E4}">
                <adec:decorative xmlns:adec="http://schemas.microsoft.com/office/drawing/2017/decorative" val="1"/>
              </a:ext>
            </a:extLst>
          </p:cNvPr>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928531" y="4837932"/>
            <a:ext cx="682616" cy="682616"/>
          </a:xfrm>
          <a:prstGeom prst="rect">
            <a:avLst/>
          </a:prstGeom>
        </p:spPr>
      </p:pic>
      <p:pic>
        <p:nvPicPr>
          <p:cNvPr id="12" name="Picture 11">
            <a:extLst>
              <a:ext uri="{FF2B5EF4-FFF2-40B4-BE49-F238E27FC236}">
                <a16:creationId xmlns:a16="http://schemas.microsoft.com/office/drawing/2014/main" id="{A49552EB-4DF7-D6BE-3AF1-5F29380913FA}"/>
              </a:ext>
              <a:ext uri="{C183D7F6-B498-43B3-948B-1728B52AA6E4}">
                <adec:decorative xmlns:adec="http://schemas.microsoft.com/office/drawing/2017/decorative" val="1"/>
              </a:ext>
            </a:extLst>
          </p:cNvPr>
          <p:cNvPicPr>
            <a:picLocks noChangeAspect="1"/>
          </p:cNvPicPr>
          <p:nvPr/>
        </p:nvPicPr>
        <p:blipFill>
          <a:blip r:embed="rId8">
            <a:duotone>
              <a:schemeClr val="accent6">
                <a:shade val="45000"/>
                <a:satMod val="135000"/>
              </a:schemeClr>
              <a:prstClr val="white"/>
            </a:duotone>
          </a:blip>
          <a:stretch>
            <a:fillRect/>
          </a:stretch>
        </p:blipFill>
        <p:spPr>
          <a:xfrm>
            <a:off x="3839683" y="5550226"/>
            <a:ext cx="782422" cy="401642"/>
          </a:xfrm>
          <a:prstGeom prst="rect">
            <a:avLst/>
          </a:prstGeom>
        </p:spPr>
      </p:pic>
    </p:spTree>
    <p:extLst>
      <p:ext uri="{BB962C8B-B14F-4D97-AF65-F5344CB8AC3E}">
        <p14:creationId xmlns:p14="http://schemas.microsoft.com/office/powerpoint/2010/main" val="221917396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279E9-F55C-3841-E70D-FCA6BFF8A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86068-7C52-3FE7-A7C4-9D0827254FBF}"/>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954E9C89-0411-07AA-2850-5C4C3AAD699C}"/>
              </a:ext>
            </a:extLst>
          </p:cNvPr>
          <p:cNvSpPr>
            <a:spLocks noGrp="1"/>
          </p:cNvSpPr>
          <p:nvPr>
            <p:ph type="body" sz="quarter" idx="10"/>
          </p:nvPr>
        </p:nvSpPr>
        <p:spPr/>
        <p:txBody>
          <a:bodyPr>
            <a:normAutofit lnSpcReduction="10000"/>
          </a:bodyPr>
          <a:lstStyle/>
          <a:p>
            <a:r>
              <a:rPr lang="en-US" sz="2400" dirty="0"/>
              <a:t>Lifecycle policies</a:t>
            </a:r>
          </a:p>
        </p:txBody>
      </p:sp>
      <p:sp>
        <p:nvSpPr>
          <p:cNvPr id="4" name="Title 1">
            <a:extLst>
              <a:ext uri="{FF2B5EF4-FFF2-40B4-BE49-F238E27FC236}">
                <a16:creationId xmlns:a16="http://schemas.microsoft.com/office/drawing/2014/main" id="{D5388348-D2CF-8FE6-27DD-078E35875F11}"/>
              </a:ext>
            </a:extLst>
          </p:cNvPr>
          <p:cNvSpPr txBox="1">
            <a:spLocks/>
          </p:cNvSpPr>
          <p:nvPr/>
        </p:nvSpPr>
        <p:spPr>
          <a:xfrm>
            <a:off x="37338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a:extLst>
              <a:ext uri="{FF2B5EF4-FFF2-40B4-BE49-F238E27FC236}">
                <a16:creationId xmlns:a16="http://schemas.microsoft.com/office/drawing/2014/main" id="{EE7EECAC-EE53-54B8-0CBE-186F19089CE1}"/>
              </a:ext>
              <a:ext uri="{C183D7F6-B498-43B3-948B-1728B52AA6E4}">
                <adec:decorative xmlns:adec="http://schemas.microsoft.com/office/drawing/2017/decorative" val="1"/>
              </a:ext>
            </a:extLst>
          </p:cNvPr>
          <p:cNvGrpSpPr/>
          <p:nvPr/>
        </p:nvGrpSpPr>
        <p:grpSpPr>
          <a:xfrm>
            <a:off x="2469393" y="2514600"/>
            <a:ext cx="8198610" cy="2379136"/>
            <a:chOff x="945393" y="2832843"/>
            <a:chExt cx="10137575" cy="2975293"/>
          </a:xfrm>
        </p:grpSpPr>
        <p:sp>
          <p:nvSpPr>
            <p:cNvPr id="6" name="TextBox 52">
              <a:extLst>
                <a:ext uri="{FF2B5EF4-FFF2-40B4-BE49-F238E27FC236}">
                  <a16:creationId xmlns:a16="http://schemas.microsoft.com/office/drawing/2014/main" id="{CC879623-09FD-0A20-6F16-5D0AADBDD00C}"/>
                </a:ext>
                <a:ext uri="{C183D7F6-B498-43B3-948B-1728B52AA6E4}">
                  <adec:decorative xmlns:adec="http://schemas.microsoft.com/office/drawing/2017/decorative" val="1"/>
                </a:ext>
              </a:extLst>
            </p:cNvPr>
            <p:cNvSpPr txBox="1">
              <a:spLocks noChangeArrowheads="1"/>
            </p:cNvSpPr>
            <p:nvPr/>
          </p:nvSpPr>
          <p:spPr bwMode="auto">
            <a:xfrm>
              <a:off x="945393" y="2832843"/>
              <a:ext cx="1683056" cy="2975293"/>
            </a:xfrm>
            <a:prstGeom prst="roundRect">
              <a:avLst/>
            </a:prstGeom>
            <a:noFill/>
            <a:ln w="28575">
              <a:solidFill>
                <a:schemeClr val="accent2"/>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b="1" dirty="0">
                  <a:latin typeface="Amazon Ember" panose="020B0603020204020204" pitchFamily="34" charset="0"/>
                  <a:ea typeface="Amazon Ember" panose="020B0603020204020204" pitchFamily="34" charset="0"/>
                  <a:cs typeface="Amazon Ember" panose="020B0603020204020204" pitchFamily="34" charset="0"/>
                </a:rPr>
                <a:t>Amazon S3 Standard</a:t>
              </a:r>
            </a:p>
          </p:txBody>
        </p:sp>
        <p:pic>
          <p:nvPicPr>
            <p:cNvPr id="7" name="Picture 6">
              <a:extLst>
                <a:ext uri="{FF2B5EF4-FFF2-40B4-BE49-F238E27FC236}">
                  <a16:creationId xmlns:a16="http://schemas.microsoft.com/office/drawing/2014/main" id="{DBBBC42B-F946-DB1F-49B9-D56DCE25D23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83555" y="4013440"/>
              <a:ext cx="1192895" cy="1192895"/>
            </a:xfrm>
            <a:prstGeom prst="rect">
              <a:avLst/>
            </a:prstGeom>
          </p:spPr>
        </p:pic>
        <p:sp>
          <p:nvSpPr>
            <p:cNvPr id="8" name="TextBox 52">
              <a:extLst>
                <a:ext uri="{FF2B5EF4-FFF2-40B4-BE49-F238E27FC236}">
                  <a16:creationId xmlns:a16="http://schemas.microsoft.com/office/drawing/2014/main" id="{5A35E5CC-15B9-F3BF-6719-3F2537DCC466}"/>
                </a:ext>
                <a:ext uri="{C183D7F6-B498-43B3-948B-1728B52AA6E4}">
                  <adec:decorative xmlns:adec="http://schemas.microsoft.com/office/drawing/2017/decorative" val="1"/>
                </a:ext>
              </a:extLst>
            </p:cNvPr>
            <p:cNvSpPr txBox="1">
              <a:spLocks noChangeArrowheads="1"/>
            </p:cNvSpPr>
            <p:nvPr/>
          </p:nvSpPr>
          <p:spPr bwMode="auto">
            <a:xfrm>
              <a:off x="1004401" y="5125417"/>
              <a:ext cx="1551200" cy="26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p>
          </p:txBody>
        </p:sp>
        <p:grpSp>
          <p:nvGrpSpPr>
            <p:cNvPr id="9" name="Group 8">
              <a:extLst>
                <a:ext uri="{FF2B5EF4-FFF2-40B4-BE49-F238E27FC236}">
                  <a16:creationId xmlns:a16="http://schemas.microsoft.com/office/drawing/2014/main" id="{FE4F9556-2D46-B48B-D1FF-4DB4E32BA779}"/>
                </a:ext>
                <a:ext uri="{C183D7F6-B498-43B3-948B-1728B52AA6E4}">
                  <adec:decorative xmlns:adec="http://schemas.microsoft.com/office/drawing/2017/decorative" val="1"/>
                </a:ext>
              </a:extLst>
            </p:cNvPr>
            <p:cNvGrpSpPr/>
            <p:nvPr/>
          </p:nvGrpSpPr>
          <p:grpSpPr>
            <a:xfrm>
              <a:off x="2463538" y="4156658"/>
              <a:ext cx="1626109" cy="901172"/>
              <a:chOff x="1847653" y="2965826"/>
              <a:chExt cx="1219582" cy="675879"/>
            </a:xfrm>
            <a:solidFill>
              <a:schemeClr val="accent2"/>
            </a:solidFill>
          </p:grpSpPr>
          <p:sp>
            <p:nvSpPr>
              <p:cNvPr id="25" name="Right Arrow 35">
                <a:extLst>
                  <a:ext uri="{FF2B5EF4-FFF2-40B4-BE49-F238E27FC236}">
                    <a16:creationId xmlns:a16="http://schemas.microsoft.com/office/drawing/2014/main" id="{94248021-90E3-BCCA-F386-393FD4369B91}"/>
                  </a:ext>
                </a:extLst>
              </p:cNvPr>
              <p:cNvSpPr/>
              <p:nvPr/>
            </p:nvSpPr>
            <p:spPr>
              <a:xfrm>
                <a:off x="1847653" y="2965826"/>
                <a:ext cx="1219582" cy="675879"/>
              </a:xfrm>
              <a:prstGeom prst="rightArrow">
                <a:avLst/>
              </a:prstGeom>
              <a:grp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6" name="TextBox 9">
                <a:extLst>
                  <a:ext uri="{FF2B5EF4-FFF2-40B4-BE49-F238E27FC236}">
                    <a16:creationId xmlns:a16="http://schemas.microsoft.com/office/drawing/2014/main" id="{567E29D4-6803-F314-E3C2-B938A809CB15}"/>
                  </a:ext>
                </a:extLst>
              </p:cNvPr>
              <p:cNvSpPr txBox="1"/>
              <p:nvPr/>
            </p:nvSpPr>
            <p:spPr>
              <a:xfrm>
                <a:off x="2069628" y="3166605"/>
                <a:ext cx="640080" cy="274320"/>
              </a:xfrm>
              <a:prstGeom prst="rect">
                <a:avLst/>
              </a:prstGeom>
              <a:grpFill/>
              <a:ln>
                <a:solidFill>
                  <a:schemeClr val="accent2"/>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30 days</a:t>
                </a:r>
              </a:p>
            </p:txBody>
          </p:sp>
        </p:grpSp>
        <p:sp>
          <p:nvSpPr>
            <p:cNvPr id="10" name="TextBox 52">
              <a:extLst>
                <a:ext uri="{FF2B5EF4-FFF2-40B4-BE49-F238E27FC236}">
                  <a16:creationId xmlns:a16="http://schemas.microsoft.com/office/drawing/2014/main" id="{AB8EEBA9-8F2C-882B-5252-0022ABE72B7B}"/>
                </a:ext>
                <a:ext uri="{C183D7F6-B498-43B3-948B-1728B52AA6E4}">
                  <adec:decorative xmlns:adec="http://schemas.microsoft.com/office/drawing/2017/decorative" val="1"/>
                </a:ext>
              </a:extLst>
            </p:cNvPr>
            <p:cNvSpPr txBox="1">
              <a:spLocks noChangeArrowheads="1"/>
            </p:cNvSpPr>
            <p:nvPr/>
          </p:nvSpPr>
          <p:spPr bwMode="auto">
            <a:xfrm>
              <a:off x="3830537" y="2832843"/>
              <a:ext cx="1683056" cy="2975293"/>
            </a:xfrm>
            <a:prstGeom prst="roundRect">
              <a:avLst/>
            </a:prstGeom>
            <a:noFill/>
            <a:ln w="28575">
              <a:solidFill>
                <a:schemeClr val="accent2">
                  <a:lumMod val="60000"/>
                  <a:lumOff val="4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400" b="1" dirty="0">
                  <a:latin typeface="Amazon Ember" panose="020B0603020204020204" pitchFamily="34" charset="0"/>
                  <a:ea typeface="Amazon Ember" panose="020B0603020204020204" pitchFamily="34" charset="0"/>
                  <a:cs typeface="Amazon Ember" panose="020B0603020204020204" pitchFamily="34" charset="0"/>
                </a:rPr>
                <a:t>Amazon S3 Standard - Infrequent Access</a:t>
              </a:r>
            </a:p>
          </p:txBody>
        </p:sp>
        <p:pic>
          <p:nvPicPr>
            <p:cNvPr id="11" name="Picture 10">
              <a:extLst>
                <a:ext uri="{FF2B5EF4-FFF2-40B4-BE49-F238E27FC236}">
                  <a16:creationId xmlns:a16="http://schemas.microsoft.com/office/drawing/2014/main" id="{58B937E1-8F37-1ADD-86A6-951CD9AB3B1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9647" y="4013440"/>
              <a:ext cx="1192895" cy="1192895"/>
            </a:xfrm>
            <a:prstGeom prst="rect">
              <a:avLst/>
            </a:prstGeom>
          </p:spPr>
        </p:pic>
        <p:sp>
          <p:nvSpPr>
            <p:cNvPr id="12" name="TextBox 52">
              <a:extLst>
                <a:ext uri="{FF2B5EF4-FFF2-40B4-BE49-F238E27FC236}">
                  <a16:creationId xmlns:a16="http://schemas.microsoft.com/office/drawing/2014/main" id="{882CF267-45BA-3787-FD14-E4CEFBE0A4A6}"/>
                </a:ext>
                <a:ext uri="{C183D7F6-B498-43B3-948B-1728B52AA6E4}">
                  <adec:decorative xmlns:adec="http://schemas.microsoft.com/office/drawing/2017/decorative" val="1"/>
                </a:ext>
              </a:extLst>
            </p:cNvPr>
            <p:cNvSpPr txBox="1">
              <a:spLocks noChangeArrowheads="1"/>
            </p:cNvSpPr>
            <p:nvPr/>
          </p:nvSpPr>
          <p:spPr bwMode="auto">
            <a:xfrm>
              <a:off x="3910493" y="5125417"/>
              <a:ext cx="1551200" cy="26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p>
          </p:txBody>
        </p:sp>
        <p:grpSp>
          <p:nvGrpSpPr>
            <p:cNvPr id="13" name="Group 12">
              <a:extLst>
                <a:ext uri="{FF2B5EF4-FFF2-40B4-BE49-F238E27FC236}">
                  <a16:creationId xmlns:a16="http://schemas.microsoft.com/office/drawing/2014/main" id="{E5C35FD5-38C8-9915-F95F-64D3B85EB949}"/>
                </a:ext>
                <a:ext uri="{C183D7F6-B498-43B3-948B-1728B52AA6E4}">
                  <adec:decorative xmlns:adec="http://schemas.microsoft.com/office/drawing/2017/decorative" val="1"/>
                </a:ext>
              </a:extLst>
            </p:cNvPr>
            <p:cNvGrpSpPr/>
            <p:nvPr/>
          </p:nvGrpSpPr>
          <p:grpSpPr>
            <a:xfrm>
              <a:off x="5340079" y="4164405"/>
              <a:ext cx="1626109" cy="901172"/>
              <a:chOff x="4012123" y="2971636"/>
              <a:chExt cx="1219582" cy="675879"/>
            </a:xfrm>
            <a:solidFill>
              <a:schemeClr val="accent2">
                <a:lumMod val="60000"/>
                <a:lumOff val="40000"/>
              </a:schemeClr>
            </a:solidFill>
          </p:grpSpPr>
          <p:sp>
            <p:nvSpPr>
              <p:cNvPr id="23" name="Right Arrow 71">
                <a:extLst>
                  <a:ext uri="{FF2B5EF4-FFF2-40B4-BE49-F238E27FC236}">
                    <a16:creationId xmlns:a16="http://schemas.microsoft.com/office/drawing/2014/main" id="{D374A558-D72F-0FC5-BFB4-47E6FEB3B767}"/>
                  </a:ext>
                </a:extLst>
              </p:cNvPr>
              <p:cNvSpPr/>
              <p:nvPr/>
            </p:nvSpPr>
            <p:spPr>
              <a:xfrm>
                <a:off x="4012123" y="2971636"/>
                <a:ext cx="1219582" cy="675879"/>
              </a:xfrm>
              <a:prstGeom prst="rightArrow">
                <a:avLst/>
              </a:prstGeom>
              <a:grp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TextBox 9">
                <a:extLst>
                  <a:ext uri="{FF2B5EF4-FFF2-40B4-BE49-F238E27FC236}">
                    <a16:creationId xmlns:a16="http://schemas.microsoft.com/office/drawing/2014/main" id="{68EB268C-3B91-6F95-F703-F7E5CDC05262}"/>
                  </a:ext>
                </a:extLst>
              </p:cNvPr>
              <p:cNvSpPr txBox="1"/>
              <p:nvPr/>
            </p:nvSpPr>
            <p:spPr>
              <a:xfrm>
                <a:off x="4218674" y="3169549"/>
                <a:ext cx="640080" cy="274320"/>
              </a:xfrm>
              <a:prstGeom prst="rect">
                <a:avLst/>
              </a:prstGeom>
              <a:grpFill/>
              <a:ln>
                <a:solidFill>
                  <a:schemeClr val="accent2">
                    <a:lumMod val="60000"/>
                    <a:lumOff val="4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60 days</a:t>
                </a:r>
              </a:p>
            </p:txBody>
          </p:sp>
        </p:grpSp>
        <p:sp>
          <p:nvSpPr>
            <p:cNvPr id="14" name="TextBox 52">
              <a:extLst>
                <a:ext uri="{FF2B5EF4-FFF2-40B4-BE49-F238E27FC236}">
                  <a16:creationId xmlns:a16="http://schemas.microsoft.com/office/drawing/2014/main" id="{6FCEC80B-FA12-424C-88D6-F81184064E7B}"/>
                </a:ext>
                <a:ext uri="{C183D7F6-B498-43B3-948B-1728B52AA6E4}">
                  <adec:decorative xmlns:adec="http://schemas.microsoft.com/office/drawing/2017/decorative" val="1"/>
                </a:ext>
              </a:extLst>
            </p:cNvPr>
            <p:cNvSpPr txBox="1">
              <a:spLocks noChangeArrowheads="1"/>
            </p:cNvSpPr>
            <p:nvPr/>
          </p:nvSpPr>
          <p:spPr bwMode="auto">
            <a:xfrm>
              <a:off x="6664597" y="2832843"/>
              <a:ext cx="1683056" cy="2975293"/>
            </a:xfrm>
            <a:prstGeom prst="roundRect">
              <a:avLst/>
            </a:prstGeom>
            <a:noFill/>
            <a:ln w="28575">
              <a:solidFill>
                <a:schemeClr val="accent2">
                  <a:lumMod val="20000"/>
                  <a:lumOff val="8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b="1" dirty="0">
                  <a:latin typeface="Amazon Ember" panose="020B0603020204020204" pitchFamily="34" charset="0"/>
                  <a:ea typeface="Amazon Ember" panose="020B0603020204020204" pitchFamily="34" charset="0"/>
                  <a:cs typeface="Amazon Ember" panose="020B0603020204020204" pitchFamily="34" charset="0"/>
                </a:rPr>
                <a:t>Amazon </a:t>
              </a:r>
            </a:p>
            <a:p>
              <a:pPr algn="ctr" eaLnBrk="1" hangingPunct="1"/>
              <a:r>
                <a:rPr lang="en-US" sz="1400" b="1" dirty="0">
                  <a:latin typeface="Amazon Ember" panose="020B0603020204020204" pitchFamily="34" charset="0"/>
                  <a:ea typeface="Amazon Ember" panose="020B0603020204020204" pitchFamily="34" charset="0"/>
                  <a:cs typeface="Amazon Ember" panose="020B0603020204020204" pitchFamily="34" charset="0"/>
                </a:rPr>
                <a:t>S3 Glacier</a:t>
              </a:r>
            </a:p>
          </p:txBody>
        </p:sp>
        <p:pic>
          <p:nvPicPr>
            <p:cNvPr id="15" name="Picture 14">
              <a:extLst>
                <a:ext uri="{FF2B5EF4-FFF2-40B4-BE49-F238E27FC236}">
                  <a16:creationId xmlns:a16="http://schemas.microsoft.com/office/drawing/2014/main" id="{0D9AE5C4-7DDE-BA0A-6F8D-E7DA53F0178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75607" y="4010798"/>
              <a:ext cx="1192895" cy="1192895"/>
            </a:xfrm>
            <a:prstGeom prst="rect">
              <a:avLst/>
            </a:prstGeom>
          </p:spPr>
        </p:pic>
        <p:sp>
          <p:nvSpPr>
            <p:cNvPr id="16" name="TextBox 52">
              <a:extLst>
                <a:ext uri="{FF2B5EF4-FFF2-40B4-BE49-F238E27FC236}">
                  <a16:creationId xmlns:a16="http://schemas.microsoft.com/office/drawing/2014/main" id="{9F8D98B8-5120-F6DB-1217-5A46524C80C1}"/>
                </a:ext>
                <a:ext uri="{C183D7F6-B498-43B3-948B-1728B52AA6E4}">
                  <adec:decorative xmlns:adec="http://schemas.microsoft.com/office/drawing/2017/decorative" val="1"/>
                </a:ext>
              </a:extLst>
            </p:cNvPr>
            <p:cNvSpPr txBox="1">
              <a:spLocks noChangeArrowheads="1"/>
            </p:cNvSpPr>
            <p:nvPr/>
          </p:nvSpPr>
          <p:spPr bwMode="auto">
            <a:xfrm>
              <a:off x="6796453" y="5122776"/>
              <a:ext cx="1551200" cy="26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p>
          </p:txBody>
        </p:sp>
        <p:grpSp>
          <p:nvGrpSpPr>
            <p:cNvPr id="17" name="Group 16">
              <a:extLst>
                <a:ext uri="{FF2B5EF4-FFF2-40B4-BE49-F238E27FC236}">
                  <a16:creationId xmlns:a16="http://schemas.microsoft.com/office/drawing/2014/main" id="{D2A16F79-6D07-0799-55C4-F995C5C93FE3}"/>
                </a:ext>
                <a:ext uri="{C183D7F6-B498-43B3-948B-1728B52AA6E4}">
                  <adec:decorative xmlns:adec="http://schemas.microsoft.com/office/drawing/2017/decorative" val="1"/>
                </a:ext>
              </a:extLst>
            </p:cNvPr>
            <p:cNvGrpSpPr/>
            <p:nvPr/>
          </p:nvGrpSpPr>
          <p:grpSpPr>
            <a:xfrm>
              <a:off x="8187340" y="4164405"/>
              <a:ext cx="1626109" cy="901172"/>
              <a:chOff x="6160441" y="2971635"/>
              <a:chExt cx="1219582" cy="675879"/>
            </a:xfrm>
            <a:solidFill>
              <a:schemeClr val="accent2">
                <a:lumMod val="20000"/>
                <a:lumOff val="80000"/>
              </a:schemeClr>
            </a:solidFill>
          </p:grpSpPr>
          <p:sp>
            <p:nvSpPr>
              <p:cNvPr id="21" name="Right Arrow 74">
                <a:extLst>
                  <a:ext uri="{FF2B5EF4-FFF2-40B4-BE49-F238E27FC236}">
                    <a16:creationId xmlns:a16="http://schemas.microsoft.com/office/drawing/2014/main" id="{98217FC5-B229-DB52-282D-A2A9DEB087E1}"/>
                  </a:ext>
                </a:extLst>
              </p:cNvPr>
              <p:cNvSpPr/>
              <p:nvPr/>
            </p:nvSpPr>
            <p:spPr>
              <a:xfrm>
                <a:off x="6160441" y="2971635"/>
                <a:ext cx="1219582" cy="675879"/>
              </a:xfrm>
              <a:prstGeom prst="rightArrow">
                <a:avLst/>
              </a:prstGeom>
              <a:grpFill/>
              <a:ln>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2" name="TextBox 9">
                <a:extLst>
                  <a:ext uri="{FF2B5EF4-FFF2-40B4-BE49-F238E27FC236}">
                    <a16:creationId xmlns:a16="http://schemas.microsoft.com/office/drawing/2014/main" id="{F2FDDE4B-198C-845B-EC88-E806344D7A85}"/>
                  </a:ext>
                </a:extLst>
              </p:cNvPr>
              <p:cNvSpPr txBox="1"/>
              <p:nvPr/>
            </p:nvSpPr>
            <p:spPr>
              <a:xfrm>
                <a:off x="6376138" y="3162134"/>
                <a:ext cx="640080" cy="274320"/>
              </a:xfrm>
              <a:prstGeom prst="rect">
                <a:avLst/>
              </a:prstGeom>
              <a:grpFill/>
              <a:ln>
                <a:solidFill>
                  <a:schemeClr val="accent2">
                    <a:lumMod val="20000"/>
                    <a:lumOff val="8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365 days</a:t>
                </a:r>
              </a:p>
            </p:txBody>
          </p:sp>
        </p:grpSp>
        <p:grpSp>
          <p:nvGrpSpPr>
            <p:cNvPr id="18" name="Group 17">
              <a:extLst>
                <a:ext uri="{FF2B5EF4-FFF2-40B4-BE49-F238E27FC236}">
                  <a16:creationId xmlns:a16="http://schemas.microsoft.com/office/drawing/2014/main" id="{F3036EC0-53AC-1ED3-EBD2-361C16352261}"/>
                </a:ext>
                <a:ext uri="{C183D7F6-B498-43B3-948B-1728B52AA6E4}">
                  <adec:decorative xmlns:adec="http://schemas.microsoft.com/office/drawing/2017/decorative" val="1"/>
                </a:ext>
              </a:extLst>
            </p:cNvPr>
            <p:cNvGrpSpPr/>
            <p:nvPr/>
          </p:nvGrpSpPr>
          <p:grpSpPr>
            <a:xfrm>
              <a:off x="9531768" y="2854136"/>
              <a:ext cx="1551200" cy="2690475"/>
              <a:chOff x="7148826" y="1800395"/>
              <a:chExt cx="1163400" cy="2017856"/>
            </a:xfrm>
          </p:grpSpPr>
          <p:pic>
            <p:nvPicPr>
              <p:cNvPr id="19" name="Picture 2" descr="Garbage, Basket, Bin, Trash, Rubbish, Waste, Metal, Can">
                <a:extLst>
                  <a:ext uri="{FF2B5EF4-FFF2-40B4-BE49-F238E27FC236}">
                    <a16:creationId xmlns:a16="http://schemas.microsoft.com/office/drawing/2014/main" id="{B0B67A34-C228-2B98-E8C4-0D220F2D0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664" y="2793242"/>
                <a:ext cx="983724" cy="102500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52">
                <a:extLst>
                  <a:ext uri="{FF2B5EF4-FFF2-40B4-BE49-F238E27FC236}">
                    <a16:creationId xmlns:a16="http://schemas.microsoft.com/office/drawing/2014/main" id="{6EDE17FC-398C-9E9B-F223-51BC6F0FC710}"/>
                  </a:ext>
                </a:extLst>
              </p:cNvPr>
              <p:cNvSpPr txBox="1">
                <a:spLocks noChangeArrowheads="1"/>
              </p:cNvSpPr>
              <p:nvPr/>
            </p:nvSpPr>
            <p:spPr bwMode="auto">
              <a:xfrm>
                <a:off x="7148826" y="1800395"/>
                <a:ext cx="1163400" cy="2020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400" b="1" dirty="0">
                    <a:latin typeface="Amazon Ember" panose="020B0603020204020204" pitchFamily="34" charset="0"/>
                    <a:ea typeface="Amazon Ember" panose="020B0603020204020204" pitchFamily="34" charset="0"/>
                    <a:cs typeface="Amazon Ember" panose="020B0603020204020204" pitchFamily="34" charset="0"/>
                  </a:rPr>
                  <a:t>Delete</a:t>
                </a:r>
              </a:p>
            </p:txBody>
          </p:sp>
        </p:grpSp>
      </p:grpSp>
    </p:spTree>
    <p:extLst>
      <p:ext uri="{BB962C8B-B14F-4D97-AF65-F5344CB8AC3E}">
        <p14:creationId xmlns:p14="http://schemas.microsoft.com/office/powerpoint/2010/main" val="160973144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2BB5A-CF4D-8398-5042-561563BB4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D2011-319A-2185-3A11-99A08995897E}"/>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2F4F8C26-1B09-1FAC-7ECD-4A8E456006AC}"/>
              </a:ext>
            </a:extLst>
          </p:cNvPr>
          <p:cNvSpPr>
            <a:spLocks noGrp="1"/>
          </p:cNvSpPr>
          <p:nvPr>
            <p:ph type="body" sz="quarter" idx="10"/>
          </p:nvPr>
        </p:nvSpPr>
        <p:spPr/>
        <p:txBody>
          <a:bodyPr>
            <a:normAutofit lnSpcReduction="10000"/>
          </a:bodyPr>
          <a:lstStyle/>
          <a:p>
            <a:r>
              <a:rPr lang="en-US" sz="2400" dirty="0"/>
              <a:t>Storage comparison</a:t>
            </a:r>
          </a:p>
        </p:txBody>
      </p:sp>
      <p:sp>
        <p:nvSpPr>
          <p:cNvPr id="4" name="Title 1">
            <a:extLst>
              <a:ext uri="{FF2B5EF4-FFF2-40B4-BE49-F238E27FC236}">
                <a16:creationId xmlns:a16="http://schemas.microsoft.com/office/drawing/2014/main" id="{265BC57B-BFF7-8FCE-3CA0-B87A8EDF2996}"/>
              </a:ext>
            </a:extLst>
          </p:cNvPr>
          <p:cNvSpPr txBox="1">
            <a:spLocks/>
          </p:cNvSpPr>
          <p:nvPr/>
        </p:nvSpPr>
        <p:spPr>
          <a:xfrm>
            <a:off x="36576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aphicFrame>
        <p:nvGraphicFramePr>
          <p:cNvPr id="5" name="Content Placeholder 5" descr="table comparing Amazon S3 with Amazon Glacier. The criteria are data volume, average latency, item size, cost per GB per month, type of billed requests, and price for retrieving data.">
            <a:extLst>
              <a:ext uri="{FF2B5EF4-FFF2-40B4-BE49-F238E27FC236}">
                <a16:creationId xmlns:a16="http://schemas.microsoft.com/office/drawing/2014/main" id="{F77EFAAC-0E66-7AAA-85F3-EEF45953D9B6}"/>
              </a:ext>
            </a:extLst>
          </p:cNvPr>
          <p:cNvGraphicFramePr>
            <a:graphicFrameLocks/>
          </p:cNvGraphicFramePr>
          <p:nvPr>
            <p:extLst>
              <p:ext uri="{D42A27DB-BD31-4B8C-83A1-F6EECF244321}">
                <p14:modId xmlns:p14="http://schemas.microsoft.com/office/powerpoint/2010/main" val="2073450751"/>
              </p:ext>
            </p:extLst>
          </p:nvPr>
        </p:nvGraphicFramePr>
        <p:xfrm>
          <a:off x="2438400" y="1676401"/>
          <a:ext cx="8077201" cy="3505201"/>
        </p:xfrm>
        <a:graphic>
          <a:graphicData uri="http://schemas.openxmlformats.org/drawingml/2006/table">
            <a:tbl>
              <a:tblPr firstRow="1" bandRow="1">
                <a:tableStyleId>{85BE263C-DBD7-4A20-BB59-AAB30ACAA65A}</a:tableStyleId>
              </a:tblPr>
              <a:tblGrid>
                <a:gridCol w="2666585">
                  <a:extLst>
                    <a:ext uri="{9D8B030D-6E8A-4147-A177-3AD203B41FA5}">
                      <a16:colId xmlns:a16="http://schemas.microsoft.com/office/drawing/2014/main" val="4208479291"/>
                    </a:ext>
                  </a:extLst>
                </a:gridCol>
                <a:gridCol w="2391461">
                  <a:extLst>
                    <a:ext uri="{9D8B030D-6E8A-4147-A177-3AD203B41FA5}">
                      <a16:colId xmlns:a16="http://schemas.microsoft.com/office/drawing/2014/main" val="3877621433"/>
                    </a:ext>
                  </a:extLst>
                </a:gridCol>
                <a:gridCol w="3019155">
                  <a:extLst>
                    <a:ext uri="{9D8B030D-6E8A-4147-A177-3AD203B41FA5}">
                      <a16:colId xmlns:a16="http://schemas.microsoft.com/office/drawing/2014/main" val="1352277599"/>
                    </a:ext>
                  </a:extLst>
                </a:gridCol>
              </a:tblGrid>
              <a:tr h="420183">
                <a:tc>
                  <a:txBody>
                    <a:bodyPr/>
                    <a:lstStyle/>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txBody>
                  <a:tcPr>
                    <a:lnL>
                      <a:noFill/>
                    </a:lnL>
                    <a:lnR w="12700" cap="flat" cmpd="sng" algn="ctr">
                      <a:solidFill>
                        <a:schemeClr val="tx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noFill/>
                  </a:tcPr>
                </a:tc>
                <a:tc>
                  <a:txBody>
                    <a:bodyPr/>
                    <a:lstStyle/>
                    <a:p>
                      <a:pPr algn="ctr"/>
                      <a:r>
                        <a:rPr lang="en-US" sz="1600" b="0" i="0" dirty="0">
                          <a:solidFill>
                            <a:schemeClr val="tx1"/>
                          </a:solidFill>
                          <a:latin typeface="Open Sans" panose="020B0606030504020204" pitchFamily="34" charset="0"/>
                          <a:ea typeface="Open Sans" panose="020B0606030504020204" pitchFamily="34" charset="0"/>
                          <a:cs typeface="Open Sans" panose="020B0606030504020204" pitchFamily="34" charset="0"/>
                        </a:rPr>
                        <a:t>Amazon 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i="0" dirty="0">
                          <a:solidFill>
                            <a:schemeClr val="tx1"/>
                          </a:solidFill>
                          <a:latin typeface="Open Sans" panose="020B0606030504020204" pitchFamily="34" charset="0"/>
                          <a:ea typeface="Open Sans" panose="020B0606030504020204" pitchFamily="34" charset="0"/>
                          <a:cs typeface="Open Sans" panose="020B0606030504020204" pitchFamily="34" charset="0"/>
                        </a:rPr>
                        <a:t>Amazon S3 Glacier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313094"/>
                  </a:ext>
                </a:extLst>
              </a:tr>
              <a:tr h="42018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Data Volume</a:t>
                      </a:r>
                    </a:p>
                  </a:txBody>
                  <a:tcPr anchor="ctr">
                    <a:lnL>
                      <a:noFill/>
                    </a:lnL>
                    <a:lnR w="12700" cap="flat" cmpd="sng" algn="ctr">
                      <a:solidFill>
                        <a:schemeClr val="tx1"/>
                      </a:solidFill>
                      <a:prstDash val="solid"/>
                      <a:round/>
                      <a:headEnd type="none" w="med" len="med"/>
                      <a:tailEnd type="none" w="med" len="med"/>
                    </a:lnR>
                    <a:lnT w="25400" cmpd="sng">
                      <a:noFill/>
                    </a:lnT>
                    <a:lnB>
                      <a:noFill/>
                    </a:lnB>
                    <a:lnTlToBr w="12700" cmpd="sng">
                      <a:noFill/>
                      <a:prstDash val="solid"/>
                    </a:lnTlToBr>
                    <a:lnBlToTr w="12700" cmpd="sng">
                      <a:noFill/>
                      <a:prstDash val="solid"/>
                    </a:lnBlToTr>
                    <a:noFill/>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60860725"/>
                  </a:ext>
                </a:extLst>
              </a:tr>
              <a:tr h="42018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Average Latency</a:t>
                      </a:r>
                    </a:p>
                  </a:txBody>
                  <a:tcPr anchor="ctr">
                    <a:lnR w="12700" cap="flat" cmpd="sng" algn="ctr">
                      <a:solidFill>
                        <a:schemeClr val="tx1"/>
                      </a:solidFill>
                      <a:prstDash val="solid"/>
                      <a:round/>
                      <a:headEnd type="none" w="med" len="med"/>
                      <a:tailEnd type="none" w="med" len="med"/>
                    </a:lnR>
                    <a:lnT>
                      <a:noFill/>
                    </a:lnT>
                    <a:noFill/>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minutes/hours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9607568"/>
                  </a:ext>
                </a:extLst>
              </a:tr>
              <a:tr h="42018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Item Size</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5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40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36810272"/>
                  </a:ext>
                </a:extLst>
              </a:tr>
              <a:tr h="42018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Cost/GB per Month</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dirty="0">
                          <a:latin typeface="Open Sans" panose="020B0606030504020204" pitchFamily="34" charset="0"/>
                          <a:ea typeface="Open Sans" panose="020B0606030504020204" pitchFamily="34" charset="0"/>
                          <a:cs typeface="Open Sans" panose="020B0606030504020204" pitchFamily="34" charset="0"/>
                        </a:rPr>
                        <a:t>Higher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dirty="0">
                          <a:latin typeface="Open Sans" panose="020B0606030504020204" pitchFamily="34" charset="0"/>
                          <a:ea typeface="Open Sans" panose="020B0606030504020204" pitchFamily="34" charset="0"/>
                          <a:cs typeface="Open Sans" panose="020B0606030504020204" pitchFamily="34" charset="0"/>
                        </a:rPr>
                        <a:t>Lower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4863636"/>
                  </a:ext>
                </a:extLst>
              </a:tr>
              <a:tr h="70214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Billed Requests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PUT, COPY, POST, LIST, and 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UPLOAD and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4348630"/>
                  </a:ext>
                </a:extLst>
              </a:tr>
              <a:tr h="702143">
                <a:tc>
                  <a:txBody>
                    <a:bodyPr/>
                    <a:lstStyle/>
                    <a:p>
                      <a:r>
                        <a:rPr lang="en-US" sz="1600" b="0" i="0" dirty="0">
                          <a:latin typeface="Open Sans" panose="020B0606030504020204" pitchFamily="34" charset="0"/>
                          <a:ea typeface="Open Sans" panose="020B0606030504020204" pitchFamily="34" charset="0"/>
                          <a:cs typeface="Open Sans" panose="020B0606030504020204" pitchFamily="34" charset="0"/>
                        </a:rPr>
                        <a:t>Retrieval Pricing</a:t>
                      </a:r>
                    </a:p>
                  </a:txBody>
                  <a:tcPr anchor="ct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 </a:t>
                      </a:r>
                    </a:p>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Per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a:t>
                      </a:r>
                    </a:p>
                    <a:p>
                      <a:pPr algn="ctr"/>
                      <a:r>
                        <a:rPr lang="en-US" sz="1600" b="0" i="0" dirty="0">
                          <a:latin typeface="Open Sans" panose="020B0606030504020204" pitchFamily="34" charset="0"/>
                          <a:ea typeface="Open Sans" panose="020B0606030504020204" pitchFamily="34" charset="0"/>
                          <a:cs typeface="Open Sans" panose="020B0606030504020204" pitchFamily="34" charset="0"/>
                        </a:rPr>
                        <a:t>Per request and per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685649"/>
                  </a:ext>
                </a:extLst>
              </a:tr>
            </a:tbl>
          </a:graphicData>
        </a:graphic>
      </p:graphicFrame>
    </p:spTree>
    <p:extLst>
      <p:ext uri="{BB962C8B-B14F-4D97-AF65-F5344CB8AC3E}">
        <p14:creationId xmlns:p14="http://schemas.microsoft.com/office/powerpoint/2010/main" val="115400694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EDEFC-A960-1A6C-7DE4-899A3B576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259A6-6AD2-1B92-4E30-908C5BB7AAE8}"/>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S3 Glacier</a:t>
            </a:r>
            <a:endParaRPr lang="en-US" sz="2400" dirty="0"/>
          </a:p>
        </p:txBody>
      </p:sp>
      <p:sp>
        <p:nvSpPr>
          <p:cNvPr id="3" name="Text Placeholder 2">
            <a:extLst>
              <a:ext uri="{FF2B5EF4-FFF2-40B4-BE49-F238E27FC236}">
                <a16:creationId xmlns:a16="http://schemas.microsoft.com/office/drawing/2014/main" id="{C5829846-67FB-85AA-FEFD-E7314007EEE3}"/>
              </a:ext>
            </a:extLst>
          </p:cNvPr>
          <p:cNvSpPr>
            <a:spLocks noGrp="1"/>
          </p:cNvSpPr>
          <p:nvPr>
            <p:ph type="body" sz="quarter" idx="10"/>
          </p:nvPr>
        </p:nvSpPr>
        <p:spPr/>
        <p:txBody>
          <a:bodyPr>
            <a:normAutofit lnSpcReduction="10000"/>
          </a:bodyPr>
          <a:lstStyle/>
          <a:p>
            <a:r>
              <a:rPr lang="en-US" sz="2400" dirty="0"/>
              <a:t>Server-side encryption</a:t>
            </a:r>
          </a:p>
        </p:txBody>
      </p:sp>
      <p:sp>
        <p:nvSpPr>
          <p:cNvPr id="4" name="Title 1">
            <a:extLst>
              <a:ext uri="{FF2B5EF4-FFF2-40B4-BE49-F238E27FC236}">
                <a16:creationId xmlns:a16="http://schemas.microsoft.com/office/drawing/2014/main" id="{6D1CA424-A7E4-BF80-DC0F-A0B7FF5D9059}"/>
              </a:ext>
            </a:extLst>
          </p:cNvPr>
          <p:cNvSpPr txBox="1">
            <a:spLocks/>
          </p:cNvSpPr>
          <p:nvPr/>
        </p:nvSpPr>
        <p:spPr>
          <a:xfrm>
            <a:off x="38100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corporate data center with server and file.">
            <a:extLst>
              <a:ext uri="{FF2B5EF4-FFF2-40B4-BE49-F238E27FC236}">
                <a16:creationId xmlns:a16="http://schemas.microsoft.com/office/drawing/2014/main" id="{419A3905-8D15-3C25-6A6E-76C50D28473C}"/>
              </a:ext>
            </a:extLst>
          </p:cNvPr>
          <p:cNvGrpSpPr/>
          <p:nvPr/>
        </p:nvGrpSpPr>
        <p:grpSpPr>
          <a:xfrm>
            <a:off x="2660848" y="1921714"/>
            <a:ext cx="1508623" cy="1027113"/>
            <a:chOff x="1731207" y="1648265"/>
            <a:chExt cx="2070958" cy="1300561"/>
          </a:xfrm>
        </p:grpSpPr>
        <p:pic>
          <p:nvPicPr>
            <p:cNvPr id="6" name="Graphic 5">
              <a:extLst>
                <a:ext uri="{FF2B5EF4-FFF2-40B4-BE49-F238E27FC236}">
                  <a16:creationId xmlns:a16="http://schemas.microsoft.com/office/drawing/2014/main" id="{FA08A24A-22FE-6127-958B-169C53C3679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4533" y="2355258"/>
              <a:ext cx="469900" cy="469900"/>
            </a:xfrm>
            <a:prstGeom prst="rect">
              <a:avLst/>
            </a:prstGeom>
          </p:spPr>
        </p:pic>
        <p:sp>
          <p:nvSpPr>
            <p:cNvPr id="7" name="Flowchart: Document 6">
              <a:extLst>
                <a:ext uri="{FF2B5EF4-FFF2-40B4-BE49-F238E27FC236}">
                  <a16:creationId xmlns:a16="http://schemas.microsoft.com/office/drawing/2014/main" id="{D442F0BC-15BB-52C2-C7EC-88D64E5FD68B}"/>
                </a:ext>
                <a:ext uri="{C183D7F6-B498-43B3-948B-1728B52AA6E4}">
                  <adec:decorative xmlns:adec="http://schemas.microsoft.com/office/drawing/2017/decorative" val="1"/>
                </a:ext>
              </a:extLst>
            </p:cNvPr>
            <p:cNvSpPr/>
            <p:nvPr/>
          </p:nvSpPr>
          <p:spPr>
            <a:xfrm>
              <a:off x="3021044" y="2394228"/>
              <a:ext cx="464439" cy="391960"/>
            </a:xfrm>
            <a:prstGeom prst="flowChartDocumen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Rectangle 7">
              <a:extLst>
                <a:ext uri="{FF2B5EF4-FFF2-40B4-BE49-F238E27FC236}">
                  <a16:creationId xmlns:a16="http://schemas.microsoft.com/office/drawing/2014/main" id="{A59DC7F3-F4E7-97CA-AE6F-B6BC7D5F974F}"/>
                </a:ext>
              </a:extLst>
            </p:cNvPr>
            <p:cNvSpPr/>
            <p:nvPr/>
          </p:nvSpPr>
          <p:spPr>
            <a:xfrm>
              <a:off x="1731207" y="1648265"/>
              <a:ext cx="2070958" cy="1300561"/>
            </a:xfrm>
            <a:prstGeom prst="rect">
              <a:avLst/>
            </a:prstGeom>
            <a:noFill/>
            <a:ln w="12700" cap="flat" cmpd="sng" algn="ctr">
              <a:solidFill>
                <a:srgbClr val="5A6B86"/>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200" kern="0" dirty="0">
                  <a:solidFill>
                    <a:schemeClr val="tx1">
                      <a:lumMod val="65000"/>
                      <a:lumOff val="35000"/>
                    </a:schemeClr>
                  </a:solidFill>
                  <a:latin typeface="Arial" panose="020B0604020202020204"/>
                </a:rPr>
                <a:t>Corporate </a:t>
              </a:r>
            </a:p>
            <a:p>
              <a:pPr>
                <a:defRPr/>
              </a:pPr>
              <a:r>
                <a:rPr lang="en-US" sz="1200" kern="0" dirty="0">
                  <a:solidFill>
                    <a:schemeClr val="tx1">
                      <a:lumMod val="65000"/>
                      <a:lumOff val="35000"/>
                    </a:schemeClr>
                  </a:solidFill>
                  <a:latin typeface="Arial" panose="020B0604020202020204"/>
                </a:rPr>
                <a:t>data center</a:t>
              </a:r>
            </a:p>
          </p:txBody>
        </p:sp>
        <p:pic>
          <p:nvPicPr>
            <p:cNvPr id="9" name="Graphic 8">
              <a:extLst>
                <a:ext uri="{FF2B5EF4-FFF2-40B4-BE49-F238E27FC236}">
                  <a16:creationId xmlns:a16="http://schemas.microsoft.com/office/drawing/2014/main" id="{F571EA77-2FA7-FD88-FC9E-5AC23CD6D61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1207" y="1648266"/>
              <a:ext cx="457200" cy="457200"/>
            </a:xfrm>
            <a:prstGeom prst="rect">
              <a:avLst/>
            </a:prstGeom>
          </p:spPr>
        </p:pic>
      </p:grpSp>
      <p:cxnSp>
        <p:nvCxnSpPr>
          <p:cNvPr id="10" name="Straight Arrow Connector 9" descr="right arrow from corporate data center to https  lock">
            <a:extLst>
              <a:ext uri="{FF2B5EF4-FFF2-40B4-BE49-F238E27FC236}">
                <a16:creationId xmlns:a16="http://schemas.microsoft.com/office/drawing/2014/main" id="{083DA9BF-494E-8DD4-D548-5248302A623D}"/>
              </a:ext>
              <a:ext uri="{C183D7F6-B498-43B3-948B-1728B52AA6E4}">
                <adec:decorative xmlns:adec="http://schemas.microsoft.com/office/drawing/2017/decorative" val="0"/>
              </a:ext>
            </a:extLst>
          </p:cNvPr>
          <p:cNvCxnSpPr>
            <a:cxnSpLocks/>
          </p:cNvCxnSpPr>
          <p:nvPr/>
        </p:nvCxnSpPr>
        <p:spPr>
          <a:xfrm>
            <a:off x="4301223" y="2282786"/>
            <a:ext cx="1332219"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11" name="Group 10" descr="lock for https.">
            <a:extLst>
              <a:ext uri="{FF2B5EF4-FFF2-40B4-BE49-F238E27FC236}">
                <a16:creationId xmlns:a16="http://schemas.microsoft.com/office/drawing/2014/main" id="{0F6D6385-7933-5C1A-8BB6-A27289BD74D7}"/>
              </a:ext>
            </a:extLst>
          </p:cNvPr>
          <p:cNvGrpSpPr/>
          <p:nvPr/>
        </p:nvGrpSpPr>
        <p:grpSpPr>
          <a:xfrm>
            <a:off x="5926810" y="1894863"/>
            <a:ext cx="666110" cy="1038404"/>
            <a:chOff x="5504493" y="1719866"/>
            <a:chExt cx="914400" cy="1314858"/>
          </a:xfrm>
        </p:grpSpPr>
        <p:pic>
          <p:nvPicPr>
            <p:cNvPr id="12" name="Graphic 11">
              <a:extLst>
                <a:ext uri="{FF2B5EF4-FFF2-40B4-BE49-F238E27FC236}">
                  <a16:creationId xmlns:a16="http://schemas.microsoft.com/office/drawing/2014/main" id="{285E9192-23DD-A076-1389-8F9F92D85475}"/>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04493" y="1719866"/>
              <a:ext cx="914400" cy="914400"/>
            </a:xfrm>
            <a:prstGeom prst="rect">
              <a:avLst/>
            </a:prstGeom>
          </p:spPr>
        </p:pic>
        <p:sp>
          <p:nvSpPr>
            <p:cNvPr id="13" name="TextBox 12">
              <a:extLst>
                <a:ext uri="{FF2B5EF4-FFF2-40B4-BE49-F238E27FC236}">
                  <a16:creationId xmlns:a16="http://schemas.microsoft.com/office/drawing/2014/main" id="{656E3E56-4691-3BB7-FD06-683478056892}"/>
                </a:ext>
              </a:extLst>
            </p:cNvPr>
            <p:cNvSpPr txBox="1"/>
            <p:nvPr/>
          </p:nvSpPr>
          <p:spPr>
            <a:xfrm>
              <a:off x="5635323" y="2683980"/>
              <a:ext cx="692018" cy="350744"/>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https</a:t>
              </a:r>
            </a:p>
          </p:txBody>
        </p:sp>
      </p:grpSp>
      <p:cxnSp>
        <p:nvCxnSpPr>
          <p:cNvPr id="14" name="Straight Arrow Connector 13" descr="arrow from https lock to amazon s3 glacier.">
            <a:extLst>
              <a:ext uri="{FF2B5EF4-FFF2-40B4-BE49-F238E27FC236}">
                <a16:creationId xmlns:a16="http://schemas.microsoft.com/office/drawing/2014/main" id="{30D6CB94-0490-6233-3372-D668F5B4A7C8}"/>
              </a:ext>
              <a:ext uri="{C183D7F6-B498-43B3-948B-1728B52AA6E4}">
                <adec:decorative xmlns:adec="http://schemas.microsoft.com/office/drawing/2017/decorative" val="0"/>
              </a:ext>
            </a:extLst>
          </p:cNvPr>
          <p:cNvCxnSpPr>
            <a:cxnSpLocks/>
            <a:stCxn id="13" idx="2"/>
            <a:endCxn id="20" idx="0"/>
          </p:cNvCxnSpPr>
          <p:nvPr/>
        </p:nvCxnSpPr>
        <p:spPr>
          <a:xfrm flipH="1">
            <a:off x="5606527" y="2933267"/>
            <a:ext cx="667645" cy="221837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 name="Straight Arrow Connector 14" descr="arrow from https lock to amazon s3.">
            <a:extLst>
              <a:ext uri="{FF2B5EF4-FFF2-40B4-BE49-F238E27FC236}">
                <a16:creationId xmlns:a16="http://schemas.microsoft.com/office/drawing/2014/main" id="{5A02B675-3735-53CC-C111-6299C5A6A0A5}"/>
              </a:ext>
              <a:ext uri="{C183D7F6-B498-43B3-948B-1728B52AA6E4}">
                <adec:decorative xmlns:adec="http://schemas.microsoft.com/office/drawing/2017/decorative" val="0"/>
              </a:ext>
            </a:extLst>
          </p:cNvPr>
          <p:cNvCxnSpPr>
            <a:cxnSpLocks/>
            <a:stCxn id="13" idx="2"/>
            <a:endCxn id="19" idx="0"/>
          </p:cNvCxnSpPr>
          <p:nvPr/>
        </p:nvCxnSpPr>
        <p:spPr>
          <a:xfrm>
            <a:off x="6274172" y="2933267"/>
            <a:ext cx="852339" cy="221837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16" name="Group 15" descr="amazon s3 glacier and amazon s3 in aws cloud.">
            <a:extLst>
              <a:ext uri="{FF2B5EF4-FFF2-40B4-BE49-F238E27FC236}">
                <a16:creationId xmlns:a16="http://schemas.microsoft.com/office/drawing/2014/main" id="{67B4EA2C-0A05-7280-A09D-8D5A2B99C76C}"/>
              </a:ext>
            </a:extLst>
          </p:cNvPr>
          <p:cNvGrpSpPr/>
          <p:nvPr/>
        </p:nvGrpSpPr>
        <p:grpSpPr>
          <a:xfrm>
            <a:off x="4761119" y="4575215"/>
            <a:ext cx="2997493" cy="1660931"/>
            <a:chOff x="4117653" y="4252875"/>
            <a:chExt cx="4114800" cy="2103120"/>
          </a:xfrm>
        </p:grpSpPr>
        <p:sp>
          <p:nvSpPr>
            <p:cNvPr id="17" name="TextBox 16">
              <a:extLst>
                <a:ext uri="{FF2B5EF4-FFF2-40B4-BE49-F238E27FC236}">
                  <a16:creationId xmlns:a16="http://schemas.microsoft.com/office/drawing/2014/main" id="{6522E50D-B2D0-E145-7066-77DC1254A01F}"/>
                </a:ext>
              </a:extLst>
            </p:cNvPr>
            <p:cNvSpPr txBox="1"/>
            <p:nvPr/>
          </p:nvSpPr>
          <p:spPr>
            <a:xfrm>
              <a:off x="4127232" y="5812339"/>
              <a:ext cx="2301903" cy="350744"/>
            </a:xfrm>
            <a:prstGeom prst="rect">
              <a:avLst/>
            </a:prstGeom>
            <a:noFill/>
          </p:spPr>
          <p:txBody>
            <a:bodyPr wrap="square" rtlCol="0">
              <a:spAutoFit/>
            </a:bodyPr>
            <a:lstStyle/>
            <a:p>
              <a:pPr algn="ctr"/>
              <a:r>
                <a:rPr lang="en-US" sz="1200" dirty="0"/>
                <a:t>Amazon S3 Glacier</a:t>
              </a:r>
            </a:p>
          </p:txBody>
        </p:sp>
        <p:sp>
          <p:nvSpPr>
            <p:cNvPr id="18" name="TextBox 17">
              <a:extLst>
                <a:ext uri="{FF2B5EF4-FFF2-40B4-BE49-F238E27FC236}">
                  <a16:creationId xmlns:a16="http://schemas.microsoft.com/office/drawing/2014/main" id="{E4FBC788-9D8E-FD0D-9602-3C987E36C786}"/>
                </a:ext>
              </a:extLst>
            </p:cNvPr>
            <p:cNvSpPr txBox="1"/>
            <p:nvPr/>
          </p:nvSpPr>
          <p:spPr>
            <a:xfrm>
              <a:off x="6724656" y="5812339"/>
              <a:ext cx="1280159" cy="350744"/>
            </a:xfrm>
            <a:prstGeom prst="rect">
              <a:avLst/>
            </a:prstGeom>
            <a:noFill/>
          </p:spPr>
          <p:txBody>
            <a:bodyPr wrap="square" rtlCol="0">
              <a:spAutoFit/>
            </a:bodyPr>
            <a:lstStyle/>
            <a:p>
              <a:pPr algn="ctr"/>
              <a:r>
                <a:rPr lang="en-US" sz="1200" dirty="0"/>
                <a:t>Amazon S3</a:t>
              </a:r>
            </a:p>
          </p:txBody>
        </p:sp>
        <p:pic>
          <p:nvPicPr>
            <p:cNvPr id="19" name="Graphic 18">
              <a:extLst>
                <a:ext uri="{FF2B5EF4-FFF2-40B4-BE49-F238E27FC236}">
                  <a16:creationId xmlns:a16="http://schemas.microsoft.com/office/drawing/2014/main" id="{535D6793-B7EC-B65F-DF21-406BF4254E1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09137" y="4982759"/>
              <a:ext cx="711200" cy="711200"/>
            </a:xfrm>
            <a:prstGeom prst="rect">
              <a:avLst/>
            </a:prstGeom>
          </p:spPr>
        </p:pic>
        <p:pic>
          <p:nvPicPr>
            <p:cNvPr id="20" name="Graphic 19">
              <a:extLst>
                <a:ext uri="{FF2B5EF4-FFF2-40B4-BE49-F238E27FC236}">
                  <a16:creationId xmlns:a16="http://schemas.microsoft.com/office/drawing/2014/main" id="{43F034C1-8D10-048D-E226-256ADB4EDC34}"/>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22584" y="4982759"/>
              <a:ext cx="711200" cy="711200"/>
            </a:xfrm>
            <a:prstGeom prst="rect">
              <a:avLst/>
            </a:prstGeom>
          </p:spPr>
        </p:pic>
        <p:grpSp>
          <p:nvGrpSpPr>
            <p:cNvPr id="21" name="Group 20" descr="aws cloud.">
              <a:extLst>
                <a:ext uri="{FF2B5EF4-FFF2-40B4-BE49-F238E27FC236}">
                  <a16:creationId xmlns:a16="http://schemas.microsoft.com/office/drawing/2014/main" id="{D4550AFD-13A0-C4F6-9388-688ECEA2F97E}"/>
                </a:ext>
              </a:extLst>
            </p:cNvPr>
            <p:cNvGrpSpPr/>
            <p:nvPr/>
          </p:nvGrpSpPr>
          <p:grpSpPr>
            <a:xfrm>
              <a:off x="4117653" y="4252875"/>
              <a:ext cx="4114800" cy="2103120"/>
              <a:chOff x="4117653" y="4252875"/>
              <a:chExt cx="4114800" cy="2103120"/>
            </a:xfrm>
          </p:grpSpPr>
          <p:pic>
            <p:nvPicPr>
              <p:cNvPr id="22" name="Graphic 21">
                <a:extLst>
                  <a:ext uri="{FF2B5EF4-FFF2-40B4-BE49-F238E27FC236}">
                    <a16:creationId xmlns:a16="http://schemas.microsoft.com/office/drawing/2014/main" id="{035809B8-DD0E-8E19-6754-F105DFC0EF6B}"/>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117653" y="4252875"/>
                <a:ext cx="457200" cy="457200"/>
              </a:xfrm>
              <a:prstGeom prst="rect">
                <a:avLst/>
              </a:prstGeom>
            </p:spPr>
          </p:pic>
          <p:sp>
            <p:nvSpPr>
              <p:cNvPr id="23" name="Rectangle 22">
                <a:extLst>
                  <a:ext uri="{FF2B5EF4-FFF2-40B4-BE49-F238E27FC236}">
                    <a16:creationId xmlns:a16="http://schemas.microsoft.com/office/drawing/2014/main" id="{764E4586-BF2E-A810-BABC-C91031BB1F92}"/>
                  </a:ext>
                  <a:ext uri="{C183D7F6-B498-43B3-948B-1728B52AA6E4}">
                    <adec:decorative xmlns:adec="http://schemas.microsoft.com/office/drawing/2017/decorative" val="1"/>
                  </a:ext>
                </a:extLst>
              </p:cNvPr>
              <p:cNvSpPr/>
              <p:nvPr/>
            </p:nvSpPr>
            <p:spPr>
              <a:xfrm>
                <a:off x="4117653" y="4252875"/>
                <a:ext cx="4114800" cy="2103120"/>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200" kern="0" dirty="0">
                    <a:ln w="0"/>
                    <a:solidFill>
                      <a:sysClr val="windowText" lastClr="000000"/>
                    </a:solidFill>
                    <a:latin typeface="Arial" panose="020B0604020202020204"/>
                  </a:rPr>
                  <a:t> AWS Cloud</a:t>
                </a:r>
              </a:p>
            </p:txBody>
          </p:sp>
        </p:grpSp>
      </p:grpSp>
      <p:grpSp>
        <p:nvGrpSpPr>
          <p:cNvPr id="24" name="Group 23" descr="applications on amazon ec2 in aws cloud.">
            <a:extLst>
              <a:ext uri="{FF2B5EF4-FFF2-40B4-BE49-F238E27FC236}">
                <a16:creationId xmlns:a16="http://schemas.microsoft.com/office/drawing/2014/main" id="{22CA289A-B835-19FB-3AF7-9CC1C98CE8BB}"/>
              </a:ext>
            </a:extLst>
          </p:cNvPr>
          <p:cNvGrpSpPr/>
          <p:nvPr/>
        </p:nvGrpSpPr>
        <p:grpSpPr>
          <a:xfrm>
            <a:off x="7794155" y="1921714"/>
            <a:ext cx="2428296" cy="1307973"/>
            <a:chOff x="8239704" y="1558939"/>
            <a:chExt cx="3333436" cy="1656194"/>
          </a:xfrm>
        </p:grpSpPr>
        <p:sp>
          <p:nvSpPr>
            <p:cNvPr id="25" name="TextBox 24">
              <a:extLst>
                <a:ext uri="{FF2B5EF4-FFF2-40B4-BE49-F238E27FC236}">
                  <a16:creationId xmlns:a16="http://schemas.microsoft.com/office/drawing/2014/main" id="{64D19C81-3BF7-B689-43E8-221E0B6C8307}"/>
                </a:ext>
              </a:extLst>
            </p:cNvPr>
            <p:cNvSpPr txBox="1"/>
            <p:nvPr/>
          </p:nvSpPr>
          <p:spPr>
            <a:xfrm>
              <a:off x="10059835" y="2811496"/>
              <a:ext cx="1513305" cy="350744"/>
            </a:xfrm>
            <a:prstGeom prst="rect">
              <a:avLst/>
            </a:prstGeom>
            <a:noFill/>
          </p:spPr>
          <p:txBody>
            <a:bodyPr wrap="square" rtlCol="0">
              <a:spAutoFit/>
            </a:bodyPr>
            <a:lstStyle/>
            <a:p>
              <a:pPr algn="ctr"/>
              <a:r>
                <a:rPr lang="en-US" sz="1200" dirty="0"/>
                <a:t>Amazon EC2</a:t>
              </a:r>
            </a:p>
          </p:txBody>
        </p:sp>
        <p:sp>
          <p:nvSpPr>
            <p:cNvPr id="26" name="TextBox 25">
              <a:extLst>
                <a:ext uri="{FF2B5EF4-FFF2-40B4-BE49-F238E27FC236}">
                  <a16:creationId xmlns:a16="http://schemas.microsoft.com/office/drawing/2014/main" id="{33EB2DE7-9BE8-5C5F-D35D-F4D949859B75}"/>
                </a:ext>
              </a:extLst>
            </p:cNvPr>
            <p:cNvSpPr txBox="1"/>
            <p:nvPr/>
          </p:nvSpPr>
          <p:spPr>
            <a:xfrm>
              <a:off x="8239704" y="2630559"/>
              <a:ext cx="2301905" cy="584574"/>
            </a:xfrm>
            <a:prstGeom prst="rect">
              <a:avLst/>
            </a:prstGeom>
            <a:noFill/>
          </p:spPr>
          <p:txBody>
            <a:bodyPr wrap="square" rtlCol="0">
              <a:spAutoFit/>
            </a:bodyPr>
            <a:lstStyle/>
            <a:p>
              <a:pPr algn="ctr"/>
              <a:r>
                <a:rPr lang="en-US" sz="1200" dirty="0"/>
                <a:t>Your Applications on</a:t>
              </a:r>
            </a:p>
            <a:p>
              <a:pPr algn="ctr"/>
              <a:r>
                <a:rPr lang="en-US" sz="1200" dirty="0"/>
                <a:t>Amazon EC2</a:t>
              </a:r>
            </a:p>
          </p:txBody>
        </p:sp>
        <p:pic>
          <p:nvPicPr>
            <p:cNvPr id="27" name="Graphic 26">
              <a:extLst>
                <a:ext uri="{FF2B5EF4-FFF2-40B4-BE49-F238E27FC236}">
                  <a16:creationId xmlns:a16="http://schemas.microsoft.com/office/drawing/2014/main" id="{1FF55D23-6AF0-601C-BCD9-EA266CE1BBAD}"/>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60887" y="1990678"/>
              <a:ext cx="711200" cy="711200"/>
            </a:xfrm>
            <a:prstGeom prst="rect">
              <a:avLst/>
            </a:prstGeom>
          </p:spPr>
        </p:pic>
        <p:pic>
          <p:nvPicPr>
            <p:cNvPr id="28" name="Graphic 27">
              <a:extLst>
                <a:ext uri="{FF2B5EF4-FFF2-40B4-BE49-F238E27FC236}">
                  <a16:creationId xmlns:a16="http://schemas.microsoft.com/office/drawing/2014/main" id="{75870243-D74C-8479-8411-F6422DBD7094}"/>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020416" y="2213221"/>
              <a:ext cx="469900" cy="469900"/>
            </a:xfrm>
            <a:prstGeom prst="rect">
              <a:avLst/>
            </a:prstGeom>
          </p:spPr>
        </p:pic>
        <p:pic>
          <p:nvPicPr>
            <p:cNvPr id="29" name="Graphic 28">
              <a:extLst>
                <a:ext uri="{FF2B5EF4-FFF2-40B4-BE49-F238E27FC236}">
                  <a16:creationId xmlns:a16="http://schemas.microsoft.com/office/drawing/2014/main" id="{385549DE-10F0-E22A-4CBA-7A07ADB5B1EF}"/>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363316" y="2203696"/>
              <a:ext cx="469900" cy="469900"/>
            </a:xfrm>
            <a:prstGeom prst="rect">
              <a:avLst/>
            </a:prstGeom>
          </p:spPr>
        </p:pic>
        <p:pic>
          <p:nvPicPr>
            <p:cNvPr id="30" name="Graphic 29">
              <a:extLst>
                <a:ext uri="{FF2B5EF4-FFF2-40B4-BE49-F238E27FC236}">
                  <a16:creationId xmlns:a16="http://schemas.microsoft.com/office/drawing/2014/main" id="{8C6AD2F8-18AC-91EA-CF55-44A6FA7B6AE9}"/>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639416" y="2203696"/>
              <a:ext cx="469900" cy="469900"/>
            </a:xfrm>
            <a:prstGeom prst="rect">
              <a:avLst/>
            </a:prstGeom>
          </p:spPr>
        </p:pic>
        <p:grpSp>
          <p:nvGrpSpPr>
            <p:cNvPr id="31" name="Group 30" descr="aws cloud.">
              <a:extLst>
                <a:ext uri="{FF2B5EF4-FFF2-40B4-BE49-F238E27FC236}">
                  <a16:creationId xmlns:a16="http://schemas.microsoft.com/office/drawing/2014/main" id="{E5E16A33-6B6B-A479-38B6-08306EB6F6D7}"/>
                </a:ext>
              </a:extLst>
            </p:cNvPr>
            <p:cNvGrpSpPr/>
            <p:nvPr/>
          </p:nvGrpSpPr>
          <p:grpSpPr>
            <a:xfrm>
              <a:off x="8500986" y="1558939"/>
              <a:ext cx="2926080" cy="1645920"/>
              <a:chOff x="7540866" y="1558939"/>
              <a:chExt cx="2926080" cy="1645920"/>
            </a:xfrm>
          </p:grpSpPr>
          <p:pic>
            <p:nvPicPr>
              <p:cNvPr id="32" name="Graphic 31">
                <a:extLst>
                  <a:ext uri="{FF2B5EF4-FFF2-40B4-BE49-F238E27FC236}">
                    <a16:creationId xmlns:a16="http://schemas.microsoft.com/office/drawing/2014/main" id="{C0688592-6F4A-6C72-AF84-179BE4BF23CC}"/>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40866" y="1558939"/>
                <a:ext cx="457200" cy="457200"/>
              </a:xfrm>
              <a:prstGeom prst="rect">
                <a:avLst/>
              </a:prstGeom>
            </p:spPr>
          </p:pic>
          <p:sp>
            <p:nvSpPr>
              <p:cNvPr id="33" name="Rectangle 32">
                <a:extLst>
                  <a:ext uri="{FF2B5EF4-FFF2-40B4-BE49-F238E27FC236}">
                    <a16:creationId xmlns:a16="http://schemas.microsoft.com/office/drawing/2014/main" id="{BC838B3F-E7DE-9073-5CA2-476BF7DC7584}"/>
                  </a:ext>
                  <a:ext uri="{C183D7F6-B498-43B3-948B-1728B52AA6E4}">
                    <adec:decorative xmlns:adec="http://schemas.microsoft.com/office/drawing/2017/decorative" val="1"/>
                  </a:ext>
                </a:extLst>
              </p:cNvPr>
              <p:cNvSpPr/>
              <p:nvPr/>
            </p:nvSpPr>
            <p:spPr>
              <a:xfrm>
                <a:off x="7540866" y="1558939"/>
                <a:ext cx="2926080" cy="1645920"/>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200" kern="0" dirty="0">
                    <a:ln w="0"/>
                    <a:solidFill>
                      <a:sysClr val="windowText" lastClr="000000"/>
                    </a:solidFill>
                    <a:latin typeface="Arial" panose="020B0604020202020204"/>
                  </a:rPr>
                  <a:t> AWS Cloud</a:t>
                </a:r>
              </a:p>
            </p:txBody>
          </p:sp>
        </p:grpSp>
      </p:grpSp>
      <p:cxnSp>
        <p:nvCxnSpPr>
          <p:cNvPr id="34" name="Straight Arrow Connector 33" descr="left arrow from applications on ec2 to https lock.">
            <a:extLst>
              <a:ext uri="{FF2B5EF4-FFF2-40B4-BE49-F238E27FC236}">
                <a16:creationId xmlns:a16="http://schemas.microsoft.com/office/drawing/2014/main" id="{BD735B38-E0CA-3CE5-21AF-F7728CD57B38}"/>
              </a:ext>
              <a:ext uri="{C183D7F6-B498-43B3-948B-1728B52AA6E4}">
                <adec:decorative xmlns:adec="http://schemas.microsoft.com/office/drawing/2017/decorative" val="0"/>
              </a:ext>
            </a:extLst>
          </p:cNvPr>
          <p:cNvCxnSpPr>
            <a:cxnSpLocks/>
          </p:cNvCxnSpPr>
          <p:nvPr/>
        </p:nvCxnSpPr>
        <p:spPr>
          <a:xfrm flipH="1">
            <a:off x="7182601" y="2255336"/>
            <a:ext cx="496581"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D2638FB-247F-CFB6-FC54-6D9506EF4BFA}"/>
              </a:ext>
            </a:extLst>
          </p:cNvPr>
          <p:cNvSpPr txBox="1"/>
          <p:nvPr/>
        </p:nvSpPr>
        <p:spPr>
          <a:xfrm>
            <a:off x="2947869" y="4615131"/>
            <a:ext cx="1472703" cy="461665"/>
          </a:xfrm>
          <a:prstGeom prst="rect">
            <a:avLst/>
          </a:prstGeom>
          <a:noFill/>
        </p:spPr>
        <p:txBody>
          <a:bodyPr wrap="squar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Data is encrypted</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by default</a:t>
            </a:r>
          </a:p>
        </p:txBody>
      </p:sp>
      <p:cxnSp>
        <p:nvCxnSpPr>
          <p:cNvPr id="36" name="Straight Arrow Connector 35">
            <a:extLst>
              <a:ext uri="{FF2B5EF4-FFF2-40B4-BE49-F238E27FC236}">
                <a16:creationId xmlns:a16="http://schemas.microsoft.com/office/drawing/2014/main" id="{B880F5EA-80DA-C371-531A-A8A254C44DDE}"/>
              </a:ext>
              <a:ext uri="{C183D7F6-B498-43B3-948B-1728B52AA6E4}">
                <adec:decorative xmlns:adec="http://schemas.microsoft.com/office/drawing/2017/decorative" val="1"/>
              </a:ext>
            </a:extLst>
          </p:cNvPr>
          <p:cNvCxnSpPr>
            <a:cxnSpLocks/>
            <a:stCxn id="35" idx="3"/>
            <a:endCxn id="20" idx="1"/>
          </p:cNvCxnSpPr>
          <p:nvPr/>
        </p:nvCxnSpPr>
        <p:spPr>
          <a:xfrm>
            <a:off x="4420571" y="4845963"/>
            <a:ext cx="926912" cy="586508"/>
          </a:xfrm>
          <a:prstGeom prst="straightConnector1">
            <a:avLst/>
          </a:prstGeom>
          <a:ln w="12700">
            <a:solidFill>
              <a:srgbClr val="545B64"/>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946C449-F2AE-6B90-695D-278CF773B7C2}"/>
              </a:ext>
            </a:extLst>
          </p:cNvPr>
          <p:cNvSpPr txBox="1"/>
          <p:nvPr/>
        </p:nvSpPr>
        <p:spPr>
          <a:xfrm>
            <a:off x="8425171" y="4881372"/>
            <a:ext cx="2055445" cy="461665"/>
          </a:xfrm>
          <a:prstGeom prst="rect">
            <a:avLst/>
          </a:prstGeom>
          <a:noFill/>
        </p:spPr>
        <p:txBody>
          <a:bodyPr wrap="squar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Your application must</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enable server-side encryption</a:t>
            </a:r>
          </a:p>
        </p:txBody>
      </p:sp>
      <p:cxnSp>
        <p:nvCxnSpPr>
          <p:cNvPr id="38" name="Straight Arrow Connector 37">
            <a:extLst>
              <a:ext uri="{FF2B5EF4-FFF2-40B4-BE49-F238E27FC236}">
                <a16:creationId xmlns:a16="http://schemas.microsoft.com/office/drawing/2014/main" id="{7673D951-D01F-C02E-69BD-9A6EE05AE857}"/>
              </a:ext>
              <a:ext uri="{C183D7F6-B498-43B3-948B-1728B52AA6E4}">
                <adec:decorative xmlns:adec="http://schemas.microsoft.com/office/drawing/2017/decorative" val="1"/>
              </a:ext>
            </a:extLst>
          </p:cNvPr>
          <p:cNvCxnSpPr>
            <a:cxnSpLocks/>
            <a:stCxn id="19" idx="3"/>
            <a:endCxn id="37" idx="1"/>
          </p:cNvCxnSpPr>
          <p:nvPr/>
        </p:nvCxnSpPr>
        <p:spPr>
          <a:xfrm flipV="1">
            <a:off x="7385552" y="5112205"/>
            <a:ext cx="1039618" cy="320267"/>
          </a:xfrm>
          <a:prstGeom prst="straightConnector1">
            <a:avLst/>
          </a:prstGeom>
          <a:ln w="12700">
            <a:solidFill>
              <a:srgbClr val="545B64"/>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69958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3600" b="1" dirty="0"/>
              <a:t>Database</a:t>
            </a:r>
          </a:p>
        </p:txBody>
      </p:sp>
    </p:spTree>
    <p:extLst>
      <p:ext uri="{BB962C8B-B14F-4D97-AF65-F5344CB8AC3E}">
        <p14:creationId xmlns:p14="http://schemas.microsoft.com/office/powerpoint/2010/main" val="182641786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6A252-219E-F11F-3729-80DE6813D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794AF-6C30-4B46-BF45-5ECD4251EACF}"/>
              </a:ext>
            </a:extLst>
          </p:cNvPr>
          <p:cNvSpPr>
            <a:spLocks noGrp="1"/>
          </p:cNvSpPr>
          <p:nvPr>
            <p:ph type="title"/>
          </p:nvPr>
        </p:nvSpPr>
        <p:spPr/>
        <p:txBody>
          <a:bodyPr>
            <a:noAutofit/>
          </a:bodyPr>
          <a:lstStyle/>
          <a:p>
            <a:r>
              <a:rPr lang="en-US" sz="3600" b="1" dirty="0"/>
              <a:t>Amazon Relational Database Service (RDS)</a:t>
            </a:r>
          </a:p>
        </p:txBody>
      </p:sp>
    </p:spTree>
    <p:extLst>
      <p:ext uri="{BB962C8B-B14F-4D97-AF65-F5344CB8AC3E}">
        <p14:creationId xmlns:p14="http://schemas.microsoft.com/office/powerpoint/2010/main" val="374227628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960A0-2454-0378-059D-F167232D6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FEFD8-028F-39BD-806F-A44162C6FCBA}"/>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CB194C0B-7C29-58B8-3BCA-13E6ABD562D4}"/>
              </a:ext>
            </a:extLst>
          </p:cNvPr>
          <p:cNvSpPr>
            <a:spLocks noGrp="1"/>
          </p:cNvSpPr>
          <p:nvPr>
            <p:ph type="body" sz="quarter" idx="10"/>
          </p:nvPr>
        </p:nvSpPr>
        <p:spPr/>
        <p:txBody>
          <a:bodyPr>
            <a:normAutofit fontScale="70000" lnSpcReduction="20000"/>
          </a:bodyPr>
          <a:lstStyle/>
          <a:p>
            <a:r>
              <a:rPr lang="en-US" sz="2400" dirty="0"/>
              <a:t>Challenges of relational databases</a:t>
            </a:r>
          </a:p>
        </p:txBody>
      </p:sp>
      <p:sp>
        <p:nvSpPr>
          <p:cNvPr id="4" name="Title 1">
            <a:extLst>
              <a:ext uri="{FF2B5EF4-FFF2-40B4-BE49-F238E27FC236}">
                <a16:creationId xmlns:a16="http://schemas.microsoft.com/office/drawing/2014/main" id="{EFDDEDE1-F6C8-9571-3EAA-79E237C016F1}"/>
              </a:ext>
            </a:extLst>
          </p:cNvPr>
          <p:cNvSpPr txBox="1">
            <a:spLocks/>
          </p:cNvSpPr>
          <p:nvPr/>
        </p:nvSpPr>
        <p:spPr>
          <a:xfrm>
            <a:off x="4495800" y="381000"/>
            <a:ext cx="63813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C2E4B297-40CE-43F9-E903-51AA274333D6}"/>
              </a:ext>
            </a:extLst>
          </p:cNvPr>
          <p:cNvSpPr txBox="1">
            <a:spLocks/>
          </p:cNvSpPr>
          <p:nvPr/>
        </p:nvSpPr>
        <p:spPr>
          <a:xfrm>
            <a:off x="2743200" y="1981200"/>
            <a:ext cx="7610062" cy="468470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Bef>
                <a:spcPts val="1200"/>
              </a:spcBef>
              <a:spcAft>
                <a:spcPts val="800"/>
              </a:spcAft>
            </a:pPr>
            <a:r>
              <a:rPr lang="en-US" dirty="0"/>
              <a:t>Server maintenance and energy footprint</a:t>
            </a:r>
          </a:p>
          <a:p>
            <a:pPr marL="457200" indent="-457200" algn="just">
              <a:spcBef>
                <a:spcPts val="1200"/>
              </a:spcBef>
              <a:spcAft>
                <a:spcPts val="800"/>
              </a:spcAft>
            </a:pPr>
            <a:r>
              <a:rPr lang="en-US" dirty="0"/>
              <a:t>Software installation and patches</a:t>
            </a:r>
          </a:p>
          <a:p>
            <a:pPr marL="457200" indent="-457200" algn="just">
              <a:spcBef>
                <a:spcPts val="1200"/>
              </a:spcBef>
              <a:spcAft>
                <a:spcPts val="800"/>
              </a:spcAft>
            </a:pPr>
            <a:r>
              <a:rPr lang="en-US" dirty="0"/>
              <a:t>Database backups and high availability</a:t>
            </a:r>
          </a:p>
          <a:p>
            <a:pPr marL="457200" indent="-457200" algn="just">
              <a:spcBef>
                <a:spcPts val="1200"/>
              </a:spcBef>
              <a:spcAft>
                <a:spcPts val="800"/>
              </a:spcAft>
            </a:pPr>
            <a:r>
              <a:rPr lang="en-US" dirty="0"/>
              <a:t>Limits on scalability</a:t>
            </a:r>
          </a:p>
          <a:p>
            <a:pPr marL="457200" indent="-457200" algn="just">
              <a:spcBef>
                <a:spcPts val="1200"/>
              </a:spcBef>
              <a:spcAft>
                <a:spcPts val="800"/>
              </a:spcAft>
            </a:pPr>
            <a:r>
              <a:rPr lang="en-US" dirty="0"/>
              <a:t>Data security</a:t>
            </a:r>
          </a:p>
          <a:p>
            <a:pPr marL="457200" indent="-457200" algn="just">
              <a:spcBef>
                <a:spcPts val="1200"/>
              </a:spcBef>
              <a:spcAft>
                <a:spcPts val="800"/>
              </a:spcAft>
            </a:pPr>
            <a:r>
              <a:rPr lang="en-US" dirty="0"/>
              <a:t>Operating system (OS) installation and patches</a:t>
            </a:r>
          </a:p>
        </p:txBody>
      </p:sp>
    </p:spTree>
    <p:extLst>
      <p:ext uri="{BB962C8B-B14F-4D97-AF65-F5344CB8AC3E}">
        <p14:creationId xmlns:p14="http://schemas.microsoft.com/office/powerpoint/2010/main" val="274385127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62D01-F320-8DF2-B42B-5DDE94EEE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59D7D-EBCA-6492-1A3C-F46643C76196}"/>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C6E07DC5-0383-89D0-30D5-227ECC615280}"/>
              </a:ext>
            </a:extLst>
          </p:cNvPr>
          <p:cNvSpPr>
            <a:spLocks noGrp="1"/>
          </p:cNvSpPr>
          <p:nvPr>
            <p:ph type="body" sz="quarter" idx="10"/>
          </p:nvPr>
        </p:nvSpPr>
        <p:spPr/>
        <p:txBody>
          <a:bodyPr>
            <a:normAutofit fontScale="70000" lnSpcReduction="20000"/>
          </a:bodyPr>
          <a:lstStyle/>
          <a:p>
            <a:r>
              <a:rPr lang="en-US" sz="2400" dirty="0"/>
              <a:t>Amazon Relational Database Service</a:t>
            </a:r>
          </a:p>
        </p:txBody>
      </p:sp>
      <p:sp>
        <p:nvSpPr>
          <p:cNvPr id="4" name="Judul 1">
            <a:extLst>
              <a:ext uri="{FF2B5EF4-FFF2-40B4-BE49-F238E27FC236}">
                <a16:creationId xmlns:a16="http://schemas.microsoft.com/office/drawing/2014/main" id="{97FEEADE-0431-7343-300E-05500A68A7B4}"/>
              </a:ext>
            </a:extLst>
          </p:cNvPr>
          <p:cNvSpPr txBox="1">
            <a:spLocks/>
          </p:cNvSpPr>
          <p:nvPr/>
        </p:nvSpPr>
        <p:spPr>
          <a:xfrm>
            <a:off x="5334000" y="533400"/>
            <a:ext cx="4572000" cy="80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7500"/>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TextBox 4">
            <a:extLst>
              <a:ext uri="{FF2B5EF4-FFF2-40B4-BE49-F238E27FC236}">
                <a16:creationId xmlns:a16="http://schemas.microsoft.com/office/drawing/2014/main" id="{4283F7BF-8BC1-EA57-AA5C-4C7EC9CBFC39}"/>
              </a:ext>
            </a:extLst>
          </p:cNvPr>
          <p:cNvSpPr txBox="1"/>
          <p:nvPr/>
        </p:nvSpPr>
        <p:spPr>
          <a:xfrm>
            <a:off x="3421685" y="1964768"/>
            <a:ext cx="6165482" cy="707886"/>
          </a:xfrm>
          <a:prstGeom prst="rect">
            <a:avLst/>
          </a:prstGeom>
          <a:noFill/>
        </p:spPr>
        <p:txBody>
          <a:bodyPr wrap="square" rtlCol="0">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Managed service that sets up and operates a relational database in the cloud.</a:t>
            </a:r>
          </a:p>
        </p:txBody>
      </p:sp>
      <p:grpSp>
        <p:nvGrpSpPr>
          <p:cNvPr id="6" name="Group 5">
            <a:extLst>
              <a:ext uri="{FF2B5EF4-FFF2-40B4-BE49-F238E27FC236}">
                <a16:creationId xmlns:a16="http://schemas.microsoft.com/office/drawing/2014/main" id="{E3F83226-F2DD-D082-B78D-1C25CD6938C2}"/>
              </a:ext>
              <a:ext uri="{C183D7F6-B498-43B3-948B-1728B52AA6E4}">
                <adec:decorative xmlns:adec="http://schemas.microsoft.com/office/drawing/2017/decorative" val="1"/>
              </a:ext>
            </a:extLst>
          </p:cNvPr>
          <p:cNvGrpSpPr/>
          <p:nvPr/>
        </p:nvGrpSpPr>
        <p:grpSpPr>
          <a:xfrm>
            <a:off x="3083282" y="3201470"/>
            <a:ext cx="6927954" cy="1629883"/>
            <a:chOff x="1559281" y="3197241"/>
            <a:chExt cx="8538199" cy="1634111"/>
          </a:xfrm>
        </p:grpSpPr>
        <p:grpSp>
          <p:nvGrpSpPr>
            <p:cNvPr id="7" name="Group 6">
              <a:extLst>
                <a:ext uri="{FF2B5EF4-FFF2-40B4-BE49-F238E27FC236}">
                  <a16:creationId xmlns:a16="http://schemas.microsoft.com/office/drawing/2014/main" id="{068FCDCE-7FA5-3F08-B94C-FDC7F2620350}"/>
                </a:ext>
                <a:ext uri="{C183D7F6-B498-43B3-948B-1728B52AA6E4}">
                  <adec:decorative xmlns:adec="http://schemas.microsoft.com/office/drawing/2017/decorative" val="1"/>
                </a:ext>
              </a:extLst>
            </p:cNvPr>
            <p:cNvGrpSpPr/>
            <p:nvPr/>
          </p:nvGrpSpPr>
          <p:grpSpPr>
            <a:xfrm>
              <a:off x="1559281" y="3545117"/>
              <a:ext cx="1072750" cy="910523"/>
              <a:chOff x="1559281" y="3545117"/>
              <a:chExt cx="1072750" cy="910523"/>
            </a:xfrm>
          </p:grpSpPr>
          <p:pic>
            <p:nvPicPr>
              <p:cNvPr id="22" name="Graphic 21">
                <a:extLst>
                  <a:ext uri="{FF2B5EF4-FFF2-40B4-BE49-F238E27FC236}">
                    <a16:creationId xmlns:a16="http://schemas.microsoft.com/office/drawing/2014/main" id="{0BFD64A9-B79D-68BB-96E6-61031FDCDC5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853863" y="3545117"/>
                <a:ext cx="483586" cy="469900"/>
              </a:xfrm>
              <a:prstGeom prst="rect">
                <a:avLst/>
              </a:prstGeom>
            </p:spPr>
          </p:pic>
          <p:sp>
            <p:nvSpPr>
              <p:cNvPr id="23" name="TextBox 22">
                <a:extLst>
                  <a:ext uri="{FF2B5EF4-FFF2-40B4-BE49-F238E27FC236}">
                    <a16:creationId xmlns:a16="http://schemas.microsoft.com/office/drawing/2014/main" id="{192EBB4F-E3F4-21B7-7AB2-FDE7C6F2B973}"/>
                  </a:ext>
                  <a:ext uri="{C183D7F6-B498-43B3-948B-1728B52AA6E4}">
                    <adec:decorative xmlns:adec="http://schemas.microsoft.com/office/drawing/2017/decorative" val="1"/>
                  </a:ext>
                </a:extLst>
              </p:cNvPr>
              <p:cNvSpPr txBox="1"/>
              <p:nvPr/>
            </p:nvSpPr>
            <p:spPr>
              <a:xfrm>
                <a:off x="1559281" y="4117086"/>
                <a:ext cx="1072750" cy="338554"/>
              </a:xfrm>
              <a:prstGeom prst="rect">
                <a:avLst/>
              </a:prstGeom>
              <a:noFill/>
            </p:spPr>
            <p:txBody>
              <a:bodyPr wrap="square" rtlCol="0">
                <a:spAutoFit/>
              </a:bodyPr>
              <a:lstStyle/>
              <a:p>
                <a:pPr algn="ctr"/>
                <a:r>
                  <a:rPr lang="en-US" sz="1600" dirty="0">
                    <a:solidFill>
                      <a:srgbClr val="232F3E"/>
                    </a:solidFill>
                    <a:latin typeface="Open Sans" panose="020B0606030504020204" pitchFamily="34" charset="0"/>
                    <a:ea typeface="Open Sans" panose="020B0606030504020204" pitchFamily="34" charset="0"/>
                    <a:cs typeface="Open Sans" panose="020B0606030504020204" pitchFamily="34" charset="0"/>
                  </a:rPr>
                  <a:t>Users</a:t>
                </a:r>
              </a:p>
            </p:txBody>
          </p:sp>
        </p:grpSp>
        <p:cxnSp>
          <p:nvCxnSpPr>
            <p:cNvPr id="8" name="Straight Arrow Connector 7">
              <a:extLst>
                <a:ext uri="{FF2B5EF4-FFF2-40B4-BE49-F238E27FC236}">
                  <a16:creationId xmlns:a16="http://schemas.microsoft.com/office/drawing/2014/main" id="{0F87E1C3-A201-F98E-6B64-DF385B66DFC9}"/>
                </a:ext>
                <a:ext uri="{C183D7F6-B498-43B3-948B-1728B52AA6E4}">
                  <adec:decorative xmlns:adec="http://schemas.microsoft.com/office/drawing/2017/decorative" val="1"/>
                </a:ext>
              </a:extLst>
            </p:cNvPr>
            <p:cNvCxnSpPr/>
            <p:nvPr/>
          </p:nvCxnSpPr>
          <p:spPr>
            <a:xfrm>
              <a:off x="2902390"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51CA52E3-8AF7-79F6-EC31-635CCB289012}"/>
                </a:ext>
                <a:ext uri="{C183D7F6-B498-43B3-948B-1728B52AA6E4}">
                  <adec:decorative xmlns:adec="http://schemas.microsoft.com/office/drawing/2017/decorative" val="1"/>
                </a:ext>
              </a:extLst>
            </p:cNvPr>
            <p:cNvGrpSpPr/>
            <p:nvPr/>
          </p:nvGrpSpPr>
          <p:grpSpPr>
            <a:xfrm>
              <a:off x="4442140" y="3298842"/>
              <a:ext cx="1543328" cy="1472474"/>
              <a:chOff x="4344269" y="3298842"/>
              <a:chExt cx="1543328" cy="1472474"/>
            </a:xfrm>
          </p:grpSpPr>
          <p:grpSp>
            <p:nvGrpSpPr>
              <p:cNvPr id="17" name="Group 16">
                <a:extLst>
                  <a:ext uri="{FF2B5EF4-FFF2-40B4-BE49-F238E27FC236}">
                    <a16:creationId xmlns:a16="http://schemas.microsoft.com/office/drawing/2014/main" id="{EBB82CF7-57DA-085C-58C0-01ED59BAE279}"/>
                  </a:ext>
                  <a:ext uri="{C183D7F6-B498-43B3-948B-1728B52AA6E4}">
                    <adec:decorative xmlns:adec="http://schemas.microsoft.com/office/drawing/2017/decorative" val="1"/>
                  </a:ext>
                </a:extLst>
              </p:cNvPr>
              <p:cNvGrpSpPr/>
              <p:nvPr/>
            </p:nvGrpSpPr>
            <p:grpSpPr>
              <a:xfrm>
                <a:off x="4446478" y="3298842"/>
                <a:ext cx="1338909" cy="774700"/>
                <a:chOff x="4446478" y="3298842"/>
                <a:chExt cx="1338909" cy="774700"/>
              </a:xfrm>
            </p:grpSpPr>
            <p:pic>
              <p:nvPicPr>
                <p:cNvPr id="19" name="Graphic 18">
                  <a:extLst>
                    <a:ext uri="{FF2B5EF4-FFF2-40B4-BE49-F238E27FC236}">
                      <a16:creationId xmlns:a16="http://schemas.microsoft.com/office/drawing/2014/main" id="{D6ED70FC-DA39-EC59-23CA-12EA7992551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46478" y="3298842"/>
                  <a:ext cx="469900" cy="469900"/>
                </a:xfrm>
                <a:prstGeom prst="rect">
                  <a:avLst/>
                </a:prstGeom>
              </p:spPr>
            </p:pic>
            <p:pic>
              <p:nvPicPr>
                <p:cNvPr id="20" name="Graphic 19">
                  <a:extLst>
                    <a:ext uri="{FF2B5EF4-FFF2-40B4-BE49-F238E27FC236}">
                      <a16:creationId xmlns:a16="http://schemas.microsoft.com/office/drawing/2014/main" id="{3F779742-EE13-9406-C0BD-015AA3C5F0F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80983" y="3451242"/>
                  <a:ext cx="469900" cy="469900"/>
                </a:xfrm>
                <a:prstGeom prst="rect">
                  <a:avLst/>
                </a:prstGeom>
              </p:spPr>
            </p:pic>
            <p:pic>
              <p:nvPicPr>
                <p:cNvPr id="21" name="Graphic 20">
                  <a:extLst>
                    <a:ext uri="{FF2B5EF4-FFF2-40B4-BE49-F238E27FC236}">
                      <a16:creationId xmlns:a16="http://schemas.microsoft.com/office/drawing/2014/main" id="{83F1249C-EDF2-586E-9361-92D8780D85D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5487" y="3603642"/>
                  <a:ext cx="469900" cy="469900"/>
                </a:xfrm>
                <a:prstGeom prst="rect">
                  <a:avLst/>
                </a:prstGeom>
              </p:spPr>
            </p:pic>
          </p:grpSp>
          <p:sp>
            <p:nvSpPr>
              <p:cNvPr id="18" name="TextBox 17">
                <a:extLst>
                  <a:ext uri="{FF2B5EF4-FFF2-40B4-BE49-F238E27FC236}">
                    <a16:creationId xmlns:a16="http://schemas.microsoft.com/office/drawing/2014/main" id="{6DDF0FB0-9392-F2F8-8FFF-021F714ECE4F}"/>
                  </a:ext>
                  <a:ext uri="{C183D7F6-B498-43B3-948B-1728B52AA6E4}">
                    <adec:decorative xmlns:adec="http://schemas.microsoft.com/office/drawing/2017/decorative" val="1"/>
                  </a:ext>
                </a:extLst>
              </p:cNvPr>
              <p:cNvSpPr txBox="1"/>
              <p:nvPr/>
            </p:nvSpPr>
            <p:spPr>
              <a:xfrm>
                <a:off x="4344269" y="4185024"/>
                <a:ext cx="1543328" cy="586292"/>
              </a:xfrm>
              <a:prstGeom prst="rect">
                <a:avLst/>
              </a:prstGeom>
              <a:noFill/>
            </p:spPr>
            <p:txBody>
              <a:bodyPr wrap="none" rtlCol="0">
                <a:sp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Application</a:t>
                </a:r>
              </a:p>
              <a:p>
                <a:pPr algn="ctr"/>
                <a:r>
                  <a:rPr lang="en-US" sz="1600" dirty="0">
                    <a:latin typeface="Open Sans" panose="020B0606030504020204" pitchFamily="34" charset="0"/>
                    <a:ea typeface="Open Sans" panose="020B0606030504020204" pitchFamily="34" charset="0"/>
                    <a:cs typeface="Open Sans" panose="020B0606030504020204" pitchFamily="34" charset="0"/>
                  </a:rPr>
                  <a:t>Servers</a:t>
                </a:r>
              </a:p>
            </p:txBody>
          </p:sp>
        </p:grpSp>
        <p:cxnSp>
          <p:nvCxnSpPr>
            <p:cNvPr id="10" name="Straight Arrow Connector 9">
              <a:extLst>
                <a:ext uri="{FF2B5EF4-FFF2-40B4-BE49-F238E27FC236}">
                  <a16:creationId xmlns:a16="http://schemas.microsoft.com/office/drawing/2014/main" id="{A9F27069-F28D-C043-9F1E-5C7561676CF0}"/>
                </a:ext>
                <a:ext uri="{C183D7F6-B498-43B3-948B-1728B52AA6E4}">
                  <adec:decorative xmlns:adec="http://schemas.microsoft.com/office/drawing/2017/decorative" val="1"/>
                </a:ext>
              </a:extLst>
            </p:cNvPr>
            <p:cNvCxnSpPr/>
            <p:nvPr/>
          </p:nvCxnSpPr>
          <p:spPr>
            <a:xfrm>
              <a:off x="6153617"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DEBE9EB0-8E9A-740A-D043-58DD3A5A4861}"/>
                </a:ext>
                <a:ext uri="{C183D7F6-B498-43B3-948B-1728B52AA6E4}">
                  <adec:decorative xmlns:adec="http://schemas.microsoft.com/office/drawing/2017/decorative" val="1"/>
                </a:ext>
              </a:extLst>
            </p:cNvPr>
            <p:cNvGrpSpPr/>
            <p:nvPr/>
          </p:nvGrpSpPr>
          <p:grpSpPr>
            <a:xfrm>
              <a:off x="7795576" y="3197241"/>
              <a:ext cx="2301904" cy="1634111"/>
              <a:chOff x="7795576" y="3197241"/>
              <a:chExt cx="2301904" cy="1634111"/>
            </a:xfrm>
          </p:grpSpPr>
          <p:pic>
            <p:nvPicPr>
              <p:cNvPr id="12" name="Graphic 11">
                <a:extLst>
                  <a:ext uri="{FF2B5EF4-FFF2-40B4-BE49-F238E27FC236}">
                    <a16:creationId xmlns:a16="http://schemas.microsoft.com/office/drawing/2014/main" id="{2389B5C7-E2FD-7095-4C7D-197877D8F7E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90928" y="3689844"/>
                <a:ext cx="711200" cy="711200"/>
              </a:xfrm>
              <a:prstGeom prst="rect">
                <a:avLst/>
              </a:prstGeom>
            </p:spPr>
          </p:pic>
          <p:sp>
            <p:nvSpPr>
              <p:cNvPr id="13" name="TextBox 12">
                <a:extLst>
                  <a:ext uri="{FF2B5EF4-FFF2-40B4-BE49-F238E27FC236}">
                    <a16:creationId xmlns:a16="http://schemas.microsoft.com/office/drawing/2014/main" id="{CC471032-5EF5-8D9E-F2A5-CFD3495E3790}"/>
                  </a:ext>
                  <a:ext uri="{C183D7F6-B498-43B3-948B-1728B52AA6E4}">
                    <adec:decorative xmlns:adec="http://schemas.microsoft.com/office/drawing/2017/decorative" val="1"/>
                  </a:ext>
                </a:extLst>
              </p:cNvPr>
              <p:cNvSpPr txBox="1"/>
              <p:nvPr/>
            </p:nvSpPr>
            <p:spPr>
              <a:xfrm>
                <a:off x="7795576" y="4485657"/>
                <a:ext cx="2301904" cy="338554"/>
              </a:xfrm>
              <a:prstGeom prst="rect">
                <a:avLst/>
              </a:prstGeom>
              <a:noFill/>
            </p:spPr>
            <p:txBody>
              <a:bodyPr wrap="square" rtlCol="0">
                <a:sp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Amazon RDS</a:t>
                </a:r>
              </a:p>
            </p:txBody>
          </p:sp>
          <p:grpSp>
            <p:nvGrpSpPr>
              <p:cNvPr id="14" name="Group 13">
                <a:extLst>
                  <a:ext uri="{FF2B5EF4-FFF2-40B4-BE49-F238E27FC236}">
                    <a16:creationId xmlns:a16="http://schemas.microsoft.com/office/drawing/2014/main" id="{5EA497B0-4D9A-375A-38D9-CB417B0CEB49}"/>
                  </a:ext>
                  <a:ext uri="{C183D7F6-B498-43B3-948B-1728B52AA6E4}">
                    <adec:decorative xmlns:adec="http://schemas.microsoft.com/office/drawing/2017/decorative" val="1"/>
                  </a:ext>
                </a:extLst>
              </p:cNvPr>
              <p:cNvGrpSpPr/>
              <p:nvPr/>
            </p:nvGrpSpPr>
            <p:grpSpPr>
              <a:xfrm>
                <a:off x="7924880" y="3197241"/>
                <a:ext cx="2043296" cy="1634111"/>
                <a:chOff x="7894416" y="3197241"/>
                <a:chExt cx="2043296" cy="1634111"/>
              </a:xfrm>
            </p:grpSpPr>
            <p:sp>
              <p:nvSpPr>
                <p:cNvPr id="15" name="Rectangle 14">
                  <a:extLst>
                    <a:ext uri="{FF2B5EF4-FFF2-40B4-BE49-F238E27FC236}">
                      <a16:creationId xmlns:a16="http://schemas.microsoft.com/office/drawing/2014/main" id="{55C06AB0-BB03-EFDA-FAD6-79DACCBDAA66}"/>
                    </a:ext>
                    <a:ext uri="{C183D7F6-B498-43B3-948B-1728B52AA6E4}">
                      <adec:decorative xmlns:adec="http://schemas.microsoft.com/office/drawing/2017/decorative" val="1"/>
                    </a:ext>
                  </a:extLst>
                </p:cNvPr>
                <p:cNvSpPr/>
                <p:nvPr/>
              </p:nvSpPr>
              <p:spPr>
                <a:xfrm>
                  <a:off x="7894416" y="3197241"/>
                  <a:ext cx="2043296" cy="163411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kern="0" dirty="0">
                      <a:solidFill>
                        <a:sysClr val="windowText" lastClr="000000"/>
                      </a:solidFill>
                      <a:latin typeface="Arial" panose="020B0604020202020204"/>
                    </a:rPr>
                    <a:t> AWS Cloud</a:t>
                  </a:r>
                </a:p>
              </p:txBody>
            </p:sp>
            <p:pic>
              <p:nvPicPr>
                <p:cNvPr id="16" name="Graphic 15">
                  <a:extLst>
                    <a:ext uri="{FF2B5EF4-FFF2-40B4-BE49-F238E27FC236}">
                      <a16:creationId xmlns:a16="http://schemas.microsoft.com/office/drawing/2014/main" id="{26231E46-C7DD-6178-BF94-E83DA032DB80}"/>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94416" y="3197242"/>
                  <a:ext cx="457200" cy="457200"/>
                </a:xfrm>
                <a:prstGeom prst="rect">
                  <a:avLst/>
                </a:prstGeom>
              </p:spPr>
            </p:pic>
          </p:grpSp>
        </p:grpSp>
      </p:grpSp>
    </p:spTree>
    <p:extLst>
      <p:ext uri="{BB962C8B-B14F-4D97-AF65-F5344CB8AC3E}">
        <p14:creationId xmlns:p14="http://schemas.microsoft.com/office/powerpoint/2010/main" val="3386966222"/>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A7E8A-E9AD-D0C0-3CBA-82D504E5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D855D-EF67-5D12-BAD9-A284EDC0EFFB}"/>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D7FFA92E-35C3-33F7-996A-E8E38B96E44E}"/>
              </a:ext>
            </a:extLst>
          </p:cNvPr>
          <p:cNvSpPr>
            <a:spLocks noGrp="1"/>
          </p:cNvSpPr>
          <p:nvPr>
            <p:ph type="body" sz="quarter" idx="10"/>
          </p:nvPr>
        </p:nvSpPr>
        <p:spPr/>
        <p:txBody>
          <a:bodyPr>
            <a:normAutofit fontScale="62500" lnSpcReduction="20000"/>
          </a:bodyPr>
          <a:lstStyle/>
          <a:p>
            <a:r>
              <a:rPr lang="en-US" sz="2400" dirty="0"/>
              <a:t>From on-premises databases to Amazon RDS</a:t>
            </a:r>
          </a:p>
        </p:txBody>
      </p:sp>
      <p:sp>
        <p:nvSpPr>
          <p:cNvPr id="4" name="Title 1">
            <a:extLst>
              <a:ext uri="{FF2B5EF4-FFF2-40B4-BE49-F238E27FC236}">
                <a16:creationId xmlns:a16="http://schemas.microsoft.com/office/drawing/2014/main" id="{0F61B59B-9F57-0FFE-D96C-425D0E92448D}"/>
              </a:ext>
            </a:extLst>
          </p:cNvPr>
          <p:cNvSpPr txBox="1">
            <a:spLocks/>
          </p:cNvSpPr>
          <p:nvPr/>
        </p:nvSpPr>
        <p:spPr>
          <a:xfrm>
            <a:off x="4557926" y="445707"/>
            <a:ext cx="6033874"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0" name="TextBox 49">
            <a:extLst>
              <a:ext uri="{FF2B5EF4-FFF2-40B4-BE49-F238E27FC236}">
                <a16:creationId xmlns:a16="http://schemas.microsoft.com/office/drawing/2014/main" id="{09D57DD1-263A-775F-FD13-0441F23C70B9}"/>
              </a:ext>
            </a:extLst>
          </p:cNvPr>
          <p:cNvSpPr txBox="1"/>
          <p:nvPr/>
        </p:nvSpPr>
        <p:spPr>
          <a:xfrm>
            <a:off x="2257584" y="1808051"/>
            <a:ext cx="2034601" cy="307777"/>
          </a:xfrm>
          <a:prstGeom prst="rect">
            <a:avLst/>
          </a:prstGeom>
          <a:noFill/>
        </p:spPr>
        <p:txBody>
          <a:bodyPr wrap="square" rtlCol="0">
            <a:spAutoFit/>
          </a:bodyPr>
          <a:lstStyle/>
          <a:p>
            <a:pPr algn="l" defTabSz="914400" hangingPunct="1"/>
            <a:r>
              <a:rPr lang="en-US" sz="1400" kern="1200" dirty="0">
                <a:solidFill>
                  <a:prstClr val="black"/>
                </a:solidFill>
                <a:latin typeface="Calibri"/>
              </a:rPr>
              <a:t>On-premises database</a:t>
            </a:r>
          </a:p>
        </p:txBody>
      </p:sp>
      <p:sp>
        <p:nvSpPr>
          <p:cNvPr id="51" name="Rectangle: Rounded Corners 50" descr="compares services provided for on-premises databases with running a database on EC2 and Amazon RDS or Amazon Aurora.">
            <a:extLst>
              <a:ext uri="{FF2B5EF4-FFF2-40B4-BE49-F238E27FC236}">
                <a16:creationId xmlns:a16="http://schemas.microsoft.com/office/drawing/2014/main" id="{0BEA4716-842F-43F8-B050-E2A4449FE492}"/>
              </a:ext>
              <a:ext uri="{C183D7F6-B498-43B3-948B-1728B52AA6E4}">
                <adec:decorative xmlns:adec="http://schemas.microsoft.com/office/drawing/2017/decorative" val="1"/>
              </a:ext>
            </a:extLst>
          </p:cNvPr>
          <p:cNvSpPr/>
          <p:nvPr/>
        </p:nvSpPr>
        <p:spPr>
          <a:xfrm>
            <a:off x="2220713" y="2227329"/>
            <a:ext cx="2074021" cy="4157023"/>
          </a:xfrm>
          <a:prstGeom prst="roundRect">
            <a:avLst/>
          </a:prstGeom>
          <a:no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a:ea typeface="+mn-ea"/>
              <a:cs typeface="+mn-cs"/>
            </a:endParaRPr>
          </a:p>
        </p:txBody>
      </p:sp>
      <p:sp>
        <p:nvSpPr>
          <p:cNvPr id="52" name="TextBox 51" descr="compares services provided for on-premises databases with running a database on EC2 and Amazon RDS or Amazon Aurora.">
            <a:extLst>
              <a:ext uri="{FF2B5EF4-FFF2-40B4-BE49-F238E27FC236}">
                <a16:creationId xmlns:a16="http://schemas.microsoft.com/office/drawing/2014/main" id="{14EA26A1-C13E-3441-29FA-05C98B3AB458}"/>
              </a:ext>
            </a:extLst>
          </p:cNvPr>
          <p:cNvSpPr txBox="1"/>
          <p:nvPr/>
        </p:nvSpPr>
        <p:spPr>
          <a:xfrm>
            <a:off x="2355355" y="2547952"/>
            <a:ext cx="1968209" cy="3108543"/>
          </a:xfrm>
          <a:prstGeom prst="rect">
            <a:avLst/>
          </a:prstGeom>
          <a:noFill/>
        </p:spPr>
        <p:txBody>
          <a:bodyPr wrap="square" rtlCol="0">
            <a:spAutoFit/>
          </a:bodyPr>
          <a:lstStyle/>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Application optimization</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Scaling</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High Availability</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Database backups</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Database software patches</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Database software installs</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Operation system patches</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Operating system install</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Server maintenance</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Rack and stack servers</a:t>
            </a:r>
          </a:p>
          <a:p>
            <a:pPr algn="l" defTabSz="914400" hangingPunct="1"/>
            <a:r>
              <a:rPr lang="en-US" sz="1400" kern="1200" dirty="0">
                <a:solidFill>
                  <a:prstClr val="black"/>
                </a:solidFill>
                <a:latin typeface="Amazon Ember Light" panose="020B0403020204020204" pitchFamily="34" charset="0"/>
                <a:ea typeface="Open Sans" panose="020B0606030504020204" pitchFamily="34" charset="0"/>
                <a:cs typeface="Open Sans" panose="020B0606030504020204" pitchFamily="34" charset="0"/>
              </a:rPr>
              <a:t>Power, HVAC, network</a:t>
            </a:r>
          </a:p>
        </p:txBody>
      </p:sp>
      <p:pic>
        <p:nvPicPr>
          <p:cNvPr id="53" name="Picture 52">
            <a:extLst>
              <a:ext uri="{FF2B5EF4-FFF2-40B4-BE49-F238E27FC236}">
                <a16:creationId xmlns:a16="http://schemas.microsoft.com/office/drawing/2014/main" id="{469DB137-F54F-0AD6-CBFD-73647532D2D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072500" y="1828622"/>
            <a:ext cx="861619" cy="305157"/>
          </a:xfrm>
          <a:prstGeom prst="rect">
            <a:avLst/>
          </a:prstGeom>
        </p:spPr>
      </p:pic>
      <p:sp>
        <p:nvSpPr>
          <p:cNvPr id="54" name="TextBox 53">
            <a:extLst>
              <a:ext uri="{FF2B5EF4-FFF2-40B4-BE49-F238E27FC236}">
                <a16:creationId xmlns:a16="http://schemas.microsoft.com/office/drawing/2014/main" id="{5CAA182F-227C-EF52-04C5-A58A6A82E6DD}"/>
              </a:ext>
            </a:extLst>
          </p:cNvPr>
          <p:cNvSpPr txBox="1"/>
          <p:nvPr/>
        </p:nvSpPr>
        <p:spPr>
          <a:xfrm>
            <a:off x="4876800" y="1732118"/>
            <a:ext cx="2586007" cy="523220"/>
          </a:xfrm>
          <a:prstGeom prst="rect">
            <a:avLst/>
          </a:prstGeom>
          <a:noFill/>
        </p:spPr>
        <p:txBody>
          <a:bodyPr wrap="square" rtlCol="0">
            <a:spAutoFit/>
          </a:bodyPr>
          <a:lstStyle/>
          <a:p>
            <a:pPr defTabSz="914400" hangingPunct="1"/>
            <a:r>
              <a:rPr lang="en-US" sz="1400" kern="1200" dirty="0">
                <a:solidFill>
                  <a:prstClr val="black"/>
                </a:solidFill>
                <a:latin typeface="Calibri"/>
              </a:rPr>
              <a:t>Database in Amazon Elastic Compute Cloud (Amazon EC2) </a:t>
            </a:r>
          </a:p>
        </p:txBody>
      </p:sp>
      <p:sp>
        <p:nvSpPr>
          <p:cNvPr id="55" name="Rectangle: Rounded Corners 54" descr="compares services provided for on-premises databases with running a database on EC2 and Amazon RDS or Amazon Aurora.">
            <a:extLst>
              <a:ext uri="{FF2B5EF4-FFF2-40B4-BE49-F238E27FC236}">
                <a16:creationId xmlns:a16="http://schemas.microsoft.com/office/drawing/2014/main" id="{61DE0687-D5D2-7DE0-0B7C-9C6CC70C2A70}"/>
              </a:ext>
              <a:ext uri="{C183D7F6-B498-43B3-948B-1728B52AA6E4}">
                <adec:decorative xmlns:adec="http://schemas.microsoft.com/office/drawing/2017/decorative" val="1"/>
              </a:ext>
            </a:extLst>
          </p:cNvPr>
          <p:cNvSpPr/>
          <p:nvPr/>
        </p:nvSpPr>
        <p:spPr>
          <a:xfrm>
            <a:off x="5155863" y="2227328"/>
            <a:ext cx="2074021" cy="4157023"/>
          </a:xfrm>
          <a:prstGeom prst="roundRect">
            <a:avLst/>
          </a:prstGeom>
          <a:no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a:ea typeface="+mn-ea"/>
              <a:cs typeface="+mn-cs"/>
            </a:endParaRPr>
          </a:p>
        </p:txBody>
      </p:sp>
      <p:sp>
        <p:nvSpPr>
          <p:cNvPr id="56" name="TextBox 55" descr="compares services provided for on-premises databases with running a database on EC2 and Amazon RDS or Amazon Aurora.">
            <a:extLst>
              <a:ext uri="{FF2B5EF4-FFF2-40B4-BE49-F238E27FC236}">
                <a16:creationId xmlns:a16="http://schemas.microsoft.com/office/drawing/2014/main" id="{1ACB18A0-D5EE-EB5E-5F2F-3514029D0767}"/>
              </a:ext>
            </a:extLst>
          </p:cNvPr>
          <p:cNvSpPr txBox="1"/>
          <p:nvPr/>
        </p:nvSpPr>
        <p:spPr>
          <a:xfrm>
            <a:off x="4264331" y="5226147"/>
            <a:ext cx="861619" cy="461665"/>
          </a:xfrm>
          <a:prstGeom prst="rect">
            <a:avLst/>
          </a:prstGeom>
          <a:noFill/>
        </p:spPr>
        <p:txBody>
          <a:bodyPr wrap="square" rtlCol="0">
            <a:spAutoFit/>
          </a:bodyPr>
          <a:lstStyle/>
          <a:p>
            <a:pPr algn="r" defTabSz="914400" hangingPunct="1"/>
            <a:r>
              <a:rPr lang="en-US" sz="12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defTabSz="914400" hangingPunct="1"/>
            <a:r>
              <a:rPr lang="en-US" sz="12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57" name="Rectangle: Rounded Corners 56">
            <a:extLst>
              <a:ext uri="{FF2B5EF4-FFF2-40B4-BE49-F238E27FC236}">
                <a16:creationId xmlns:a16="http://schemas.microsoft.com/office/drawing/2014/main" id="{CC7E228D-BE49-3027-71C0-D53B6B7CD072}"/>
              </a:ext>
              <a:ext uri="{C183D7F6-B498-43B3-948B-1728B52AA6E4}">
                <adec:decorative xmlns:adec="http://schemas.microsoft.com/office/drawing/2017/decorative" val="1"/>
              </a:ext>
            </a:extLst>
          </p:cNvPr>
          <p:cNvSpPr/>
          <p:nvPr/>
        </p:nvSpPr>
        <p:spPr>
          <a:xfrm>
            <a:off x="5266217" y="5254157"/>
            <a:ext cx="1753236" cy="509745"/>
          </a:xfrm>
          <a:prstGeom prst="roundRect">
            <a:avLst/>
          </a:prstGeom>
          <a:gradFill>
            <a:gsLst>
              <a:gs pos="0">
                <a:srgbClr val="4BACC6">
                  <a:alpha val="60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gra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a:ea typeface="+mn-ea"/>
              <a:cs typeface="+mn-cs"/>
            </a:endParaRPr>
          </a:p>
        </p:txBody>
      </p:sp>
      <p:sp>
        <p:nvSpPr>
          <p:cNvPr id="58" name="TextBox 57" descr="compares services provided for on-premises databases with running a database on EC2 and Amazon RDS or Amazon Aurora.">
            <a:extLst>
              <a:ext uri="{FF2B5EF4-FFF2-40B4-BE49-F238E27FC236}">
                <a16:creationId xmlns:a16="http://schemas.microsoft.com/office/drawing/2014/main" id="{3C286AB6-C362-8BAE-EB9E-CD6DE59067DD}"/>
              </a:ext>
            </a:extLst>
          </p:cNvPr>
          <p:cNvSpPr txBox="1"/>
          <p:nvPr/>
        </p:nvSpPr>
        <p:spPr>
          <a:xfrm>
            <a:off x="5244471" y="2655360"/>
            <a:ext cx="1968209" cy="3108543"/>
          </a:xfrm>
          <a:prstGeom prst="rect">
            <a:avLst/>
          </a:prstGeom>
          <a:noFill/>
        </p:spPr>
        <p:txBody>
          <a:bodyPr wrap="square" rtlCol="0">
            <a:spAutoFit/>
          </a:bodyPr>
          <a:lstStyle/>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Scaling</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59" name="Picture 58">
            <a:extLst>
              <a:ext uri="{FF2B5EF4-FFF2-40B4-BE49-F238E27FC236}">
                <a16:creationId xmlns:a16="http://schemas.microsoft.com/office/drawing/2014/main" id="{210086AA-B7B6-691B-4BCD-AD89DAC1DFC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338544" y="1873981"/>
            <a:ext cx="861619" cy="305157"/>
          </a:xfrm>
          <a:prstGeom prst="rect">
            <a:avLst/>
          </a:prstGeom>
        </p:spPr>
      </p:pic>
      <p:sp>
        <p:nvSpPr>
          <p:cNvPr id="60" name="TextBox 59">
            <a:extLst>
              <a:ext uri="{FF2B5EF4-FFF2-40B4-BE49-F238E27FC236}">
                <a16:creationId xmlns:a16="http://schemas.microsoft.com/office/drawing/2014/main" id="{EB7435F2-7F27-74B4-0189-1CF598EC37D2}"/>
              </a:ext>
            </a:extLst>
          </p:cNvPr>
          <p:cNvSpPr txBox="1"/>
          <p:nvPr/>
        </p:nvSpPr>
        <p:spPr>
          <a:xfrm>
            <a:off x="7858384" y="1672693"/>
            <a:ext cx="2243997" cy="523220"/>
          </a:xfrm>
          <a:prstGeom prst="rect">
            <a:avLst/>
          </a:prstGeom>
          <a:noFill/>
        </p:spPr>
        <p:txBody>
          <a:bodyPr wrap="square" rtlCol="0">
            <a:spAutoFit/>
          </a:bodyPr>
          <a:lstStyle/>
          <a:p>
            <a:pPr defTabSz="914400" hangingPunct="1"/>
            <a:r>
              <a:rPr lang="en-US" sz="1400" kern="1200" dirty="0">
                <a:solidFill>
                  <a:prstClr val="black"/>
                </a:solidFill>
                <a:latin typeface="Calibri"/>
              </a:rPr>
              <a:t>Database in Amazon RDS or Amazon Aurora</a:t>
            </a:r>
          </a:p>
        </p:txBody>
      </p:sp>
      <p:sp>
        <p:nvSpPr>
          <p:cNvPr id="61" name="TextBox 60" descr="compares services provided for on-premises databases with running a database on EC2 and Amazon RDS or Amazon Aurora.">
            <a:extLst>
              <a:ext uri="{FF2B5EF4-FFF2-40B4-BE49-F238E27FC236}">
                <a16:creationId xmlns:a16="http://schemas.microsoft.com/office/drawing/2014/main" id="{00FDC68A-589E-F6F4-FC51-0DC45E54A5DF}"/>
              </a:ext>
            </a:extLst>
          </p:cNvPr>
          <p:cNvSpPr txBox="1"/>
          <p:nvPr/>
        </p:nvSpPr>
        <p:spPr>
          <a:xfrm>
            <a:off x="7187288" y="4042441"/>
            <a:ext cx="861619" cy="461665"/>
          </a:xfrm>
          <a:prstGeom prst="rect">
            <a:avLst/>
          </a:prstGeom>
          <a:noFill/>
        </p:spPr>
        <p:txBody>
          <a:bodyPr wrap="square" rtlCol="0">
            <a:spAutoFit/>
          </a:bodyPr>
          <a:lstStyle/>
          <a:p>
            <a:pPr algn="r" defTabSz="914400" hangingPunct="1"/>
            <a:r>
              <a:rPr lang="en-US" sz="12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defTabSz="914400" hangingPunct="1"/>
            <a:r>
              <a:rPr lang="en-US" sz="12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62" name="Rectangle: Rounded Corners 61" descr="compares services provided for on-premises databases with running a database on EC2 and Amazon RDS or Amazon Aurora.">
            <a:extLst>
              <a:ext uri="{FF2B5EF4-FFF2-40B4-BE49-F238E27FC236}">
                <a16:creationId xmlns:a16="http://schemas.microsoft.com/office/drawing/2014/main" id="{1484EE77-0786-765E-1056-363997507864}"/>
              </a:ext>
              <a:ext uri="{C183D7F6-B498-43B3-948B-1728B52AA6E4}">
                <adec:decorative xmlns:adec="http://schemas.microsoft.com/office/drawing/2017/decorative" val="1"/>
              </a:ext>
            </a:extLst>
          </p:cNvPr>
          <p:cNvSpPr/>
          <p:nvPr/>
        </p:nvSpPr>
        <p:spPr>
          <a:xfrm>
            <a:off x="8065231" y="2194764"/>
            <a:ext cx="2074021" cy="4157023"/>
          </a:xfrm>
          <a:prstGeom prst="roundRect">
            <a:avLst/>
          </a:prstGeom>
          <a:no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a:ea typeface="+mn-ea"/>
              <a:cs typeface="+mn-cs"/>
            </a:endParaRPr>
          </a:p>
        </p:txBody>
      </p:sp>
      <p:sp>
        <p:nvSpPr>
          <p:cNvPr id="63" name="Rectangle: Rounded Corners 62">
            <a:extLst>
              <a:ext uri="{FF2B5EF4-FFF2-40B4-BE49-F238E27FC236}">
                <a16:creationId xmlns:a16="http://schemas.microsoft.com/office/drawing/2014/main" id="{99A66999-D9A6-44C2-7A16-EC5557057B18}"/>
              </a:ext>
              <a:ext uri="{C183D7F6-B498-43B3-948B-1728B52AA6E4}">
                <adec:decorative xmlns:adec="http://schemas.microsoft.com/office/drawing/2017/decorative" val="1"/>
              </a:ext>
            </a:extLst>
          </p:cNvPr>
          <p:cNvSpPr/>
          <p:nvPr/>
        </p:nvSpPr>
        <p:spPr>
          <a:xfrm>
            <a:off x="8146816" y="2994966"/>
            <a:ext cx="1910849" cy="2868731"/>
          </a:xfrm>
          <a:prstGeom prst="roundRect">
            <a:avLst/>
          </a:prstGeom>
          <a:gradFill>
            <a:gsLst>
              <a:gs pos="0">
                <a:srgbClr val="4BACC6">
                  <a:alpha val="60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gra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a:ea typeface="+mn-ea"/>
              <a:cs typeface="+mn-cs"/>
            </a:endParaRPr>
          </a:p>
        </p:txBody>
      </p:sp>
      <p:sp>
        <p:nvSpPr>
          <p:cNvPr id="64" name="TextBox 63" descr="compares services provided for on-premises databases with running a database on EC2 and Amazon RDS or Amazon Aurora.">
            <a:extLst>
              <a:ext uri="{FF2B5EF4-FFF2-40B4-BE49-F238E27FC236}">
                <a16:creationId xmlns:a16="http://schemas.microsoft.com/office/drawing/2014/main" id="{2EB7825F-82E0-E4FC-7283-FAFA9B39B45F}"/>
              </a:ext>
            </a:extLst>
          </p:cNvPr>
          <p:cNvSpPr txBox="1"/>
          <p:nvPr/>
        </p:nvSpPr>
        <p:spPr>
          <a:xfrm>
            <a:off x="8261048" y="2719003"/>
            <a:ext cx="1959789" cy="3108543"/>
          </a:xfrm>
          <a:prstGeom prst="rect">
            <a:avLst/>
          </a:prstGeom>
          <a:noFill/>
        </p:spPr>
        <p:txBody>
          <a:bodyPr wrap="square" rtlCol="0">
            <a:spAutoFit/>
          </a:bodyPr>
          <a:lstStyle/>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Scaling</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pPr algn="l" defTabSz="914400" hangingPunct="1"/>
            <a:r>
              <a:rPr lang="en-US" sz="1400" kern="1200" dirty="0">
                <a:solidFill>
                  <a:prstClr val="black"/>
                </a:solidFill>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spTree>
    <p:extLst>
      <p:ext uri="{BB962C8B-B14F-4D97-AF65-F5344CB8AC3E}">
        <p14:creationId xmlns:p14="http://schemas.microsoft.com/office/powerpoint/2010/main" val="39291115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F860-DA23-20E4-7A45-EFD53684B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B8DFF-F550-4CCE-35D5-FE623F00893D}"/>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4BDC71CF-DB97-6866-6373-2DB3AD3CFC80}"/>
              </a:ext>
            </a:extLst>
          </p:cNvPr>
          <p:cNvSpPr>
            <a:spLocks noGrp="1"/>
          </p:cNvSpPr>
          <p:nvPr>
            <p:ph type="body" sz="quarter" idx="10"/>
          </p:nvPr>
        </p:nvSpPr>
        <p:spPr/>
        <p:txBody>
          <a:bodyPr>
            <a:normAutofit fontScale="77500" lnSpcReduction="20000"/>
          </a:bodyPr>
          <a:lstStyle/>
          <a:p>
            <a:r>
              <a:rPr lang="en-US" sz="2400" dirty="0"/>
              <a:t>Managed services responsibilities</a:t>
            </a:r>
          </a:p>
        </p:txBody>
      </p:sp>
      <p:sp>
        <p:nvSpPr>
          <p:cNvPr id="4" name="Title 1">
            <a:extLst>
              <a:ext uri="{FF2B5EF4-FFF2-40B4-BE49-F238E27FC236}">
                <a16:creationId xmlns:a16="http://schemas.microsoft.com/office/drawing/2014/main" id="{3F29A848-C9B4-6526-2A7F-FA683E7F463E}"/>
              </a:ext>
            </a:extLst>
          </p:cNvPr>
          <p:cNvSpPr txBox="1">
            <a:spLocks/>
          </p:cNvSpPr>
          <p:nvPr/>
        </p:nvSpPr>
        <p:spPr>
          <a:xfrm>
            <a:off x="4419600" y="382592"/>
            <a:ext cx="63813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545296D9-D089-4971-D104-32ADDA7DB369}"/>
              </a:ext>
              <a:ext uri="{C183D7F6-B498-43B3-948B-1728B52AA6E4}">
                <adec:decorative xmlns:adec="http://schemas.microsoft.com/office/drawing/2017/decorative" val="1"/>
              </a:ext>
            </a:extLst>
          </p:cNvPr>
          <p:cNvSpPr txBox="1">
            <a:spLocks/>
          </p:cNvSpPr>
          <p:nvPr/>
        </p:nvSpPr>
        <p:spPr>
          <a:xfrm>
            <a:off x="2667000" y="1676400"/>
            <a:ext cx="7848600" cy="49530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600"/>
              </a:spcBef>
              <a:spcAft>
                <a:spcPts val="800"/>
              </a:spcAft>
              <a:buNone/>
            </a:pPr>
            <a:r>
              <a:rPr lang="en-US" b="1" dirty="0"/>
              <a:t>You manage: </a:t>
            </a:r>
          </a:p>
          <a:p>
            <a:pPr marL="457200" indent="-457200" algn="just">
              <a:spcBef>
                <a:spcPts val="600"/>
              </a:spcBef>
              <a:spcAft>
                <a:spcPts val="800"/>
              </a:spcAft>
            </a:pPr>
            <a:r>
              <a:rPr lang="en-US" dirty="0"/>
              <a:t>Application optimization</a:t>
            </a:r>
          </a:p>
          <a:p>
            <a:pPr marL="0" indent="0" algn="just">
              <a:spcBef>
                <a:spcPts val="600"/>
              </a:spcBef>
              <a:spcAft>
                <a:spcPts val="800"/>
              </a:spcAft>
              <a:buNone/>
            </a:pPr>
            <a:r>
              <a:rPr lang="en-US" b="1" dirty="0"/>
              <a:t>AWS manages:</a:t>
            </a:r>
          </a:p>
          <a:p>
            <a:pPr marL="457200" indent="-457200" algn="just">
              <a:spcBef>
                <a:spcPts val="600"/>
              </a:spcBef>
              <a:spcAft>
                <a:spcPts val="800"/>
              </a:spcAft>
            </a:pPr>
            <a:r>
              <a:rPr lang="en-US" dirty="0"/>
              <a:t>OS installation and patches</a:t>
            </a:r>
          </a:p>
          <a:p>
            <a:pPr marL="457200" indent="-457200" algn="just">
              <a:spcBef>
                <a:spcPts val="600"/>
              </a:spcBef>
              <a:spcAft>
                <a:spcPts val="800"/>
              </a:spcAft>
            </a:pPr>
            <a:r>
              <a:rPr lang="en-US" dirty="0"/>
              <a:t>Database software installation and patches</a:t>
            </a:r>
          </a:p>
          <a:p>
            <a:pPr marL="457200" indent="-457200" algn="just">
              <a:spcBef>
                <a:spcPts val="600"/>
              </a:spcBef>
              <a:spcAft>
                <a:spcPts val="800"/>
              </a:spcAft>
            </a:pPr>
            <a:r>
              <a:rPr lang="en-US" dirty="0"/>
              <a:t>Database backups</a:t>
            </a:r>
          </a:p>
          <a:p>
            <a:pPr marL="457200" indent="-457200" algn="just">
              <a:spcBef>
                <a:spcPts val="600"/>
              </a:spcBef>
              <a:spcAft>
                <a:spcPts val="800"/>
              </a:spcAft>
            </a:pPr>
            <a:r>
              <a:rPr lang="en-US" dirty="0"/>
              <a:t>High availability</a:t>
            </a:r>
          </a:p>
          <a:p>
            <a:pPr marL="457200" indent="-457200" algn="just">
              <a:spcBef>
                <a:spcPts val="600"/>
              </a:spcBef>
              <a:spcAft>
                <a:spcPts val="800"/>
              </a:spcAft>
            </a:pPr>
            <a:r>
              <a:rPr lang="en-US" dirty="0"/>
              <a:t>Scaling</a:t>
            </a:r>
          </a:p>
          <a:p>
            <a:pPr marL="457200" indent="-457200" algn="just">
              <a:spcBef>
                <a:spcPts val="600"/>
              </a:spcBef>
              <a:spcAft>
                <a:spcPts val="800"/>
              </a:spcAft>
            </a:pPr>
            <a:r>
              <a:rPr lang="en-US" dirty="0"/>
              <a:t>Power and racking and stacking servers</a:t>
            </a:r>
          </a:p>
          <a:p>
            <a:pPr marL="457200" indent="-457200" algn="just">
              <a:spcBef>
                <a:spcPts val="600"/>
              </a:spcBef>
              <a:spcAft>
                <a:spcPts val="800"/>
              </a:spcAft>
            </a:pPr>
            <a:r>
              <a:rPr lang="en-US" dirty="0"/>
              <a:t>Server maintenance</a:t>
            </a:r>
          </a:p>
        </p:txBody>
      </p:sp>
    </p:spTree>
    <p:extLst>
      <p:ext uri="{BB962C8B-B14F-4D97-AF65-F5344CB8AC3E}">
        <p14:creationId xmlns:p14="http://schemas.microsoft.com/office/powerpoint/2010/main" val="224189598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E487-C73A-3085-71F9-4096408E8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EEE1C-5BF0-2333-C3F5-1213485E962B}"/>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21B6DE4D-F9AC-D525-DDCE-0F8E9F119958}"/>
              </a:ext>
            </a:extLst>
          </p:cNvPr>
          <p:cNvSpPr>
            <a:spLocks noGrp="1"/>
          </p:cNvSpPr>
          <p:nvPr>
            <p:ph type="body" sz="quarter" idx="10"/>
          </p:nvPr>
        </p:nvSpPr>
        <p:spPr/>
        <p:txBody>
          <a:bodyPr>
            <a:normAutofit lnSpcReduction="10000"/>
          </a:bodyPr>
          <a:lstStyle/>
          <a:p>
            <a:r>
              <a:rPr lang="en-US" sz="2400" dirty="0"/>
              <a:t>Amazon RDS DB instances</a:t>
            </a:r>
          </a:p>
        </p:txBody>
      </p:sp>
      <p:sp>
        <p:nvSpPr>
          <p:cNvPr id="4" name="Title 1">
            <a:extLst>
              <a:ext uri="{FF2B5EF4-FFF2-40B4-BE49-F238E27FC236}">
                <a16:creationId xmlns:a16="http://schemas.microsoft.com/office/drawing/2014/main" id="{58A3E11F-7AF9-03B1-D48A-4055F10BC184}"/>
              </a:ext>
            </a:extLst>
          </p:cNvPr>
          <p:cNvSpPr txBox="1">
            <a:spLocks/>
          </p:cNvSpPr>
          <p:nvPr/>
        </p:nvSpPr>
        <p:spPr>
          <a:xfrm>
            <a:off x="4691804" y="345913"/>
            <a:ext cx="3733475"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Graphic 4">
            <a:extLst>
              <a:ext uri="{FF2B5EF4-FFF2-40B4-BE49-F238E27FC236}">
                <a16:creationId xmlns:a16="http://schemas.microsoft.com/office/drawing/2014/main" id="{159D748F-C017-5094-FDCC-509823EED2B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1012" y="1652872"/>
            <a:ext cx="711200" cy="711200"/>
          </a:xfrm>
          <a:prstGeom prst="rect">
            <a:avLst/>
          </a:prstGeom>
        </p:spPr>
      </p:pic>
      <p:sp>
        <p:nvSpPr>
          <p:cNvPr id="6" name="TextBox 5">
            <a:extLst>
              <a:ext uri="{FF2B5EF4-FFF2-40B4-BE49-F238E27FC236}">
                <a16:creationId xmlns:a16="http://schemas.microsoft.com/office/drawing/2014/main" id="{A44B354E-7F75-5366-B9A0-6020F43657ED}"/>
              </a:ext>
              <a:ext uri="{C183D7F6-B498-43B3-948B-1728B52AA6E4}">
                <adec:decorative xmlns:adec="http://schemas.microsoft.com/office/drawing/2017/decorative" val="1"/>
              </a:ext>
            </a:extLst>
          </p:cNvPr>
          <p:cNvSpPr txBox="1"/>
          <p:nvPr/>
        </p:nvSpPr>
        <p:spPr>
          <a:xfrm>
            <a:off x="3295828" y="3861672"/>
            <a:ext cx="650180" cy="523220"/>
          </a:xfrm>
          <a:prstGeom prst="rect">
            <a:avLst/>
          </a:prstGeom>
          <a:solidFill>
            <a:srgbClr val="3475B3"/>
          </a:solidFill>
        </p:spPr>
        <p:txBody>
          <a:bodyPr wrap="none" lIns="0" tIns="0" rIns="0" bIns="0" rtlCol="0" anchor="t" anchorCtr="1">
            <a:noAutofit/>
          </a:bodyPr>
          <a:lstStyle/>
          <a:p>
            <a:r>
              <a:rPr lang="en-US" sz="2800" b="1" dirty="0">
                <a:solidFill>
                  <a:schemeClr val="bg1"/>
                </a:solidFill>
                <a:ea typeface="Amazon Ember" panose="02000000000000000000" pitchFamily="2" charset="0"/>
              </a:rPr>
              <a:t>M</a:t>
            </a:r>
          </a:p>
        </p:txBody>
      </p:sp>
      <p:sp>
        <p:nvSpPr>
          <p:cNvPr id="7" name="TextBox 6">
            <a:extLst>
              <a:ext uri="{FF2B5EF4-FFF2-40B4-BE49-F238E27FC236}">
                <a16:creationId xmlns:a16="http://schemas.microsoft.com/office/drawing/2014/main" id="{16CF7F9F-689A-50A5-4940-89EC7452CDFD}"/>
              </a:ext>
            </a:extLst>
          </p:cNvPr>
          <p:cNvSpPr txBox="1"/>
          <p:nvPr/>
        </p:nvSpPr>
        <p:spPr>
          <a:xfrm>
            <a:off x="2589942" y="4384892"/>
            <a:ext cx="1966518" cy="523220"/>
          </a:xfrm>
          <a:prstGeom prst="rect">
            <a:avLst/>
          </a:prstGeom>
          <a:noFill/>
        </p:spPr>
        <p:txBody>
          <a:bodyPr wrap="square" rtlCol="0">
            <a:spAutoFit/>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Amazon RDS DB main instance</a:t>
            </a:r>
          </a:p>
        </p:txBody>
      </p:sp>
      <p:sp>
        <p:nvSpPr>
          <p:cNvPr id="8" name="TextBox 7">
            <a:extLst>
              <a:ext uri="{FF2B5EF4-FFF2-40B4-BE49-F238E27FC236}">
                <a16:creationId xmlns:a16="http://schemas.microsoft.com/office/drawing/2014/main" id="{A8474BF3-C010-B1E8-756A-9D54BC0A1520}"/>
              </a:ext>
            </a:extLst>
          </p:cNvPr>
          <p:cNvSpPr txBox="1"/>
          <p:nvPr/>
        </p:nvSpPr>
        <p:spPr>
          <a:xfrm>
            <a:off x="4641270" y="3000990"/>
            <a:ext cx="3359730" cy="2308324"/>
          </a:xfrm>
          <a:prstGeom prst="rect">
            <a:avLst/>
          </a:prstGeom>
          <a:noFill/>
        </p:spPr>
        <p:txBody>
          <a:bodyPr wrap="square" rtlCol="0">
            <a:spAutoFit/>
          </a:bodyPr>
          <a:lstStyle/>
          <a:p>
            <a:pPr algn="l"/>
            <a:r>
              <a:rPr 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DB Instance Class</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CPU</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Memory</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Network performance</a:t>
            </a:r>
          </a:p>
          <a:p>
            <a:pPr algn="l"/>
            <a:r>
              <a:rPr 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DB Instance Storage</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Magnetic</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General Purpose (solid state drive, or SSD)</a:t>
            </a:r>
          </a:p>
          <a:p>
            <a:pPr marL="285750" indent="-285750" algn="l">
              <a:buClr>
                <a:srgbClr val="3475B3"/>
              </a:buClr>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Provisioned IOPS</a:t>
            </a:r>
          </a:p>
        </p:txBody>
      </p:sp>
      <p:sp>
        <p:nvSpPr>
          <p:cNvPr id="9" name="Rounded Rectangle 4" descr="the major components of an RDS installation are the DB Instance Class that specifies the type of CPU, amount of memory and network performance. You can select the type of storage the DB instance will use.">
            <a:extLst>
              <a:ext uri="{FF2B5EF4-FFF2-40B4-BE49-F238E27FC236}">
                <a16:creationId xmlns:a16="http://schemas.microsoft.com/office/drawing/2014/main" id="{79EF39FE-6841-C6E2-FEE6-5FAC07F024CA}"/>
              </a:ext>
            </a:extLst>
          </p:cNvPr>
          <p:cNvSpPr/>
          <p:nvPr/>
        </p:nvSpPr>
        <p:spPr>
          <a:xfrm>
            <a:off x="2667000" y="2887293"/>
            <a:ext cx="5291188" cy="2559529"/>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10" name="Group 9" descr="Amazon RDS supported database engines.">
            <a:extLst>
              <a:ext uri="{FF2B5EF4-FFF2-40B4-BE49-F238E27FC236}">
                <a16:creationId xmlns:a16="http://schemas.microsoft.com/office/drawing/2014/main" id="{A9958213-C4F3-DC8E-587A-886837C1F117}"/>
              </a:ext>
            </a:extLst>
          </p:cNvPr>
          <p:cNvGrpSpPr/>
          <p:nvPr/>
        </p:nvGrpSpPr>
        <p:grpSpPr>
          <a:xfrm>
            <a:off x="8035247" y="2107926"/>
            <a:ext cx="2476175" cy="4521474"/>
            <a:chOff x="8844533" y="1638299"/>
            <a:chExt cx="2820465" cy="4447732"/>
          </a:xfrm>
        </p:grpSpPr>
        <p:sp>
          <p:nvSpPr>
            <p:cNvPr id="11" name="Rectangle 10">
              <a:extLst>
                <a:ext uri="{FF2B5EF4-FFF2-40B4-BE49-F238E27FC236}">
                  <a16:creationId xmlns:a16="http://schemas.microsoft.com/office/drawing/2014/main" id="{232ED87A-5F58-C29A-B598-189A14E3A80D}"/>
                </a:ext>
              </a:extLst>
            </p:cNvPr>
            <p:cNvSpPr/>
            <p:nvPr/>
          </p:nvSpPr>
          <p:spPr>
            <a:xfrm>
              <a:off x="8844533" y="1638299"/>
              <a:ext cx="2820465" cy="404470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descr="DB Engines">
              <a:extLst>
                <a:ext uri="{FF2B5EF4-FFF2-40B4-BE49-F238E27FC236}">
                  <a16:creationId xmlns:a16="http://schemas.microsoft.com/office/drawing/2014/main" id="{34A81D32-C4BC-1ADB-616A-84E0CE73CA5F}"/>
                </a:ext>
              </a:extLst>
            </p:cNvPr>
            <p:cNvSpPr txBox="1"/>
            <p:nvPr/>
          </p:nvSpPr>
          <p:spPr>
            <a:xfrm>
              <a:off x="9534271" y="5752999"/>
              <a:ext cx="1440991" cy="333032"/>
            </a:xfrm>
            <a:prstGeom prst="rect">
              <a:avLst/>
            </a:prstGeom>
            <a:noFill/>
          </p:spPr>
          <p:txBody>
            <a:bodyPr wrap="none" rtlCol="0">
              <a:spAutoFit/>
            </a:bodyPr>
            <a:lstStyle/>
            <a:p>
              <a:pPr algn="ctr"/>
              <a:r>
                <a:rPr lang="en-US" sz="1600" dirty="0">
                  <a:latin typeface="Open Sans" panose="020B0606030504020204" pitchFamily="34" charset="0"/>
                  <a:ea typeface="Open Sans" panose="020B0606030504020204" pitchFamily="34" charset="0"/>
                  <a:cs typeface="Open Sans" panose="020B0606030504020204" pitchFamily="34" charset="0"/>
                </a:rPr>
                <a:t>DB engines</a:t>
              </a:r>
            </a:p>
          </p:txBody>
        </p:sp>
        <p:sp>
          <p:nvSpPr>
            <p:cNvPr id="13" name="TextBox 12">
              <a:extLst>
                <a:ext uri="{FF2B5EF4-FFF2-40B4-BE49-F238E27FC236}">
                  <a16:creationId xmlns:a16="http://schemas.microsoft.com/office/drawing/2014/main" id="{0971D516-8586-7E62-307E-A8BE0D99396C}"/>
                </a:ext>
              </a:extLst>
            </p:cNvPr>
            <p:cNvSpPr txBox="1"/>
            <p:nvPr/>
          </p:nvSpPr>
          <p:spPr>
            <a:xfrm>
              <a:off x="9797749" y="1832603"/>
              <a:ext cx="971738"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MySQL</a:t>
              </a:r>
            </a:p>
          </p:txBody>
        </p:sp>
        <p:sp>
          <p:nvSpPr>
            <p:cNvPr id="14" name="TextBox 13">
              <a:extLst>
                <a:ext uri="{FF2B5EF4-FFF2-40B4-BE49-F238E27FC236}">
                  <a16:creationId xmlns:a16="http://schemas.microsoft.com/office/drawing/2014/main" id="{1946CC6F-B2D2-2E7F-A1EC-F5392E0ADE5F}"/>
                </a:ext>
              </a:extLst>
            </p:cNvPr>
            <p:cNvSpPr txBox="1"/>
            <p:nvPr/>
          </p:nvSpPr>
          <p:spPr>
            <a:xfrm>
              <a:off x="9288795" y="2445611"/>
              <a:ext cx="1902719"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Amazon Aurora</a:t>
              </a:r>
            </a:p>
          </p:txBody>
        </p:sp>
        <p:sp>
          <p:nvSpPr>
            <p:cNvPr id="15" name="TextBox 14">
              <a:extLst>
                <a:ext uri="{FF2B5EF4-FFF2-40B4-BE49-F238E27FC236}">
                  <a16:creationId xmlns:a16="http://schemas.microsoft.com/office/drawing/2014/main" id="{02377B17-855B-F395-003A-2D4E94985FDF}"/>
                </a:ext>
              </a:extLst>
            </p:cNvPr>
            <p:cNvSpPr txBox="1"/>
            <p:nvPr/>
          </p:nvSpPr>
          <p:spPr>
            <a:xfrm>
              <a:off x="8978614" y="3101707"/>
              <a:ext cx="2484374"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Microsoft SQL Server</a:t>
              </a:r>
            </a:p>
          </p:txBody>
        </p:sp>
        <p:sp>
          <p:nvSpPr>
            <p:cNvPr id="16" name="TextBox 15">
              <a:extLst>
                <a:ext uri="{FF2B5EF4-FFF2-40B4-BE49-F238E27FC236}">
                  <a16:creationId xmlns:a16="http://schemas.microsoft.com/office/drawing/2014/main" id="{EC48F1AF-CF43-8538-1FA3-33C3E93D851C}"/>
                </a:ext>
              </a:extLst>
            </p:cNvPr>
            <p:cNvSpPr txBox="1"/>
            <p:nvPr/>
          </p:nvSpPr>
          <p:spPr>
            <a:xfrm>
              <a:off x="9495583" y="3757803"/>
              <a:ext cx="1465529"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PostgreSQL</a:t>
              </a:r>
            </a:p>
          </p:txBody>
        </p:sp>
        <p:sp>
          <p:nvSpPr>
            <p:cNvPr id="17" name="TextBox 16">
              <a:extLst>
                <a:ext uri="{FF2B5EF4-FFF2-40B4-BE49-F238E27FC236}">
                  <a16:creationId xmlns:a16="http://schemas.microsoft.com/office/drawing/2014/main" id="{66B5D223-83E2-35E0-9D5A-BFF627D3D44A}"/>
                </a:ext>
              </a:extLst>
            </p:cNvPr>
            <p:cNvSpPr txBox="1"/>
            <p:nvPr/>
          </p:nvSpPr>
          <p:spPr>
            <a:xfrm>
              <a:off x="9692752" y="4413899"/>
              <a:ext cx="1156151"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MariaDB</a:t>
              </a:r>
            </a:p>
          </p:txBody>
        </p:sp>
        <p:sp>
          <p:nvSpPr>
            <p:cNvPr id="18" name="TextBox 17">
              <a:extLst>
                <a:ext uri="{FF2B5EF4-FFF2-40B4-BE49-F238E27FC236}">
                  <a16:creationId xmlns:a16="http://schemas.microsoft.com/office/drawing/2014/main" id="{AFAA0F0F-2736-3C64-6141-C7B59CD04937}"/>
                </a:ext>
              </a:extLst>
            </p:cNvPr>
            <p:cNvSpPr txBox="1"/>
            <p:nvPr/>
          </p:nvSpPr>
          <p:spPr>
            <a:xfrm>
              <a:off x="9797749" y="5069994"/>
              <a:ext cx="914111" cy="333032"/>
            </a:xfrm>
            <a:prstGeom prst="rect">
              <a:avLst/>
            </a:prstGeom>
            <a:noFill/>
          </p:spPr>
          <p:txBody>
            <a:bodyPr wrap="none" rtlCol="0">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Oracle</a:t>
              </a:r>
            </a:p>
          </p:txBody>
        </p:sp>
      </p:grpSp>
      <p:sp>
        <p:nvSpPr>
          <p:cNvPr id="19" name="TextBox 18">
            <a:extLst>
              <a:ext uri="{FF2B5EF4-FFF2-40B4-BE49-F238E27FC236}">
                <a16:creationId xmlns:a16="http://schemas.microsoft.com/office/drawing/2014/main" id="{8DF7DA5E-1D14-96AA-B378-3F1E1F4B8C36}"/>
              </a:ext>
            </a:extLst>
          </p:cNvPr>
          <p:cNvSpPr txBox="1"/>
          <p:nvPr/>
        </p:nvSpPr>
        <p:spPr>
          <a:xfrm>
            <a:off x="2364926" y="2410695"/>
            <a:ext cx="1638300" cy="338554"/>
          </a:xfrm>
          <a:prstGeom prst="rect">
            <a:avLst/>
          </a:prstGeom>
          <a:noFill/>
        </p:spPr>
        <p:txBody>
          <a:bodyPr wrap="square" rtlCol="0">
            <a:spAutoFit/>
          </a:bodyPr>
          <a:lstStyle/>
          <a:p>
            <a:pPr algn="ctr"/>
            <a:r>
              <a:rPr lang="en-US" sz="1600" dirty="0">
                <a:ea typeface="Amazon Ember" panose="02000000000000000000" pitchFamily="2" charset="0"/>
              </a:rPr>
              <a:t>Amazon RDS</a:t>
            </a:r>
          </a:p>
        </p:txBody>
      </p:sp>
    </p:spTree>
    <p:extLst>
      <p:ext uri="{BB962C8B-B14F-4D97-AF65-F5344CB8AC3E}">
        <p14:creationId xmlns:p14="http://schemas.microsoft.com/office/powerpoint/2010/main" val="22290579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AA305-BA28-C724-E7BA-F3163A062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72515-068A-332B-D318-AB0EB181812C}"/>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FBDDD2BC-C047-30CC-B7FF-A496BA3ACDDA}"/>
              </a:ext>
            </a:extLst>
          </p:cNvPr>
          <p:cNvSpPr>
            <a:spLocks noGrp="1"/>
          </p:cNvSpPr>
          <p:nvPr>
            <p:ph type="body" sz="quarter" idx="10"/>
          </p:nvPr>
        </p:nvSpPr>
        <p:spPr/>
        <p:txBody>
          <a:bodyPr>
            <a:normAutofit fontScale="55000" lnSpcReduction="20000"/>
          </a:bodyPr>
          <a:lstStyle/>
          <a:p>
            <a:r>
              <a:rPr lang="en-US" sz="2400" dirty="0"/>
              <a:t>Amazon RDS in a virtual private cloud (VPC)</a:t>
            </a:r>
          </a:p>
        </p:txBody>
      </p:sp>
      <p:sp>
        <p:nvSpPr>
          <p:cNvPr id="4" name="Title 2">
            <a:extLst>
              <a:ext uri="{FF2B5EF4-FFF2-40B4-BE49-F238E27FC236}">
                <a16:creationId xmlns:a16="http://schemas.microsoft.com/office/drawing/2014/main" id="{EE604DF9-9D79-D87D-191D-86B9A54E3232}"/>
              </a:ext>
            </a:extLst>
          </p:cNvPr>
          <p:cNvSpPr txBox="1">
            <a:spLocks/>
          </p:cNvSpPr>
          <p:nvPr/>
        </p:nvSpPr>
        <p:spPr>
          <a:xfrm>
            <a:off x="5029200" y="457200"/>
            <a:ext cx="516255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users connecting to ec2 instance in a vpc public subnet through an internet gateway. amazon rds in a vpc private subnet.">
            <a:extLst>
              <a:ext uri="{FF2B5EF4-FFF2-40B4-BE49-F238E27FC236}">
                <a16:creationId xmlns:a16="http://schemas.microsoft.com/office/drawing/2014/main" id="{FBC44A1A-1F48-A03C-462C-88E8134D2BBA}"/>
              </a:ext>
            </a:extLst>
          </p:cNvPr>
          <p:cNvGrpSpPr/>
          <p:nvPr/>
        </p:nvGrpSpPr>
        <p:grpSpPr>
          <a:xfrm>
            <a:off x="2438400" y="1647996"/>
            <a:ext cx="8144364" cy="4768044"/>
            <a:chOff x="1049683" y="1263105"/>
            <a:chExt cx="8606898" cy="4768044"/>
          </a:xfrm>
        </p:grpSpPr>
        <p:sp>
          <p:nvSpPr>
            <p:cNvPr id="6" name="Rectangle 5">
              <a:extLst>
                <a:ext uri="{FF2B5EF4-FFF2-40B4-BE49-F238E27FC236}">
                  <a16:creationId xmlns:a16="http://schemas.microsoft.com/office/drawing/2014/main" id="{607354A8-D54B-BE26-69AF-2A5D2FD51AEC}"/>
                </a:ext>
                <a:ext uri="{C183D7F6-B498-43B3-948B-1728B52AA6E4}">
                  <adec:decorative xmlns:adec="http://schemas.microsoft.com/office/drawing/2017/decorative" val="1"/>
                </a:ext>
              </a:extLst>
            </p:cNvPr>
            <p:cNvSpPr/>
            <p:nvPr/>
          </p:nvSpPr>
          <p:spPr>
            <a:xfrm>
              <a:off x="5756337" y="2329492"/>
              <a:ext cx="2987004"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1D8900"/>
                  </a:solidFill>
                  <a:latin typeface="Arial" panose="020B0604020202020204"/>
                </a:rPr>
                <a:t>   Public subnet</a:t>
              </a:r>
            </a:p>
          </p:txBody>
        </p:sp>
        <p:sp>
          <p:nvSpPr>
            <p:cNvPr id="7" name="Rectangle 6">
              <a:extLst>
                <a:ext uri="{FF2B5EF4-FFF2-40B4-BE49-F238E27FC236}">
                  <a16:creationId xmlns:a16="http://schemas.microsoft.com/office/drawing/2014/main" id="{4D7248F4-9FFE-BD1B-358F-0AFD5DFFA486}"/>
                </a:ext>
                <a:ext uri="{C183D7F6-B498-43B3-948B-1728B52AA6E4}">
                  <adec:decorative xmlns:adec="http://schemas.microsoft.com/office/drawing/2017/decorative" val="1"/>
                </a:ext>
              </a:extLst>
            </p:cNvPr>
            <p:cNvSpPr/>
            <p:nvPr/>
          </p:nvSpPr>
          <p:spPr>
            <a:xfrm>
              <a:off x="5756337" y="3894438"/>
              <a:ext cx="2987004" cy="146304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007CBC"/>
                  </a:solidFill>
                  <a:latin typeface="Arial" panose="020B0604020202020204"/>
                </a:rPr>
                <a:t>   </a:t>
              </a:r>
              <a:r>
                <a:rPr lang="en-US" sz="1600" kern="0" dirty="0">
                  <a:solidFill>
                    <a:srgbClr val="0070C0"/>
                  </a:solidFill>
                  <a:latin typeface="Arial" panose="020B0604020202020204"/>
                </a:rPr>
                <a:t>Private subnet</a:t>
              </a:r>
            </a:p>
          </p:txBody>
        </p:sp>
        <p:sp>
          <p:nvSpPr>
            <p:cNvPr id="8" name="TextBox 7">
              <a:extLst>
                <a:ext uri="{FF2B5EF4-FFF2-40B4-BE49-F238E27FC236}">
                  <a16:creationId xmlns:a16="http://schemas.microsoft.com/office/drawing/2014/main" id="{50CDE3FF-0B98-3BFB-B071-095BEFD98CF2}"/>
                </a:ext>
                <a:ext uri="{C183D7F6-B498-43B3-948B-1728B52AA6E4}">
                  <adec:decorative xmlns:adec="http://schemas.microsoft.com/office/drawing/2017/decorative" val="1"/>
                </a:ext>
              </a:extLst>
            </p:cNvPr>
            <p:cNvSpPr txBox="1"/>
            <p:nvPr/>
          </p:nvSpPr>
          <p:spPr>
            <a:xfrm>
              <a:off x="1049683" y="3308010"/>
              <a:ext cx="1072750" cy="338554"/>
            </a:xfrm>
            <a:prstGeom prst="rect">
              <a:avLst/>
            </a:prstGeom>
            <a:noFill/>
          </p:spPr>
          <p:txBody>
            <a:bodyPr wrap="square" rtlCol="0">
              <a:spAutoFit/>
            </a:bodyPr>
            <a:lstStyle/>
            <a:p>
              <a:pPr algn="ctr"/>
              <a:r>
                <a:rPr lang="en-US" sz="1600" dirty="0">
                  <a:solidFill>
                    <a:srgbClr val="232F3E"/>
                  </a:solidFill>
                </a:rPr>
                <a:t>Users</a:t>
              </a:r>
            </a:p>
          </p:txBody>
        </p:sp>
        <p:sp>
          <p:nvSpPr>
            <p:cNvPr id="9" name="TextBox 8">
              <a:extLst>
                <a:ext uri="{FF2B5EF4-FFF2-40B4-BE49-F238E27FC236}">
                  <a16:creationId xmlns:a16="http://schemas.microsoft.com/office/drawing/2014/main" id="{3FC7B0C0-6C55-75BF-A5FA-4ECE4706925E}"/>
                </a:ext>
                <a:ext uri="{C183D7F6-B498-43B3-948B-1728B52AA6E4}">
                  <adec:decorative xmlns:adec="http://schemas.microsoft.com/office/drawing/2017/decorative" val="1"/>
                </a:ext>
              </a:extLst>
            </p:cNvPr>
            <p:cNvSpPr txBox="1"/>
            <p:nvPr/>
          </p:nvSpPr>
          <p:spPr>
            <a:xfrm>
              <a:off x="3264921" y="3162841"/>
              <a:ext cx="1259655" cy="584775"/>
            </a:xfrm>
            <a:prstGeom prst="rect">
              <a:avLst/>
            </a:prstGeom>
            <a:noFill/>
          </p:spPr>
          <p:txBody>
            <a:bodyPr wrap="square" rtlCol="0">
              <a:spAutoFit/>
            </a:bodyPr>
            <a:lstStyle/>
            <a:p>
              <a:pPr algn="ctr"/>
              <a:r>
                <a:rPr lang="en-US" sz="1600" dirty="0"/>
                <a:t>Internet gateway</a:t>
              </a:r>
            </a:p>
          </p:txBody>
        </p:sp>
        <p:sp>
          <p:nvSpPr>
            <p:cNvPr id="10" name="Rectangle 9">
              <a:extLst>
                <a:ext uri="{FF2B5EF4-FFF2-40B4-BE49-F238E27FC236}">
                  <a16:creationId xmlns:a16="http://schemas.microsoft.com/office/drawing/2014/main" id="{C68EDCA1-2033-A689-3941-852A22C8F96A}"/>
                </a:ext>
                <a:ext uri="{C183D7F6-B498-43B3-948B-1728B52AA6E4}">
                  <adec:decorative xmlns:adec="http://schemas.microsoft.com/office/drawing/2017/decorative" val="1"/>
                </a:ext>
              </a:extLst>
            </p:cNvPr>
            <p:cNvSpPr/>
            <p:nvPr/>
          </p:nvSpPr>
          <p:spPr>
            <a:xfrm>
              <a:off x="5022281" y="1500522"/>
              <a:ext cx="4003008" cy="4238797"/>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6">
                      <a:lumMod val="75000"/>
                    </a:schemeClr>
                  </a:solidFill>
                </a:rPr>
                <a:t>Availability Zone</a:t>
              </a:r>
            </a:p>
          </p:txBody>
        </p:sp>
        <p:pic>
          <p:nvPicPr>
            <p:cNvPr id="11" name="Graphic 10">
              <a:extLst>
                <a:ext uri="{FF2B5EF4-FFF2-40B4-BE49-F238E27FC236}">
                  <a16:creationId xmlns:a16="http://schemas.microsoft.com/office/drawing/2014/main" id="{5F21663E-2408-B288-17A0-6018CEF29A1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344265" y="2833316"/>
              <a:ext cx="483586" cy="469900"/>
            </a:xfrm>
            <a:prstGeom prst="rect">
              <a:avLst/>
            </a:prstGeom>
          </p:spPr>
        </p:pic>
        <p:pic>
          <p:nvPicPr>
            <p:cNvPr id="12" name="Graphic 11">
              <a:extLst>
                <a:ext uri="{FF2B5EF4-FFF2-40B4-BE49-F238E27FC236}">
                  <a16:creationId xmlns:a16="http://schemas.microsoft.com/office/drawing/2014/main" id="{8E4A55E6-9E7C-2BE4-B592-64F94ECD579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9798" y="2794534"/>
              <a:ext cx="469900" cy="469900"/>
            </a:xfrm>
            <a:prstGeom prst="rect">
              <a:avLst/>
            </a:prstGeom>
          </p:spPr>
        </p:pic>
        <p:sp>
          <p:nvSpPr>
            <p:cNvPr id="13" name="TextBox 12">
              <a:extLst>
                <a:ext uri="{FF2B5EF4-FFF2-40B4-BE49-F238E27FC236}">
                  <a16:creationId xmlns:a16="http://schemas.microsoft.com/office/drawing/2014/main" id="{74055E6E-BDCA-C3AF-9344-ECC9F4518547}"/>
                </a:ext>
                <a:ext uri="{C183D7F6-B498-43B3-948B-1728B52AA6E4}">
                  <adec:decorative xmlns:adec="http://schemas.microsoft.com/office/drawing/2017/decorative" val="1"/>
                </a:ext>
              </a:extLst>
            </p:cNvPr>
            <p:cNvSpPr txBox="1"/>
            <p:nvPr/>
          </p:nvSpPr>
          <p:spPr>
            <a:xfrm>
              <a:off x="6723385" y="4975994"/>
              <a:ext cx="2301904" cy="338554"/>
            </a:xfrm>
            <a:prstGeom prst="rect">
              <a:avLst/>
            </a:prstGeom>
            <a:noFill/>
          </p:spPr>
          <p:txBody>
            <a:bodyPr wrap="square" rtlCol="0">
              <a:spAutoFit/>
            </a:bodyPr>
            <a:lstStyle/>
            <a:p>
              <a:pPr algn="ctr"/>
              <a:r>
                <a:rPr lang="en-US" sz="1600" dirty="0"/>
                <a:t>Amazon RDS</a:t>
              </a:r>
            </a:p>
          </p:txBody>
        </p:sp>
        <p:pic>
          <p:nvPicPr>
            <p:cNvPr id="14" name="Graphic 13">
              <a:extLst>
                <a:ext uri="{FF2B5EF4-FFF2-40B4-BE49-F238E27FC236}">
                  <a16:creationId xmlns:a16="http://schemas.microsoft.com/office/drawing/2014/main" id="{3D39A976-909B-323C-93AF-EE5E69E27C93}"/>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18737" y="4281109"/>
              <a:ext cx="711200" cy="711200"/>
            </a:xfrm>
            <a:prstGeom prst="rect">
              <a:avLst/>
            </a:prstGeom>
          </p:spPr>
        </p:pic>
        <p:sp>
          <p:nvSpPr>
            <p:cNvPr id="15" name="TextBox 14">
              <a:extLst>
                <a:ext uri="{FF2B5EF4-FFF2-40B4-BE49-F238E27FC236}">
                  <a16:creationId xmlns:a16="http://schemas.microsoft.com/office/drawing/2014/main" id="{AA1F1601-437A-76AE-3CFC-46733E48D8AC}"/>
                </a:ext>
                <a:ext uri="{C183D7F6-B498-43B3-948B-1728B52AA6E4}">
                  <adec:decorative xmlns:adec="http://schemas.microsoft.com/office/drawing/2017/decorative" val="1"/>
                </a:ext>
              </a:extLst>
            </p:cNvPr>
            <p:cNvSpPr txBox="1"/>
            <p:nvPr/>
          </p:nvSpPr>
          <p:spPr>
            <a:xfrm>
              <a:off x="7039951" y="3333203"/>
              <a:ext cx="1513305" cy="338554"/>
            </a:xfrm>
            <a:prstGeom prst="rect">
              <a:avLst/>
            </a:prstGeom>
            <a:noFill/>
          </p:spPr>
          <p:txBody>
            <a:bodyPr wrap="square" rtlCol="0">
              <a:spAutoFit/>
            </a:bodyPr>
            <a:lstStyle/>
            <a:p>
              <a:pPr algn="ctr"/>
              <a:r>
                <a:rPr lang="en-US" sz="1600" dirty="0"/>
                <a:t>Amazon EC2</a:t>
              </a:r>
            </a:p>
          </p:txBody>
        </p:sp>
        <p:pic>
          <p:nvPicPr>
            <p:cNvPr id="16" name="Graphic 15">
              <a:extLst>
                <a:ext uri="{FF2B5EF4-FFF2-40B4-BE49-F238E27FC236}">
                  <a16:creationId xmlns:a16="http://schemas.microsoft.com/office/drawing/2014/main" id="{A9376FEF-9986-5CE4-B4CE-23D859F71B18}"/>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97982" y="2628084"/>
              <a:ext cx="711200" cy="711200"/>
            </a:xfrm>
            <a:prstGeom prst="rect">
              <a:avLst/>
            </a:prstGeom>
          </p:spPr>
        </p:pic>
        <p:cxnSp>
          <p:nvCxnSpPr>
            <p:cNvPr id="17" name="Straight Arrow Connector 16">
              <a:extLst>
                <a:ext uri="{FF2B5EF4-FFF2-40B4-BE49-F238E27FC236}">
                  <a16:creationId xmlns:a16="http://schemas.microsoft.com/office/drawing/2014/main" id="{5F9F7313-51E4-41D8-8A81-F43019BB3D64}"/>
                </a:ext>
                <a:ext uri="{C183D7F6-B498-43B3-948B-1728B52AA6E4}">
                  <adec:decorative xmlns:adec="http://schemas.microsoft.com/office/drawing/2017/decorative" val="1"/>
                </a:ext>
              </a:extLst>
            </p:cNvPr>
            <p:cNvCxnSpPr>
              <a:cxnSpLocks/>
              <a:stCxn id="11" idx="1"/>
              <a:endCxn id="6" idx="1"/>
            </p:cNvCxnSpPr>
            <p:nvPr/>
          </p:nvCxnSpPr>
          <p:spPr>
            <a:xfrm flipV="1">
              <a:off x="1827851" y="3061012"/>
              <a:ext cx="3928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3D5F285-12D5-1D7D-9068-728B81C83861}"/>
                </a:ext>
                <a:ext uri="{C183D7F6-B498-43B3-948B-1728B52AA6E4}">
                  <adec:decorative xmlns:adec="http://schemas.microsoft.com/office/drawing/2017/decorative" val="1"/>
                </a:ext>
              </a:extLst>
            </p:cNvPr>
            <p:cNvSpPr/>
            <p:nvPr/>
          </p:nvSpPr>
          <p:spPr>
            <a:xfrm>
              <a:off x="3889239" y="2017109"/>
              <a:ext cx="5437762" cy="3547112"/>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kern="0" dirty="0">
                  <a:ln w="0"/>
                  <a:solidFill>
                    <a:srgbClr val="1D8900"/>
                  </a:solidFill>
                  <a:latin typeface="Arial" panose="020B0604020202020204"/>
                </a:rPr>
                <a:t> VPC</a:t>
              </a:r>
              <a:endParaRPr lang="en-US" sz="1200" kern="0" dirty="0">
                <a:ln w="0"/>
                <a:solidFill>
                  <a:srgbClr val="1D8900"/>
                </a:solidFill>
                <a:latin typeface="Arial" panose="020B0604020202020204"/>
              </a:endParaRPr>
            </a:p>
          </p:txBody>
        </p:sp>
        <p:pic>
          <p:nvPicPr>
            <p:cNvPr id="19" name="Graphic 18">
              <a:extLst>
                <a:ext uri="{FF2B5EF4-FFF2-40B4-BE49-F238E27FC236}">
                  <a16:creationId xmlns:a16="http://schemas.microsoft.com/office/drawing/2014/main" id="{E6072E91-AD58-4974-298E-001D56A81622}"/>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89239" y="2017109"/>
              <a:ext cx="457200" cy="457200"/>
            </a:xfrm>
            <a:prstGeom prst="rect">
              <a:avLst/>
            </a:prstGeom>
          </p:spPr>
        </p:pic>
        <p:pic>
          <p:nvPicPr>
            <p:cNvPr id="20" name="Graphic 19">
              <a:extLst>
                <a:ext uri="{FF2B5EF4-FFF2-40B4-BE49-F238E27FC236}">
                  <a16:creationId xmlns:a16="http://schemas.microsoft.com/office/drawing/2014/main" id="{359C72AD-4B8C-8886-432D-50849309DF93}"/>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756337" y="2327133"/>
              <a:ext cx="457200" cy="457200"/>
            </a:xfrm>
            <a:prstGeom prst="rect">
              <a:avLst/>
            </a:prstGeom>
          </p:spPr>
        </p:pic>
        <p:pic>
          <p:nvPicPr>
            <p:cNvPr id="21" name="Graphic 20">
              <a:extLst>
                <a:ext uri="{FF2B5EF4-FFF2-40B4-BE49-F238E27FC236}">
                  <a16:creationId xmlns:a16="http://schemas.microsoft.com/office/drawing/2014/main" id="{E58DA236-12F1-CCAB-C083-1CCD38CD5671}"/>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56337" y="3892079"/>
              <a:ext cx="457200" cy="457200"/>
            </a:xfrm>
            <a:prstGeom prst="rect">
              <a:avLst/>
            </a:prstGeom>
          </p:spPr>
        </p:pic>
        <p:sp>
          <p:nvSpPr>
            <p:cNvPr id="22" name="Rectangle 21">
              <a:extLst>
                <a:ext uri="{FF2B5EF4-FFF2-40B4-BE49-F238E27FC236}">
                  <a16:creationId xmlns:a16="http://schemas.microsoft.com/office/drawing/2014/main" id="{5AF78AC1-C5F0-533D-CFDF-D6920AB305E4}"/>
                </a:ext>
                <a:ext uri="{C183D7F6-B498-43B3-948B-1728B52AA6E4}">
                  <adec:decorative xmlns:adec="http://schemas.microsoft.com/office/drawing/2017/decorative" val="1"/>
                </a:ext>
              </a:extLst>
            </p:cNvPr>
            <p:cNvSpPr/>
            <p:nvPr/>
          </p:nvSpPr>
          <p:spPr>
            <a:xfrm>
              <a:off x="2535419" y="1263105"/>
              <a:ext cx="7121162" cy="47680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23" name="Graphic 22">
              <a:extLst>
                <a:ext uri="{FF2B5EF4-FFF2-40B4-BE49-F238E27FC236}">
                  <a16:creationId xmlns:a16="http://schemas.microsoft.com/office/drawing/2014/main" id="{F74FF45A-5DC3-8D71-5D5A-996251D7325C}"/>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535419" y="1263105"/>
              <a:ext cx="457200" cy="457200"/>
            </a:xfrm>
            <a:prstGeom prst="rect">
              <a:avLst/>
            </a:prstGeom>
          </p:spPr>
        </p:pic>
      </p:grpSp>
    </p:spTree>
    <p:extLst>
      <p:ext uri="{BB962C8B-B14F-4D97-AF65-F5344CB8AC3E}">
        <p14:creationId xmlns:p14="http://schemas.microsoft.com/office/powerpoint/2010/main" val="46464195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08FF-3407-5311-456D-EB530994C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53F6B-E0A6-60DF-73E9-C2A7E3023AD1}"/>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CB60A090-4284-61DA-85F3-47AF97FEFBFE}"/>
              </a:ext>
            </a:extLst>
          </p:cNvPr>
          <p:cNvSpPr>
            <a:spLocks noGrp="1"/>
          </p:cNvSpPr>
          <p:nvPr>
            <p:ph type="body" sz="quarter" idx="10"/>
          </p:nvPr>
        </p:nvSpPr>
        <p:spPr/>
        <p:txBody>
          <a:bodyPr>
            <a:normAutofit fontScale="55000" lnSpcReduction="20000"/>
          </a:bodyPr>
          <a:lstStyle/>
          <a:p>
            <a:r>
              <a:rPr lang="en-US" sz="2400" dirty="0"/>
              <a:t>High availability with Multi-AZ deployment</a:t>
            </a:r>
          </a:p>
        </p:txBody>
      </p:sp>
      <p:sp>
        <p:nvSpPr>
          <p:cNvPr id="4" name="Title 1">
            <a:extLst>
              <a:ext uri="{FF2B5EF4-FFF2-40B4-BE49-F238E27FC236}">
                <a16:creationId xmlns:a16="http://schemas.microsoft.com/office/drawing/2014/main" id="{A5760B2D-EC69-CFB0-210F-1038ECA01534}"/>
              </a:ext>
            </a:extLst>
          </p:cNvPr>
          <p:cNvSpPr txBox="1">
            <a:spLocks/>
          </p:cNvSpPr>
          <p:nvPr/>
        </p:nvSpPr>
        <p:spPr>
          <a:xfrm>
            <a:off x="40386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a highly available Amazon RDS installation.">
            <a:extLst>
              <a:ext uri="{FF2B5EF4-FFF2-40B4-BE49-F238E27FC236}">
                <a16:creationId xmlns:a16="http://schemas.microsoft.com/office/drawing/2014/main" id="{3FB570A8-9795-FC53-CFF9-38B62150C802}"/>
              </a:ext>
            </a:extLst>
          </p:cNvPr>
          <p:cNvGrpSpPr/>
          <p:nvPr/>
        </p:nvGrpSpPr>
        <p:grpSpPr>
          <a:xfrm>
            <a:off x="2438400" y="1676401"/>
            <a:ext cx="8153400" cy="4571999"/>
            <a:chOff x="481788" y="1285494"/>
            <a:chExt cx="10043539" cy="5029200"/>
          </a:xfrm>
        </p:grpSpPr>
        <p:sp>
          <p:nvSpPr>
            <p:cNvPr id="6" name="Rectangle 5">
              <a:extLst>
                <a:ext uri="{FF2B5EF4-FFF2-40B4-BE49-F238E27FC236}">
                  <a16:creationId xmlns:a16="http://schemas.microsoft.com/office/drawing/2014/main" id="{DC935671-0378-561D-6AEB-49CA590BE510}"/>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1D8900"/>
                  </a:solidFill>
                  <a:latin typeface="Arial" panose="020B0604020202020204"/>
                </a:rPr>
                <a:t>   Public subnet</a:t>
              </a:r>
            </a:p>
          </p:txBody>
        </p:sp>
        <p:sp>
          <p:nvSpPr>
            <p:cNvPr id="7" name="Rectangle 6">
              <a:extLst>
                <a:ext uri="{FF2B5EF4-FFF2-40B4-BE49-F238E27FC236}">
                  <a16:creationId xmlns:a16="http://schemas.microsoft.com/office/drawing/2014/main" id="{D3D0E18C-2709-DD53-1C1D-E64ED77C6567}"/>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007CBC"/>
                  </a:solidFill>
                  <a:latin typeface="Arial" panose="020B0604020202020204"/>
                </a:rPr>
                <a:t>   </a:t>
              </a:r>
              <a:r>
                <a:rPr lang="en-US" sz="1600" kern="0" dirty="0">
                  <a:solidFill>
                    <a:srgbClr val="0070C0"/>
                  </a:solidFill>
                  <a:latin typeface="Arial" panose="020B0604020202020204"/>
                </a:rPr>
                <a:t>Private subnet</a:t>
              </a:r>
            </a:p>
          </p:txBody>
        </p:sp>
        <p:sp>
          <p:nvSpPr>
            <p:cNvPr id="8" name="Rectangle 7">
              <a:extLst>
                <a:ext uri="{FF2B5EF4-FFF2-40B4-BE49-F238E27FC236}">
                  <a16:creationId xmlns:a16="http://schemas.microsoft.com/office/drawing/2014/main" id="{BF7759A1-829A-7178-83B9-E077091C1A5E}"/>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007CBC"/>
                  </a:solidFill>
                  <a:latin typeface="Arial" panose="020B0604020202020204"/>
                </a:rPr>
                <a:t>   </a:t>
              </a:r>
              <a:r>
                <a:rPr lang="en-US" sz="1600" kern="0" dirty="0">
                  <a:solidFill>
                    <a:srgbClr val="0070C0"/>
                  </a:solidFill>
                  <a:latin typeface="Arial" panose="020B0604020202020204"/>
                </a:rPr>
                <a:t>Private subnet</a:t>
              </a:r>
            </a:p>
          </p:txBody>
        </p:sp>
        <p:sp>
          <p:nvSpPr>
            <p:cNvPr id="9" name="Rectangle 8">
              <a:extLst>
                <a:ext uri="{FF2B5EF4-FFF2-40B4-BE49-F238E27FC236}">
                  <a16:creationId xmlns:a16="http://schemas.microsoft.com/office/drawing/2014/main" id="{DC7DC835-8B17-03D0-F89A-DB768C52D821}"/>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6">
                      <a:lumMod val="75000"/>
                    </a:schemeClr>
                  </a:solidFill>
                </a:rPr>
                <a:t>Availability Zone 1</a:t>
              </a:r>
            </a:p>
          </p:txBody>
        </p:sp>
        <p:sp>
          <p:nvSpPr>
            <p:cNvPr id="10" name="TextBox 9">
              <a:extLst>
                <a:ext uri="{FF2B5EF4-FFF2-40B4-BE49-F238E27FC236}">
                  <a16:creationId xmlns:a16="http://schemas.microsoft.com/office/drawing/2014/main" id="{0C9AB4E8-515A-D08A-948C-CC60D6AF566F}"/>
                </a:ext>
                <a:ext uri="{C183D7F6-B498-43B3-948B-1728B52AA6E4}">
                  <adec:decorative xmlns:adec="http://schemas.microsoft.com/office/drawing/2017/decorative" val="1"/>
                </a:ext>
              </a:extLst>
            </p:cNvPr>
            <p:cNvSpPr txBox="1"/>
            <p:nvPr/>
          </p:nvSpPr>
          <p:spPr>
            <a:xfrm>
              <a:off x="3286732" y="3386065"/>
              <a:ext cx="1513303" cy="372409"/>
            </a:xfrm>
            <a:prstGeom prst="rect">
              <a:avLst/>
            </a:prstGeom>
            <a:noFill/>
          </p:spPr>
          <p:txBody>
            <a:bodyPr wrap="square" rtlCol="0">
              <a:spAutoFit/>
            </a:bodyPr>
            <a:lstStyle/>
            <a:p>
              <a:pPr algn="ctr"/>
              <a:r>
                <a:rPr lang="en-US" sz="1600" dirty="0"/>
                <a:t>Amazon EC2</a:t>
              </a:r>
            </a:p>
          </p:txBody>
        </p:sp>
        <p:pic>
          <p:nvPicPr>
            <p:cNvPr id="11" name="Graphic 10">
              <a:extLst>
                <a:ext uri="{FF2B5EF4-FFF2-40B4-BE49-F238E27FC236}">
                  <a16:creationId xmlns:a16="http://schemas.microsoft.com/office/drawing/2014/main" id="{F9AD6D9B-3B0F-D114-9817-001D77AFAAD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8590" y="2794773"/>
              <a:ext cx="483546" cy="483546"/>
            </a:xfrm>
            <a:prstGeom prst="rect">
              <a:avLst/>
            </a:prstGeom>
          </p:spPr>
        </p:pic>
        <p:sp>
          <p:nvSpPr>
            <p:cNvPr id="12" name="Rectangle 11">
              <a:extLst>
                <a:ext uri="{FF2B5EF4-FFF2-40B4-BE49-F238E27FC236}">
                  <a16:creationId xmlns:a16="http://schemas.microsoft.com/office/drawing/2014/main" id="{2F757670-0F71-7D1C-2422-22286CB42773}"/>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6">
                      <a:lumMod val="75000"/>
                    </a:schemeClr>
                  </a:solidFill>
                </a:rPr>
                <a:t>Availability Zone 2</a:t>
              </a:r>
            </a:p>
          </p:txBody>
        </p:sp>
        <p:sp>
          <p:nvSpPr>
            <p:cNvPr id="13" name="TextBox 12">
              <a:extLst>
                <a:ext uri="{FF2B5EF4-FFF2-40B4-BE49-F238E27FC236}">
                  <a16:creationId xmlns:a16="http://schemas.microsoft.com/office/drawing/2014/main" id="{02DE9DC0-7710-96C6-65FB-6600F47AF7F0}"/>
                </a:ext>
                <a:ext uri="{C183D7F6-B498-43B3-948B-1728B52AA6E4}">
                  <adec:decorative xmlns:adec="http://schemas.microsoft.com/office/drawing/2017/decorative" val="1"/>
                </a:ext>
              </a:extLst>
            </p:cNvPr>
            <p:cNvSpPr txBox="1"/>
            <p:nvPr/>
          </p:nvSpPr>
          <p:spPr>
            <a:xfrm>
              <a:off x="3499212" y="5010871"/>
              <a:ext cx="1741310" cy="643253"/>
            </a:xfrm>
            <a:prstGeom prst="rect">
              <a:avLst/>
            </a:prstGeom>
            <a:noFill/>
          </p:spPr>
          <p:txBody>
            <a:bodyPr wrap="square" rtlCol="0">
              <a:spAutoFit/>
            </a:bodyPr>
            <a:lstStyle/>
            <a:p>
              <a:pPr algn="ctr"/>
              <a:r>
                <a:rPr lang="en-US" sz="1600" dirty="0"/>
                <a:t>Amazon RDS </a:t>
              </a:r>
            </a:p>
            <a:p>
              <a:pPr algn="ctr"/>
              <a:r>
                <a:rPr lang="en-US" sz="1600" dirty="0"/>
                <a:t>instance</a:t>
              </a:r>
            </a:p>
          </p:txBody>
        </p:sp>
        <p:pic>
          <p:nvPicPr>
            <p:cNvPr id="14" name="Graphic 13">
              <a:extLst>
                <a:ext uri="{FF2B5EF4-FFF2-40B4-BE49-F238E27FC236}">
                  <a16:creationId xmlns:a16="http://schemas.microsoft.com/office/drawing/2014/main" id="{9B3AA077-5F52-A537-B05C-1424DF8504A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23114" y="4477337"/>
              <a:ext cx="537998" cy="537998"/>
            </a:xfrm>
            <a:prstGeom prst="rect">
              <a:avLst/>
            </a:prstGeom>
          </p:spPr>
        </p:pic>
        <p:pic>
          <p:nvPicPr>
            <p:cNvPr id="15" name="Graphic 14">
              <a:extLst>
                <a:ext uri="{FF2B5EF4-FFF2-40B4-BE49-F238E27FC236}">
                  <a16:creationId xmlns:a16="http://schemas.microsoft.com/office/drawing/2014/main" id="{A7860AD1-5B1D-EF03-FBF1-6EA964499E6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38924" y="4477337"/>
              <a:ext cx="537998" cy="537998"/>
            </a:xfrm>
            <a:prstGeom prst="rect">
              <a:avLst/>
            </a:prstGeom>
          </p:spPr>
        </p:pic>
        <p:sp>
          <p:nvSpPr>
            <p:cNvPr id="16" name="TextBox 15">
              <a:extLst>
                <a:ext uri="{FF2B5EF4-FFF2-40B4-BE49-F238E27FC236}">
                  <a16:creationId xmlns:a16="http://schemas.microsoft.com/office/drawing/2014/main" id="{1107AEC5-E05A-39DD-3546-ECB3C4D6D863}"/>
                </a:ext>
                <a:ext uri="{C183D7F6-B498-43B3-948B-1728B52AA6E4}">
                  <adec:decorative xmlns:adec="http://schemas.microsoft.com/office/drawing/2017/decorative" val="1"/>
                </a:ext>
              </a:extLst>
            </p:cNvPr>
            <p:cNvSpPr txBox="1"/>
            <p:nvPr/>
          </p:nvSpPr>
          <p:spPr>
            <a:xfrm>
              <a:off x="8145724" y="5115767"/>
              <a:ext cx="1524402" cy="643253"/>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17" name="Arrow: Right 16">
              <a:extLst>
                <a:ext uri="{FF2B5EF4-FFF2-40B4-BE49-F238E27FC236}">
                  <a16:creationId xmlns:a16="http://schemas.microsoft.com/office/drawing/2014/main" id="{A5B85101-7437-29DE-CE6A-8492DF9B38F2}"/>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TextBox 17">
              <a:extLst>
                <a:ext uri="{FF2B5EF4-FFF2-40B4-BE49-F238E27FC236}">
                  <a16:creationId xmlns:a16="http://schemas.microsoft.com/office/drawing/2014/main" id="{2656E55A-1501-4E90-4BF4-4AFBFFEA11BC}"/>
                </a:ext>
                <a:ext uri="{C183D7F6-B498-43B3-948B-1728B52AA6E4}">
                  <adec:decorative xmlns:adec="http://schemas.microsoft.com/office/drawing/2017/decorative" val="1"/>
                </a:ext>
              </a:extLst>
            </p:cNvPr>
            <p:cNvSpPr txBox="1"/>
            <p:nvPr/>
          </p:nvSpPr>
          <p:spPr>
            <a:xfrm>
              <a:off x="5744934" y="4720690"/>
              <a:ext cx="1543280" cy="372409"/>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19" name="Rectangle: Rounded Corners 18">
              <a:extLst>
                <a:ext uri="{FF2B5EF4-FFF2-40B4-BE49-F238E27FC236}">
                  <a16:creationId xmlns:a16="http://schemas.microsoft.com/office/drawing/2014/main" id="{BE6B6B2C-F3BA-D1D8-C8CF-E105FF608BDD}"/>
                </a:ext>
                <a:ext uri="{C183D7F6-B498-43B3-948B-1728B52AA6E4}">
                  <adec:decorative xmlns:adec="http://schemas.microsoft.com/office/drawing/2017/decorative" val="1"/>
                </a:ext>
              </a:extLst>
            </p:cNvPr>
            <p:cNvSpPr/>
            <p:nvPr/>
          </p:nvSpPr>
          <p:spPr>
            <a:xfrm>
              <a:off x="5163284"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dirty="0"/>
            </a:p>
          </p:txBody>
        </p:sp>
        <p:sp>
          <p:nvSpPr>
            <p:cNvPr id="20" name="TextBox 19">
              <a:extLst>
                <a:ext uri="{FF2B5EF4-FFF2-40B4-BE49-F238E27FC236}">
                  <a16:creationId xmlns:a16="http://schemas.microsoft.com/office/drawing/2014/main" id="{2AAA9281-1750-FBA1-90D8-29990BE4BD03}"/>
                </a:ext>
                <a:ext uri="{C183D7F6-B498-43B3-948B-1728B52AA6E4}">
                  <adec:decorative xmlns:adec="http://schemas.microsoft.com/office/drawing/2017/decorative" val="1"/>
                </a:ext>
              </a:extLst>
            </p:cNvPr>
            <p:cNvSpPr txBox="1"/>
            <p:nvPr/>
          </p:nvSpPr>
          <p:spPr>
            <a:xfrm>
              <a:off x="4808579" y="3386065"/>
              <a:ext cx="1384047" cy="372409"/>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21" name="Straight Arrow Connector 20">
              <a:extLst>
                <a:ext uri="{FF2B5EF4-FFF2-40B4-BE49-F238E27FC236}">
                  <a16:creationId xmlns:a16="http://schemas.microsoft.com/office/drawing/2014/main" id="{393F1400-25FB-E2EE-4CA0-3EE12D997EA7}"/>
                </a:ext>
                <a:ext uri="{C183D7F6-B498-43B3-948B-1728B52AA6E4}">
                  <adec:decorative xmlns:adec="http://schemas.microsoft.com/office/drawing/2017/decorative" val="1"/>
                </a:ext>
              </a:extLst>
            </p:cNvPr>
            <p:cNvCxnSpPr>
              <a:cxnSpLocks/>
            </p:cNvCxnSpPr>
            <p:nvPr/>
          </p:nvCxnSpPr>
          <p:spPr>
            <a:xfrm>
              <a:off x="5372806" y="3737088"/>
              <a:ext cx="0" cy="62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CEFAE91-5879-143D-B89E-CBBB9A0125DE}"/>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33" name="Graphic 32">
                <a:extLst>
                  <a:ext uri="{FF2B5EF4-FFF2-40B4-BE49-F238E27FC236}">
                    <a16:creationId xmlns:a16="http://schemas.microsoft.com/office/drawing/2014/main" id="{F7EFF46F-9486-B23A-934C-A08FC862C32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73782" y="4434743"/>
                <a:ext cx="640080" cy="640080"/>
              </a:xfrm>
              <a:prstGeom prst="rect">
                <a:avLst/>
              </a:prstGeom>
            </p:spPr>
          </p:pic>
          <p:sp>
            <p:nvSpPr>
              <p:cNvPr id="34" name="TextBox 33">
                <a:extLst>
                  <a:ext uri="{FF2B5EF4-FFF2-40B4-BE49-F238E27FC236}">
                    <a16:creationId xmlns:a16="http://schemas.microsoft.com/office/drawing/2014/main" id="{CAA388AD-1B9B-9F6C-6AF6-5BB784A4CDC3}"/>
                  </a:ext>
                  <a:ext uri="{C183D7F6-B498-43B3-948B-1728B52AA6E4}">
                    <adec:decorative xmlns:adec="http://schemas.microsoft.com/office/drawing/2017/decorative" val="1"/>
                  </a:ext>
                </a:extLst>
              </p:cNvPr>
              <p:cNvSpPr txBox="1"/>
              <p:nvPr/>
            </p:nvSpPr>
            <p:spPr>
              <a:xfrm>
                <a:off x="5317331" y="4656612"/>
                <a:ext cx="352981" cy="3724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23" name="Group 22">
              <a:extLst>
                <a:ext uri="{FF2B5EF4-FFF2-40B4-BE49-F238E27FC236}">
                  <a16:creationId xmlns:a16="http://schemas.microsoft.com/office/drawing/2014/main" id="{0B630260-025E-4BA2-E2BC-463A2F86CDB3}"/>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31" name="Graphic 30">
                <a:extLst>
                  <a:ext uri="{FF2B5EF4-FFF2-40B4-BE49-F238E27FC236}">
                    <a16:creationId xmlns:a16="http://schemas.microsoft.com/office/drawing/2014/main" id="{06B3441C-1399-CDD2-14B0-66113E68E25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8355" y="4443120"/>
                <a:ext cx="640080" cy="640080"/>
              </a:xfrm>
              <a:prstGeom prst="rect">
                <a:avLst/>
              </a:prstGeom>
            </p:spPr>
          </p:pic>
          <p:sp>
            <p:nvSpPr>
              <p:cNvPr id="32" name="TextBox 31">
                <a:extLst>
                  <a:ext uri="{FF2B5EF4-FFF2-40B4-BE49-F238E27FC236}">
                    <a16:creationId xmlns:a16="http://schemas.microsoft.com/office/drawing/2014/main" id="{6762DD60-31CD-10F8-BB0A-7E6CBDC2C8BB}"/>
                  </a:ext>
                  <a:ext uri="{C183D7F6-B498-43B3-948B-1728B52AA6E4}">
                    <adec:decorative xmlns:adec="http://schemas.microsoft.com/office/drawing/2017/decorative" val="1"/>
                  </a:ext>
                </a:extLst>
              </p:cNvPr>
              <p:cNvSpPr txBox="1"/>
              <p:nvPr/>
            </p:nvSpPr>
            <p:spPr>
              <a:xfrm>
                <a:off x="7179155" y="4656612"/>
                <a:ext cx="343979" cy="372409"/>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24" name="Rectangle 23">
              <a:extLst>
                <a:ext uri="{FF2B5EF4-FFF2-40B4-BE49-F238E27FC236}">
                  <a16:creationId xmlns:a16="http://schemas.microsoft.com/office/drawing/2014/main" id="{5865B47C-D2E3-CFFA-AE22-369A2285E28A}"/>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25" name="Graphic 24">
              <a:extLst>
                <a:ext uri="{FF2B5EF4-FFF2-40B4-BE49-F238E27FC236}">
                  <a16:creationId xmlns:a16="http://schemas.microsoft.com/office/drawing/2014/main" id="{E5B59CB3-BA76-0509-5176-1956969F22FF}"/>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1789" y="1285494"/>
              <a:ext cx="457200" cy="457200"/>
            </a:xfrm>
            <a:prstGeom prst="rect">
              <a:avLst/>
            </a:prstGeom>
          </p:spPr>
        </p:pic>
        <p:pic>
          <p:nvPicPr>
            <p:cNvPr id="26" name="Graphic 25">
              <a:extLst>
                <a:ext uri="{FF2B5EF4-FFF2-40B4-BE49-F238E27FC236}">
                  <a16:creationId xmlns:a16="http://schemas.microsoft.com/office/drawing/2014/main" id="{BEF57DCA-7F85-F3EB-BD8D-2DAB0A4816E6}"/>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99617" y="2026835"/>
              <a:ext cx="457200" cy="457200"/>
            </a:xfrm>
            <a:prstGeom prst="rect">
              <a:avLst/>
            </a:prstGeom>
          </p:spPr>
        </p:pic>
        <p:pic>
          <p:nvPicPr>
            <p:cNvPr id="27" name="Graphic 26">
              <a:extLst>
                <a:ext uri="{FF2B5EF4-FFF2-40B4-BE49-F238E27FC236}">
                  <a16:creationId xmlns:a16="http://schemas.microsoft.com/office/drawing/2014/main" id="{802EA9B7-17CF-C725-42B8-6F55737940B8}"/>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73417" y="2232916"/>
              <a:ext cx="457200" cy="457200"/>
            </a:xfrm>
            <a:prstGeom prst="rect">
              <a:avLst/>
            </a:prstGeom>
          </p:spPr>
        </p:pic>
        <p:pic>
          <p:nvPicPr>
            <p:cNvPr id="28" name="Graphic 27">
              <a:extLst>
                <a:ext uri="{FF2B5EF4-FFF2-40B4-BE49-F238E27FC236}">
                  <a16:creationId xmlns:a16="http://schemas.microsoft.com/office/drawing/2014/main" id="{074B6BE2-483B-10D6-663F-81F218018672}"/>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190567" y="4087465"/>
              <a:ext cx="457200" cy="457200"/>
            </a:xfrm>
            <a:prstGeom prst="rect">
              <a:avLst/>
            </a:prstGeom>
          </p:spPr>
        </p:pic>
        <p:pic>
          <p:nvPicPr>
            <p:cNvPr id="29" name="Graphic 28">
              <a:extLst>
                <a:ext uri="{FF2B5EF4-FFF2-40B4-BE49-F238E27FC236}">
                  <a16:creationId xmlns:a16="http://schemas.microsoft.com/office/drawing/2014/main" id="{9514F4DC-4C23-7703-AF0C-6CEC4536D799}"/>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85626" y="4087465"/>
              <a:ext cx="457200" cy="457200"/>
            </a:xfrm>
            <a:prstGeom prst="rect">
              <a:avLst/>
            </a:prstGeom>
          </p:spPr>
        </p:pic>
        <p:sp>
          <p:nvSpPr>
            <p:cNvPr id="30" name="Rectangle 29">
              <a:extLst>
                <a:ext uri="{FF2B5EF4-FFF2-40B4-BE49-F238E27FC236}">
                  <a16:creationId xmlns:a16="http://schemas.microsoft.com/office/drawing/2014/main" id="{788E8E26-77C6-D4AF-E17C-094BD0450810}"/>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kern="0" dirty="0">
                  <a:ln w="0"/>
                  <a:solidFill>
                    <a:srgbClr val="1D8900"/>
                  </a:solidFill>
                  <a:latin typeface="Arial" panose="020B0604020202020204"/>
                </a:rPr>
                <a:t> VPC</a:t>
              </a:r>
            </a:p>
          </p:txBody>
        </p:sp>
      </p:grpSp>
    </p:spTree>
    <p:extLst>
      <p:ext uri="{BB962C8B-B14F-4D97-AF65-F5344CB8AC3E}">
        <p14:creationId xmlns:p14="http://schemas.microsoft.com/office/powerpoint/2010/main" val="5809078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3484F-6139-8ABA-C31F-9550D73E8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05DD2-8966-49FE-D9A1-EEE038F2BBBE}"/>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FC862CE4-BA5B-45E7-445B-01C226F89CCC}"/>
              </a:ext>
            </a:extLst>
          </p:cNvPr>
          <p:cNvSpPr>
            <a:spLocks noGrp="1"/>
          </p:cNvSpPr>
          <p:nvPr>
            <p:ph type="body" sz="quarter" idx="10"/>
          </p:nvPr>
        </p:nvSpPr>
        <p:spPr/>
        <p:txBody>
          <a:bodyPr>
            <a:normAutofit fontScale="55000" lnSpcReduction="20000"/>
          </a:bodyPr>
          <a:lstStyle/>
          <a:p>
            <a:r>
              <a:rPr lang="en-US" sz="2400" dirty="0"/>
              <a:t>High availability with Multi-AZ deployment 2</a:t>
            </a:r>
          </a:p>
        </p:txBody>
      </p:sp>
      <p:sp>
        <p:nvSpPr>
          <p:cNvPr id="4" name="Title 1">
            <a:extLst>
              <a:ext uri="{FF2B5EF4-FFF2-40B4-BE49-F238E27FC236}">
                <a16:creationId xmlns:a16="http://schemas.microsoft.com/office/drawing/2014/main" id="{C2D5BED8-6783-7225-95ED-7800DAEC99C1}"/>
              </a:ext>
            </a:extLst>
          </p:cNvPr>
          <p:cNvSpPr txBox="1">
            <a:spLocks/>
          </p:cNvSpPr>
          <p:nvPr/>
        </p:nvSpPr>
        <p:spPr>
          <a:xfrm>
            <a:off x="40386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a highly available Amazon RDS installation with rds standby instance.">
            <a:extLst>
              <a:ext uri="{FF2B5EF4-FFF2-40B4-BE49-F238E27FC236}">
                <a16:creationId xmlns:a16="http://schemas.microsoft.com/office/drawing/2014/main" id="{0D7AE6BF-7E27-3B4B-8029-D3C11F762B4E}"/>
              </a:ext>
            </a:extLst>
          </p:cNvPr>
          <p:cNvGrpSpPr/>
          <p:nvPr/>
        </p:nvGrpSpPr>
        <p:grpSpPr>
          <a:xfrm>
            <a:off x="2438401" y="1676400"/>
            <a:ext cx="8153400" cy="4562094"/>
            <a:chOff x="481788" y="1285494"/>
            <a:chExt cx="10043539" cy="5029200"/>
          </a:xfrm>
        </p:grpSpPr>
        <p:sp>
          <p:nvSpPr>
            <p:cNvPr id="6" name="Rectangle 5">
              <a:extLst>
                <a:ext uri="{FF2B5EF4-FFF2-40B4-BE49-F238E27FC236}">
                  <a16:creationId xmlns:a16="http://schemas.microsoft.com/office/drawing/2014/main" id="{C085D071-36D9-912A-07DB-C64A8EAC4FCF}"/>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1D8900"/>
                  </a:solidFill>
                  <a:latin typeface="Arial" panose="020B0604020202020204"/>
                </a:rPr>
                <a:t>   Public subnet</a:t>
              </a:r>
            </a:p>
          </p:txBody>
        </p:sp>
        <p:sp>
          <p:nvSpPr>
            <p:cNvPr id="7" name="Rectangle 6">
              <a:extLst>
                <a:ext uri="{FF2B5EF4-FFF2-40B4-BE49-F238E27FC236}">
                  <a16:creationId xmlns:a16="http://schemas.microsoft.com/office/drawing/2014/main" id="{97B735A6-FDF6-7B00-8E8C-BCD6B4694D9A}"/>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007CBC"/>
                  </a:solidFill>
                  <a:latin typeface="Arial" panose="020B0604020202020204"/>
                </a:rPr>
                <a:t>   </a:t>
              </a:r>
              <a:r>
                <a:rPr lang="en-US" sz="1600" kern="0" dirty="0">
                  <a:solidFill>
                    <a:srgbClr val="0070C0"/>
                  </a:solidFill>
                  <a:latin typeface="Arial" panose="020B0604020202020204"/>
                </a:rPr>
                <a:t>Private subnet</a:t>
              </a:r>
            </a:p>
          </p:txBody>
        </p:sp>
        <p:sp>
          <p:nvSpPr>
            <p:cNvPr id="8" name="Rectangle 7">
              <a:extLst>
                <a:ext uri="{FF2B5EF4-FFF2-40B4-BE49-F238E27FC236}">
                  <a16:creationId xmlns:a16="http://schemas.microsoft.com/office/drawing/2014/main" id="{87EC1004-600D-C01E-EEB2-B5CBE4CE4E9A}"/>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600" kern="0" dirty="0">
                  <a:solidFill>
                    <a:srgbClr val="007CBC"/>
                  </a:solidFill>
                  <a:latin typeface="Arial" panose="020B0604020202020204"/>
                </a:rPr>
                <a:t>   </a:t>
              </a:r>
              <a:r>
                <a:rPr lang="en-US" sz="1600" kern="0" dirty="0">
                  <a:solidFill>
                    <a:srgbClr val="0070C0"/>
                  </a:solidFill>
                  <a:latin typeface="Arial" panose="020B0604020202020204"/>
                </a:rPr>
                <a:t>Private subnet</a:t>
              </a:r>
            </a:p>
          </p:txBody>
        </p:sp>
        <p:sp>
          <p:nvSpPr>
            <p:cNvPr id="9" name="Rectangle 8">
              <a:extLst>
                <a:ext uri="{FF2B5EF4-FFF2-40B4-BE49-F238E27FC236}">
                  <a16:creationId xmlns:a16="http://schemas.microsoft.com/office/drawing/2014/main" id="{6C3545E7-FDD4-5A14-ABDD-CF0BE16B2CEF}"/>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6">
                      <a:lumMod val="75000"/>
                    </a:schemeClr>
                  </a:solidFill>
                </a:rPr>
                <a:t>Availability Zone 1</a:t>
              </a:r>
            </a:p>
          </p:txBody>
        </p:sp>
        <p:sp>
          <p:nvSpPr>
            <p:cNvPr id="10" name="TextBox 9">
              <a:extLst>
                <a:ext uri="{FF2B5EF4-FFF2-40B4-BE49-F238E27FC236}">
                  <a16:creationId xmlns:a16="http://schemas.microsoft.com/office/drawing/2014/main" id="{5359DEE4-720C-30E4-B853-FA4323FA2081}"/>
                </a:ext>
                <a:ext uri="{C183D7F6-B498-43B3-948B-1728B52AA6E4}">
                  <adec:decorative xmlns:adec="http://schemas.microsoft.com/office/drawing/2017/decorative" val="1"/>
                </a:ext>
              </a:extLst>
            </p:cNvPr>
            <p:cNvSpPr txBox="1"/>
            <p:nvPr/>
          </p:nvSpPr>
          <p:spPr>
            <a:xfrm>
              <a:off x="3286732" y="3386066"/>
              <a:ext cx="1513305" cy="373218"/>
            </a:xfrm>
            <a:prstGeom prst="rect">
              <a:avLst/>
            </a:prstGeom>
            <a:noFill/>
          </p:spPr>
          <p:txBody>
            <a:bodyPr wrap="square" rtlCol="0">
              <a:spAutoFit/>
            </a:bodyPr>
            <a:lstStyle/>
            <a:p>
              <a:pPr algn="ctr"/>
              <a:r>
                <a:rPr lang="en-US" sz="1600" dirty="0"/>
                <a:t>Amazon EC2</a:t>
              </a:r>
            </a:p>
          </p:txBody>
        </p:sp>
        <p:pic>
          <p:nvPicPr>
            <p:cNvPr id="11" name="Graphic 10">
              <a:extLst>
                <a:ext uri="{FF2B5EF4-FFF2-40B4-BE49-F238E27FC236}">
                  <a16:creationId xmlns:a16="http://schemas.microsoft.com/office/drawing/2014/main" id="{9BD41A3F-CCF4-6E08-2427-2E4C56DFB45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8590" y="2794773"/>
              <a:ext cx="483546" cy="483546"/>
            </a:xfrm>
            <a:prstGeom prst="rect">
              <a:avLst/>
            </a:prstGeom>
          </p:spPr>
        </p:pic>
        <p:sp>
          <p:nvSpPr>
            <p:cNvPr id="12" name="Rectangle 11">
              <a:extLst>
                <a:ext uri="{FF2B5EF4-FFF2-40B4-BE49-F238E27FC236}">
                  <a16:creationId xmlns:a16="http://schemas.microsoft.com/office/drawing/2014/main" id="{D49E6D74-C8CB-E814-3441-074E2502BBA0}"/>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6">
                      <a:lumMod val="75000"/>
                    </a:schemeClr>
                  </a:solidFill>
                </a:rPr>
                <a:t>Availability Zone 2</a:t>
              </a:r>
            </a:p>
          </p:txBody>
        </p:sp>
        <p:sp>
          <p:nvSpPr>
            <p:cNvPr id="13" name="TextBox 12">
              <a:extLst>
                <a:ext uri="{FF2B5EF4-FFF2-40B4-BE49-F238E27FC236}">
                  <a16:creationId xmlns:a16="http://schemas.microsoft.com/office/drawing/2014/main" id="{6C1773D0-1448-D83B-3F99-09385EC8C74A}"/>
                </a:ext>
                <a:ext uri="{C183D7F6-B498-43B3-948B-1728B52AA6E4}">
                  <adec:decorative xmlns:adec="http://schemas.microsoft.com/office/drawing/2017/decorative" val="1"/>
                </a:ext>
              </a:extLst>
            </p:cNvPr>
            <p:cNvSpPr txBox="1"/>
            <p:nvPr/>
          </p:nvSpPr>
          <p:spPr>
            <a:xfrm>
              <a:off x="3499212" y="5010870"/>
              <a:ext cx="1741310" cy="644649"/>
            </a:xfrm>
            <a:prstGeom prst="rect">
              <a:avLst/>
            </a:prstGeom>
            <a:noFill/>
          </p:spPr>
          <p:txBody>
            <a:bodyPr wrap="square" rtlCol="0">
              <a:spAutoFit/>
            </a:bodyPr>
            <a:lstStyle/>
            <a:p>
              <a:pPr algn="ctr"/>
              <a:r>
                <a:rPr lang="en-US" sz="1600" dirty="0"/>
                <a:t>Amazon RDS </a:t>
              </a:r>
            </a:p>
            <a:p>
              <a:pPr algn="ctr"/>
              <a:r>
                <a:rPr lang="en-US" sz="1600" dirty="0"/>
                <a:t>instance</a:t>
              </a:r>
            </a:p>
          </p:txBody>
        </p:sp>
        <p:pic>
          <p:nvPicPr>
            <p:cNvPr id="14" name="Graphic 13">
              <a:extLst>
                <a:ext uri="{FF2B5EF4-FFF2-40B4-BE49-F238E27FC236}">
                  <a16:creationId xmlns:a16="http://schemas.microsoft.com/office/drawing/2014/main" id="{02886D7E-78C0-B9A9-A7AD-4B2C573E493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23114" y="4477337"/>
              <a:ext cx="537998" cy="537998"/>
            </a:xfrm>
            <a:prstGeom prst="rect">
              <a:avLst/>
            </a:prstGeom>
          </p:spPr>
        </p:pic>
        <p:pic>
          <p:nvPicPr>
            <p:cNvPr id="15" name="Graphic 14">
              <a:extLst>
                <a:ext uri="{FF2B5EF4-FFF2-40B4-BE49-F238E27FC236}">
                  <a16:creationId xmlns:a16="http://schemas.microsoft.com/office/drawing/2014/main" id="{D785C3A4-3586-A8B3-C13D-0B6E6C340E6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38924" y="4477337"/>
              <a:ext cx="537998" cy="537998"/>
            </a:xfrm>
            <a:prstGeom prst="rect">
              <a:avLst/>
            </a:prstGeom>
          </p:spPr>
        </p:pic>
        <p:sp>
          <p:nvSpPr>
            <p:cNvPr id="16" name="TextBox 15">
              <a:extLst>
                <a:ext uri="{FF2B5EF4-FFF2-40B4-BE49-F238E27FC236}">
                  <a16:creationId xmlns:a16="http://schemas.microsoft.com/office/drawing/2014/main" id="{6FBAFCA2-80CA-AC1E-A5D1-2F2BA354E6CB}"/>
                </a:ext>
                <a:ext uri="{C183D7F6-B498-43B3-948B-1728B52AA6E4}">
                  <adec:decorative xmlns:adec="http://schemas.microsoft.com/office/drawing/2017/decorative" val="1"/>
                </a:ext>
              </a:extLst>
            </p:cNvPr>
            <p:cNvSpPr txBox="1"/>
            <p:nvPr/>
          </p:nvSpPr>
          <p:spPr>
            <a:xfrm>
              <a:off x="8145721" y="5115767"/>
              <a:ext cx="1524403" cy="644649"/>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17" name="Arrow: Right 16">
              <a:extLst>
                <a:ext uri="{FF2B5EF4-FFF2-40B4-BE49-F238E27FC236}">
                  <a16:creationId xmlns:a16="http://schemas.microsoft.com/office/drawing/2014/main" id="{6ECA4B89-CCC8-A45E-1465-80BA823AFE36}"/>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TextBox 17">
              <a:extLst>
                <a:ext uri="{FF2B5EF4-FFF2-40B4-BE49-F238E27FC236}">
                  <a16:creationId xmlns:a16="http://schemas.microsoft.com/office/drawing/2014/main" id="{C07D9254-73D0-596C-559F-2735D2549E23}"/>
                </a:ext>
                <a:ext uri="{C183D7F6-B498-43B3-948B-1728B52AA6E4}">
                  <adec:decorative xmlns:adec="http://schemas.microsoft.com/office/drawing/2017/decorative" val="1"/>
                </a:ext>
              </a:extLst>
            </p:cNvPr>
            <p:cNvSpPr txBox="1"/>
            <p:nvPr/>
          </p:nvSpPr>
          <p:spPr>
            <a:xfrm>
              <a:off x="5744934" y="4720690"/>
              <a:ext cx="1543280" cy="373218"/>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19" name="Rectangle: Rounded Corners 18">
              <a:extLst>
                <a:ext uri="{FF2B5EF4-FFF2-40B4-BE49-F238E27FC236}">
                  <a16:creationId xmlns:a16="http://schemas.microsoft.com/office/drawing/2014/main" id="{D4C91DA0-48A4-D344-E230-659DC29FBD20}"/>
                </a:ext>
                <a:ext uri="{C183D7F6-B498-43B3-948B-1728B52AA6E4}">
                  <adec:decorative xmlns:adec="http://schemas.microsoft.com/office/drawing/2017/decorative" val="1"/>
                </a:ext>
              </a:extLst>
            </p:cNvPr>
            <p:cNvSpPr/>
            <p:nvPr/>
          </p:nvSpPr>
          <p:spPr>
            <a:xfrm>
              <a:off x="5163284"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dirty="0"/>
            </a:p>
          </p:txBody>
        </p:sp>
        <p:sp>
          <p:nvSpPr>
            <p:cNvPr id="20" name="TextBox 19">
              <a:extLst>
                <a:ext uri="{FF2B5EF4-FFF2-40B4-BE49-F238E27FC236}">
                  <a16:creationId xmlns:a16="http://schemas.microsoft.com/office/drawing/2014/main" id="{273D671A-DB42-9778-4C60-412436965057}"/>
                </a:ext>
                <a:ext uri="{C183D7F6-B498-43B3-948B-1728B52AA6E4}">
                  <adec:decorative xmlns:adec="http://schemas.microsoft.com/office/drawing/2017/decorative" val="1"/>
                </a:ext>
              </a:extLst>
            </p:cNvPr>
            <p:cNvSpPr txBox="1"/>
            <p:nvPr/>
          </p:nvSpPr>
          <p:spPr>
            <a:xfrm>
              <a:off x="4808579" y="3386066"/>
              <a:ext cx="1384047" cy="373218"/>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21" name="Straight Arrow Connector 20">
              <a:extLst>
                <a:ext uri="{FF2B5EF4-FFF2-40B4-BE49-F238E27FC236}">
                  <a16:creationId xmlns:a16="http://schemas.microsoft.com/office/drawing/2014/main" id="{90A0EA74-064E-45ED-241F-E4BFD7F97B76}"/>
                </a:ext>
                <a:ext uri="{C183D7F6-B498-43B3-948B-1728B52AA6E4}">
                  <adec:decorative xmlns:adec="http://schemas.microsoft.com/office/drawing/2017/decorative" val="1"/>
                </a:ext>
              </a:extLst>
            </p:cNvPr>
            <p:cNvCxnSpPr>
              <a:cxnSpLocks/>
            </p:cNvCxnSpPr>
            <p:nvPr/>
          </p:nvCxnSpPr>
          <p:spPr>
            <a:xfrm>
              <a:off x="5372806" y="3737088"/>
              <a:ext cx="2124644" cy="1021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EA8285CF-AA55-605F-B70C-5D41D0E39CEA}"/>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33" name="Graphic 32">
                <a:extLst>
                  <a:ext uri="{FF2B5EF4-FFF2-40B4-BE49-F238E27FC236}">
                    <a16:creationId xmlns:a16="http://schemas.microsoft.com/office/drawing/2014/main" id="{7F931F6A-A445-D27A-49BA-C0A9F8630414}"/>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73782" y="4434743"/>
                <a:ext cx="640080" cy="640080"/>
              </a:xfrm>
              <a:prstGeom prst="rect">
                <a:avLst/>
              </a:prstGeom>
            </p:spPr>
          </p:pic>
          <p:sp>
            <p:nvSpPr>
              <p:cNvPr id="34" name="TextBox 33">
                <a:extLst>
                  <a:ext uri="{FF2B5EF4-FFF2-40B4-BE49-F238E27FC236}">
                    <a16:creationId xmlns:a16="http://schemas.microsoft.com/office/drawing/2014/main" id="{527C7A1D-41B7-1AE8-942B-9E0CA1C2BDE9}"/>
                  </a:ext>
                  <a:ext uri="{C183D7F6-B498-43B3-948B-1728B52AA6E4}">
                    <adec:decorative xmlns:adec="http://schemas.microsoft.com/office/drawing/2017/decorative" val="1"/>
                  </a:ext>
                </a:extLst>
              </p:cNvPr>
              <p:cNvSpPr txBox="1"/>
              <p:nvPr/>
            </p:nvSpPr>
            <p:spPr>
              <a:xfrm>
                <a:off x="5317331" y="4656612"/>
                <a:ext cx="352981" cy="373218"/>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23" name="Group 22">
              <a:extLst>
                <a:ext uri="{FF2B5EF4-FFF2-40B4-BE49-F238E27FC236}">
                  <a16:creationId xmlns:a16="http://schemas.microsoft.com/office/drawing/2014/main" id="{8859CC38-34F7-8080-8508-845C6E7B4EC7}"/>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31" name="Graphic 30">
                <a:extLst>
                  <a:ext uri="{FF2B5EF4-FFF2-40B4-BE49-F238E27FC236}">
                    <a16:creationId xmlns:a16="http://schemas.microsoft.com/office/drawing/2014/main" id="{C8A15084-F853-0F58-43FD-649C47271F84}"/>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8355" y="4443120"/>
                <a:ext cx="640080" cy="640080"/>
              </a:xfrm>
              <a:prstGeom prst="rect">
                <a:avLst/>
              </a:prstGeom>
            </p:spPr>
          </p:pic>
          <p:sp>
            <p:nvSpPr>
              <p:cNvPr id="32" name="TextBox 31">
                <a:extLst>
                  <a:ext uri="{FF2B5EF4-FFF2-40B4-BE49-F238E27FC236}">
                    <a16:creationId xmlns:a16="http://schemas.microsoft.com/office/drawing/2014/main" id="{91364A52-6BF5-C140-C97B-006BBFDCCDBD}"/>
                  </a:ext>
                  <a:ext uri="{C183D7F6-B498-43B3-948B-1728B52AA6E4}">
                    <adec:decorative xmlns:adec="http://schemas.microsoft.com/office/drawing/2017/decorative" val="1"/>
                  </a:ext>
                </a:extLst>
              </p:cNvPr>
              <p:cNvSpPr txBox="1"/>
              <p:nvPr/>
            </p:nvSpPr>
            <p:spPr>
              <a:xfrm>
                <a:off x="7179155" y="4656612"/>
                <a:ext cx="343979" cy="373218"/>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24" name="Rectangle 23">
              <a:extLst>
                <a:ext uri="{FF2B5EF4-FFF2-40B4-BE49-F238E27FC236}">
                  <a16:creationId xmlns:a16="http://schemas.microsoft.com/office/drawing/2014/main" id="{D8AA4CB4-2947-8138-8425-E20F4EEE3793}"/>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25" name="Graphic 24">
              <a:extLst>
                <a:ext uri="{FF2B5EF4-FFF2-40B4-BE49-F238E27FC236}">
                  <a16:creationId xmlns:a16="http://schemas.microsoft.com/office/drawing/2014/main" id="{2254173D-3653-402E-D22B-CA3A16DB1C2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1789" y="1285494"/>
              <a:ext cx="457200" cy="457200"/>
            </a:xfrm>
            <a:prstGeom prst="rect">
              <a:avLst/>
            </a:prstGeom>
          </p:spPr>
        </p:pic>
        <p:pic>
          <p:nvPicPr>
            <p:cNvPr id="26" name="Graphic 25">
              <a:extLst>
                <a:ext uri="{FF2B5EF4-FFF2-40B4-BE49-F238E27FC236}">
                  <a16:creationId xmlns:a16="http://schemas.microsoft.com/office/drawing/2014/main" id="{7227FB29-0510-CDAC-20C8-7BDE3E691BA1}"/>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99617" y="2026835"/>
              <a:ext cx="457200" cy="457200"/>
            </a:xfrm>
            <a:prstGeom prst="rect">
              <a:avLst/>
            </a:prstGeom>
          </p:spPr>
        </p:pic>
        <p:pic>
          <p:nvPicPr>
            <p:cNvPr id="27" name="Graphic 26">
              <a:extLst>
                <a:ext uri="{FF2B5EF4-FFF2-40B4-BE49-F238E27FC236}">
                  <a16:creationId xmlns:a16="http://schemas.microsoft.com/office/drawing/2014/main" id="{48DE0B98-B26B-EDCB-2F87-6BF37D640950}"/>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73417" y="2232916"/>
              <a:ext cx="457200" cy="457200"/>
            </a:xfrm>
            <a:prstGeom prst="rect">
              <a:avLst/>
            </a:prstGeom>
          </p:spPr>
        </p:pic>
        <p:pic>
          <p:nvPicPr>
            <p:cNvPr id="28" name="Graphic 27">
              <a:extLst>
                <a:ext uri="{FF2B5EF4-FFF2-40B4-BE49-F238E27FC236}">
                  <a16:creationId xmlns:a16="http://schemas.microsoft.com/office/drawing/2014/main" id="{EBF7C064-117A-F0C6-3184-E1DFBEF50EAE}"/>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190567" y="4087465"/>
              <a:ext cx="457200" cy="457200"/>
            </a:xfrm>
            <a:prstGeom prst="rect">
              <a:avLst/>
            </a:prstGeom>
          </p:spPr>
        </p:pic>
        <p:pic>
          <p:nvPicPr>
            <p:cNvPr id="29" name="Graphic 28">
              <a:extLst>
                <a:ext uri="{FF2B5EF4-FFF2-40B4-BE49-F238E27FC236}">
                  <a16:creationId xmlns:a16="http://schemas.microsoft.com/office/drawing/2014/main" id="{46B13674-A9C2-F4A2-0555-17C18F3634C3}"/>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85626" y="4087465"/>
              <a:ext cx="457200" cy="457200"/>
            </a:xfrm>
            <a:prstGeom prst="rect">
              <a:avLst/>
            </a:prstGeom>
          </p:spPr>
        </p:pic>
        <p:sp>
          <p:nvSpPr>
            <p:cNvPr id="30" name="Rectangle 29">
              <a:extLst>
                <a:ext uri="{FF2B5EF4-FFF2-40B4-BE49-F238E27FC236}">
                  <a16:creationId xmlns:a16="http://schemas.microsoft.com/office/drawing/2014/main" id="{710A8BAC-AC6C-EB64-B666-83146EF47D84}"/>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600" kern="0" dirty="0">
                  <a:ln w="0"/>
                  <a:solidFill>
                    <a:srgbClr val="1D8900"/>
                  </a:solidFill>
                  <a:latin typeface="Arial" panose="020B0604020202020204"/>
                </a:rPr>
                <a:t> VPC</a:t>
              </a:r>
            </a:p>
          </p:txBody>
        </p:sp>
      </p:grpSp>
    </p:spTree>
    <p:extLst>
      <p:ext uri="{BB962C8B-B14F-4D97-AF65-F5344CB8AC3E}">
        <p14:creationId xmlns:p14="http://schemas.microsoft.com/office/powerpoint/2010/main" val="225238384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BF5B-819B-4645-5C05-AF7923FE1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BFE05-9A55-CE25-3E26-46E1D9E58BFF}"/>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CF67DC95-07C7-45E1-FDDE-0A6F6094CCCA}"/>
              </a:ext>
            </a:extLst>
          </p:cNvPr>
          <p:cNvSpPr>
            <a:spLocks noGrp="1"/>
          </p:cNvSpPr>
          <p:nvPr>
            <p:ph type="body" sz="quarter" idx="10"/>
          </p:nvPr>
        </p:nvSpPr>
        <p:spPr/>
        <p:txBody>
          <a:bodyPr>
            <a:normAutofit lnSpcReduction="10000"/>
          </a:bodyPr>
          <a:lstStyle/>
          <a:p>
            <a:r>
              <a:rPr lang="en-US" sz="2400" dirty="0"/>
              <a:t>Amazon RDS read replicas</a:t>
            </a:r>
          </a:p>
        </p:txBody>
      </p:sp>
      <p:sp>
        <p:nvSpPr>
          <p:cNvPr id="4" name="Rectangle 3">
            <a:extLst>
              <a:ext uri="{FF2B5EF4-FFF2-40B4-BE49-F238E27FC236}">
                <a16:creationId xmlns:a16="http://schemas.microsoft.com/office/drawing/2014/main" id="{39B80E64-B6A5-72AA-1F5B-F0CA21B902A4}"/>
              </a:ext>
            </a:extLst>
          </p:cNvPr>
          <p:cNvSpPr/>
          <p:nvPr/>
        </p:nvSpPr>
        <p:spPr>
          <a:xfrm>
            <a:off x="1790946" y="1981200"/>
            <a:ext cx="490699" cy="4106224"/>
          </a:xfrm>
          <a:prstGeom prst="rect">
            <a:avLst/>
          </a:prstGeom>
          <a:solidFill>
            <a:srgbClr val="F7F7F7"/>
          </a:solidFill>
          <a:ln>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itle 1">
            <a:extLst>
              <a:ext uri="{FF2B5EF4-FFF2-40B4-BE49-F238E27FC236}">
                <a16:creationId xmlns:a16="http://schemas.microsoft.com/office/drawing/2014/main" id="{BAE8147D-55D8-7F89-E34D-F12040587B37}"/>
              </a:ext>
            </a:extLst>
          </p:cNvPr>
          <p:cNvSpPr txBox="1">
            <a:spLocks/>
          </p:cNvSpPr>
          <p:nvPr/>
        </p:nvSpPr>
        <p:spPr>
          <a:xfrm>
            <a:off x="40386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6" name="Content Placeholder 4">
            <a:extLst>
              <a:ext uri="{FF2B5EF4-FFF2-40B4-BE49-F238E27FC236}">
                <a16:creationId xmlns:a16="http://schemas.microsoft.com/office/drawing/2014/main" id="{A593A5CF-E416-FD20-64B4-455BB1D921FE}"/>
              </a:ext>
            </a:extLst>
          </p:cNvPr>
          <p:cNvSpPr txBox="1">
            <a:spLocks/>
          </p:cNvSpPr>
          <p:nvPr/>
        </p:nvSpPr>
        <p:spPr>
          <a:xfrm>
            <a:off x="7396756" y="2013747"/>
            <a:ext cx="3094061" cy="2081274"/>
          </a:xfrm>
        </p:spPr>
        <p:txBody>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200"/>
              </a:spcBef>
              <a:buNone/>
            </a:pPr>
            <a:r>
              <a:rPr lang="en-US" sz="1800" b="1" dirty="0"/>
              <a:t>Features</a:t>
            </a:r>
          </a:p>
          <a:p>
            <a:pPr algn="just">
              <a:spcBef>
                <a:spcPts val="1200"/>
              </a:spcBef>
            </a:pPr>
            <a:r>
              <a:rPr lang="en-US" sz="1800" dirty="0"/>
              <a:t>Offers asynchronous replication </a:t>
            </a:r>
          </a:p>
          <a:p>
            <a:pPr algn="just">
              <a:spcBef>
                <a:spcPts val="1200"/>
              </a:spcBef>
            </a:pPr>
            <a:r>
              <a:rPr lang="en-US" sz="1800" dirty="0"/>
              <a:t>Can be promoted to primary if needed</a:t>
            </a:r>
          </a:p>
          <a:p>
            <a:pPr marL="0" indent="0" algn="just">
              <a:spcBef>
                <a:spcPts val="1200"/>
              </a:spcBef>
              <a:buNone/>
            </a:pPr>
            <a:r>
              <a:rPr lang="en-US" sz="1800" b="1" dirty="0"/>
              <a:t>Functionality</a:t>
            </a:r>
          </a:p>
          <a:p>
            <a:pPr algn="just">
              <a:spcBef>
                <a:spcPts val="1200"/>
              </a:spcBef>
            </a:pPr>
            <a:r>
              <a:rPr lang="en-US" sz="1800" dirty="0"/>
              <a:t>Use for read-heavy database workloads</a:t>
            </a:r>
          </a:p>
          <a:p>
            <a:pPr algn="just">
              <a:spcBef>
                <a:spcPts val="1200"/>
              </a:spcBef>
            </a:pPr>
            <a:r>
              <a:rPr lang="en-US" sz="1800" dirty="0"/>
              <a:t>Offload read queries</a:t>
            </a:r>
          </a:p>
        </p:txBody>
      </p:sp>
      <p:grpSp>
        <p:nvGrpSpPr>
          <p:cNvPr id="7" name="Group 6" descr="amazon rds instance with read replica in vpc private subnet.">
            <a:extLst>
              <a:ext uri="{FF2B5EF4-FFF2-40B4-BE49-F238E27FC236}">
                <a16:creationId xmlns:a16="http://schemas.microsoft.com/office/drawing/2014/main" id="{313B38D9-7D66-0572-CCF3-774944FC6F05}"/>
              </a:ext>
            </a:extLst>
          </p:cNvPr>
          <p:cNvGrpSpPr/>
          <p:nvPr/>
        </p:nvGrpSpPr>
        <p:grpSpPr>
          <a:xfrm>
            <a:off x="1751193" y="1981200"/>
            <a:ext cx="5538497" cy="4106224"/>
            <a:chOff x="5899867" y="1285494"/>
            <a:chExt cx="5930383" cy="4943278"/>
          </a:xfrm>
        </p:grpSpPr>
        <p:sp>
          <p:nvSpPr>
            <p:cNvPr id="8" name="Rectangle 7">
              <a:extLst>
                <a:ext uri="{FF2B5EF4-FFF2-40B4-BE49-F238E27FC236}">
                  <a16:creationId xmlns:a16="http://schemas.microsoft.com/office/drawing/2014/main" id="{B02101BA-8B8D-43DE-1A95-D30DE912B825}"/>
                </a:ext>
                <a:ext uri="{C183D7F6-B498-43B3-948B-1728B52AA6E4}">
                  <adec:decorative xmlns:adec="http://schemas.microsoft.com/office/drawing/2017/decorative" val="1"/>
                </a:ext>
              </a:extLst>
            </p:cNvPr>
            <p:cNvSpPr/>
            <p:nvPr/>
          </p:nvSpPr>
          <p:spPr>
            <a:xfrm>
              <a:off x="7426379" y="4012079"/>
              <a:ext cx="3657600" cy="172095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200" kern="0" dirty="0">
                  <a:solidFill>
                    <a:srgbClr val="007CBC"/>
                  </a:solidFill>
                  <a:latin typeface="Arial" panose="020B0604020202020204"/>
                </a:rPr>
                <a:t>   </a:t>
              </a:r>
              <a:r>
                <a:rPr lang="en-US" sz="1200" kern="0" dirty="0">
                  <a:solidFill>
                    <a:srgbClr val="0070C0"/>
                  </a:solidFill>
                  <a:latin typeface="Arial" panose="020B0604020202020204"/>
                </a:rPr>
                <a:t>Private subnet</a:t>
              </a:r>
            </a:p>
          </p:txBody>
        </p:sp>
        <p:sp>
          <p:nvSpPr>
            <p:cNvPr id="9" name="Rectangle 8">
              <a:extLst>
                <a:ext uri="{FF2B5EF4-FFF2-40B4-BE49-F238E27FC236}">
                  <a16:creationId xmlns:a16="http://schemas.microsoft.com/office/drawing/2014/main" id="{139A5D5C-A74C-19A0-0B9A-E1E9BA63F14B}"/>
                </a:ext>
                <a:ext uri="{C183D7F6-B498-43B3-948B-1728B52AA6E4}">
                  <adec:decorative xmlns:adec="http://schemas.microsoft.com/office/drawing/2017/decorative" val="1"/>
                </a:ext>
              </a:extLst>
            </p:cNvPr>
            <p:cNvSpPr/>
            <p:nvPr/>
          </p:nvSpPr>
          <p:spPr>
            <a:xfrm>
              <a:off x="7426378" y="2310870"/>
              <a:ext cx="36576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defRPr/>
              </a:pPr>
              <a:r>
                <a:rPr lang="en-US" sz="1200" kern="0" dirty="0">
                  <a:solidFill>
                    <a:srgbClr val="1D8900"/>
                  </a:solidFill>
                  <a:latin typeface="Arial" panose="020B0604020202020204"/>
                </a:rPr>
                <a:t>   Public subnet</a:t>
              </a:r>
            </a:p>
          </p:txBody>
        </p:sp>
        <p:sp>
          <p:nvSpPr>
            <p:cNvPr id="10" name="Rectangle 9">
              <a:extLst>
                <a:ext uri="{FF2B5EF4-FFF2-40B4-BE49-F238E27FC236}">
                  <a16:creationId xmlns:a16="http://schemas.microsoft.com/office/drawing/2014/main" id="{82CB6DF9-3D94-2EAD-3EC8-323E986B00D7}"/>
                </a:ext>
                <a:ext uri="{C183D7F6-B498-43B3-948B-1728B52AA6E4}">
                  <adec:decorative xmlns:adec="http://schemas.microsoft.com/office/drawing/2017/decorative" val="1"/>
                </a:ext>
              </a:extLst>
            </p:cNvPr>
            <p:cNvSpPr/>
            <p:nvPr/>
          </p:nvSpPr>
          <p:spPr>
            <a:xfrm>
              <a:off x="7184979" y="1626946"/>
              <a:ext cx="4106797" cy="436427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chemeClr val="accent6">
                      <a:lumMod val="75000"/>
                    </a:schemeClr>
                  </a:solidFill>
                </a:rPr>
                <a:t>Availability Zone </a:t>
              </a:r>
            </a:p>
          </p:txBody>
        </p:sp>
        <p:sp>
          <p:nvSpPr>
            <p:cNvPr id="11" name="TextBox 10">
              <a:extLst>
                <a:ext uri="{FF2B5EF4-FFF2-40B4-BE49-F238E27FC236}">
                  <a16:creationId xmlns:a16="http://schemas.microsoft.com/office/drawing/2014/main" id="{3B19883F-7C2D-5CFA-4620-39A469542A42}"/>
                </a:ext>
                <a:ext uri="{C183D7F6-B498-43B3-948B-1728B52AA6E4}">
                  <adec:decorative xmlns:adec="http://schemas.microsoft.com/office/drawing/2017/decorative" val="1"/>
                </a:ext>
              </a:extLst>
            </p:cNvPr>
            <p:cNvSpPr txBox="1"/>
            <p:nvPr/>
          </p:nvSpPr>
          <p:spPr>
            <a:xfrm>
              <a:off x="7507637" y="3255197"/>
              <a:ext cx="1513306" cy="333465"/>
            </a:xfrm>
            <a:prstGeom prst="rect">
              <a:avLst/>
            </a:prstGeom>
            <a:noFill/>
          </p:spPr>
          <p:txBody>
            <a:bodyPr wrap="square" rtlCol="0">
              <a:spAutoFit/>
            </a:bodyPr>
            <a:lstStyle/>
            <a:p>
              <a:pPr algn="ctr"/>
              <a:r>
                <a:rPr lang="en-US" sz="1200" dirty="0"/>
                <a:t>Amazon EC2</a:t>
              </a:r>
            </a:p>
          </p:txBody>
        </p:sp>
        <p:pic>
          <p:nvPicPr>
            <p:cNvPr id="12" name="Graphic 11">
              <a:extLst>
                <a:ext uri="{FF2B5EF4-FFF2-40B4-BE49-F238E27FC236}">
                  <a16:creationId xmlns:a16="http://schemas.microsoft.com/office/drawing/2014/main" id="{16BF9CE7-E5DC-8017-BC53-F0D6D00F002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79495" y="2752243"/>
              <a:ext cx="483546" cy="483546"/>
            </a:xfrm>
            <a:prstGeom prst="rect">
              <a:avLst/>
            </a:prstGeom>
          </p:spPr>
        </p:pic>
        <p:sp>
          <p:nvSpPr>
            <p:cNvPr id="13" name="Rectangle: Rounded Corners 12">
              <a:extLst>
                <a:ext uri="{FF2B5EF4-FFF2-40B4-BE49-F238E27FC236}">
                  <a16:creationId xmlns:a16="http://schemas.microsoft.com/office/drawing/2014/main" id="{F831ED66-C29D-C214-2CDF-1A5FD78FCBF6}"/>
                </a:ext>
                <a:ext uri="{C183D7F6-B498-43B3-948B-1728B52AA6E4}">
                  <adec:decorative xmlns:adec="http://schemas.microsoft.com/office/drawing/2017/decorative" val="1"/>
                </a:ext>
              </a:extLst>
            </p:cNvPr>
            <p:cNvSpPr/>
            <p:nvPr/>
          </p:nvSpPr>
          <p:spPr>
            <a:xfrm>
              <a:off x="9799237"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200" dirty="0"/>
            </a:p>
          </p:txBody>
        </p:sp>
        <p:sp>
          <p:nvSpPr>
            <p:cNvPr id="14" name="TextBox 13">
              <a:extLst>
                <a:ext uri="{FF2B5EF4-FFF2-40B4-BE49-F238E27FC236}">
                  <a16:creationId xmlns:a16="http://schemas.microsoft.com/office/drawing/2014/main" id="{4B42FCA0-1FCB-3B51-0D04-A34855752972}"/>
                </a:ext>
                <a:ext uri="{C183D7F6-B498-43B3-948B-1728B52AA6E4}">
                  <adec:decorative xmlns:adec="http://schemas.microsoft.com/office/drawing/2017/decorative" val="1"/>
                </a:ext>
              </a:extLst>
            </p:cNvPr>
            <p:cNvSpPr txBox="1"/>
            <p:nvPr/>
          </p:nvSpPr>
          <p:spPr>
            <a:xfrm>
              <a:off x="9444533" y="3255197"/>
              <a:ext cx="953509" cy="333465"/>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sp>
          <p:nvSpPr>
            <p:cNvPr id="15" name="TextBox 14">
              <a:extLst>
                <a:ext uri="{FF2B5EF4-FFF2-40B4-BE49-F238E27FC236}">
                  <a16:creationId xmlns:a16="http://schemas.microsoft.com/office/drawing/2014/main" id="{3B95C7D3-0330-99AE-E20B-C0DE888D7A6C}"/>
                </a:ext>
                <a:ext uri="{C183D7F6-B498-43B3-948B-1728B52AA6E4}">
                  <adec:decorative xmlns:adec="http://schemas.microsoft.com/office/drawing/2017/decorative" val="1"/>
                </a:ext>
              </a:extLst>
            </p:cNvPr>
            <p:cNvSpPr txBox="1"/>
            <p:nvPr/>
          </p:nvSpPr>
          <p:spPr>
            <a:xfrm>
              <a:off x="7756221" y="5138482"/>
              <a:ext cx="1741310" cy="555775"/>
            </a:xfrm>
            <a:prstGeom prst="rect">
              <a:avLst/>
            </a:prstGeom>
            <a:noFill/>
          </p:spPr>
          <p:txBody>
            <a:bodyPr wrap="square" rtlCol="0">
              <a:spAutoFit/>
            </a:bodyPr>
            <a:lstStyle/>
            <a:p>
              <a:pPr algn="ctr"/>
              <a:r>
                <a:rPr lang="en-US" sz="1200" dirty="0"/>
                <a:t>Amazon RDS </a:t>
              </a:r>
            </a:p>
            <a:p>
              <a:pPr algn="ctr"/>
              <a:r>
                <a:rPr lang="en-US" sz="1200" dirty="0"/>
                <a:t>primary instance</a:t>
              </a:r>
            </a:p>
          </p:txBody>
        </p:sp>
        <p:pic>
          <p:nvPicPr>
            <p:cNvPr id="16" name="Graphic 15">
              <a:extLst>
                <a:ext uri="{FF2B5EF4-FFF2-40B4-BE49-F238E27FC236}">
                  <a16:creationId xmlns:a16="http://schemas.microsoft.com/office/drawing/2014/main" id="{AEDDD3DD-6805-EB38-28D5-50F7236CF4A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6837" y="4499988"/>
              <a:ext cx="640080" cy="640080"/>
            </a:xfrm>
            <a:prstGeom prst="rect">
              <a:avLst/>
            </a:prstGeom>
          </p:spPr>
        </p:pic>
        <p:sp>
          <p:nvSpPr>
            <p:cNvPr id="17" name="TextBox 16">
              <a:extLst>
                <a:ext uri="{FF2B5EF4-FFF2-40B4-BE49-F238E27FC236}">
                  <a16:creationId xmlns:a16="http://schemas.microsoft.com/office/drawing/2014/main" id="{FF9D60C7-5CED-0D1F-01CA-B9986DC0AF71}"/>
                </a:ext>
                <a:ext uri="{C183D7F6-B498-43B3-948B-1728B52AA6E4}">
                  <adec:decorative xmlns:adec="http://schemas.microsoft.com/office/drawing/2017/decorative" val="1"/>
                </a:ext>
              </a:extLst>
            </p:cNvPr>
            <p:cNvSpPr txBox="1"/>
            <p:nvPr/>
          </p:nvSpPr>
          <p:spPr>
            <a:xfrm>
              <a:off x="8488666" y="4627783"/>
              <a:ext cx="261509" cy="333465"/>
            </a:xfrm>
            <a:prstGeom prst="rect">
              <a:avLst/>
            </a:prstGeom>
            <a:noFill/>
          </p:spPr>
          <p:txBody>
            <a:bodyPr wrap="square"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P</a:t>
              </a:r>
            </a:p>
          </p:txBody>
        </p:sp>
        <p:sp>
          <p:nvSpPr>
            <p:cNvPr id="18" name="Arrow: Right 17">
              <a:extLst>
                <a:ext uri="{FF2B5EF4-FFF2-40B4-BE49-F238E27FC236}">
                  <a16:creationId xmlns:a16="http://schemas.microsoft.com/office/drawing/2014/main" id="{9B77BEE8-9492-0E5C-6A00-B06C5591DAC9}"/>
                </a:ext>
                <a:ext uri="{C183D7F6-B498-43B3-948B-1728B52AA6E4}">
                  <adec:decorative xmlns:adec="http://schemas.microsoft.com/office/drawing/2017/decorative" val="1"/>
                </a:ext>
              </a:extLst>
            </p:cNvPr>
            <p:cNvSpPr/>
            <p:nvPr/>
          </p:nvSpPr>
          <p:spPr>
            <a:xfrm>
              <a:off x="8971489" y="4573013"/>
              <a:ext cx="842684" cy="325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9" name="Graphic 18">
              <a:extLst>
                <a:ext uri="{FF2B5EF4-FFF2-40B4-BE49-F238E27FC236}">
                  <a16:creationId xmlns:a16="http://schemas.microsoft.com/office/drawing/2014/main" id="{A8704E41-A184-F372-B9A8-E0DC1AF45EC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5412" y="4490463"/>
              <a:ext cx="640080" cy="640080"/>
            </a:xfrm>
            <a:prstGeom prst="rect">
              <a:avLst/>
            </a:prstGeom>
          </p:spPr>
        </p:pic>
        <p:sp>
          <p:nvSpPr>
            <p:cNvPr id="20" name="TextBox 19">
              <a:extLst>
                <a:ext uri="{FF2B5EF4-FFF2-40B4-BE49-F238E27FC236}">
                  <a16:creationId xmlns:a16="http://schemas.microsoft.com/office/drawing/2014/main" id="{A516D9AD-105D-3471-853E-EA1398E16924}"/>
                </a:ext>
                <a:ext uri="{C183D7F6-B498-43B3-948B-1728B52AA6E4}">
                  <adec:decorative xmlns:adec="http://schemas.microsoft.com/office/drawing/2017/decorative" val="1"/>
                </a:ext>
              </a:extLst>
            </p:cNvPr>
            <p:cNvSpPr txBox="1"/>
            <p:nvPr/>
          </p:nvSpPr>
          <p:spPr>
            <a:xfrm>
              <a:off x="9927321" y="4593917"/>
              <a:ext cx="286986" cy="333465"/>
            </a:xfrm>
            <a:prstGeom prst="rect">
              <a:avLst/>
            </a:prstGeom>
            <a:noFill/>
          </p:spPr>
          <p:txBody>
            <a:bodyPr wrap="none" rtlCol="0">
              <a:spAutoFit/>
            </a:bodyPr>
            <a:lstStyle/>
            <a:p>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R</a:t>
              </a:r>
            </a:p>
          </p:txBody>
        </p:sp>
        <p:sp>
          <p:nvSpPr>
            <p:cNvPr id="21" name="TextBox 20">
              <a:extLst>
                <a:ext uri="{FF2B5EF4-FFF2-40B4-BE49-F238E27FC236}">
                  <a16:creationId xmlns:a16="http://schemas.microsoft.com/office/drawing/2014/main" id="{3410010A-0E68-FF77-CECE-4C7B5DC1C482}"/>
                </a:ext>
                <a:ext uri="{C183D7F6-B498-43B3-948B-1728B52AA6E4}">
                  <adec:decorative xmlns:adec="http://schemas.microsoft.com/office/drawing/2017/decorative" val="1"/>
                </a:ext>
              </a:extLst>
            </p:cNvPr>
            <p:cNvSpPr txBox="1"/>
            <p:nvPr/>
          </p:nvSpPr>
          <p:spPr>
            <a:xfrm>
              <a:off x="9254797" y="5154398"/>
              <a:ext cx="1741310" cy="555775"/>
            </a:xfrm>
            <a:prstGeom prst="rect">
              <a:avLst/>
            </a:prstGeom>
            <a:noFill/>
          </p:spPr>
          <p:txBody>
            <a:bodyPr wrap="square" rtlCol="0">
              <a:spAutoFit/>
            </a:bodyPr>
            <a:lstStyle/>
            <a:p>
              <a:pPr algn="ctr"/>
              <a:r>
                <a:rPr lang="en-US" sz="1200" dirty="0"/>
                <a:t> Read replica </a:t>
              </a:r>
            </a:p>
            <a:p>
              <a:pPr algn="ctr"/>
              <a:r>
                <a:rPr lang="en-US" sz="1200" dirty="0"/>
                <a:t>instance</a:t>
              </a:r>
            </a:p>
          </p:txBody>
        </p:sp>
        <p:cxnSp>
          <p:nvCxnSpPr>
            <p:cNvPr id="22" name="Straight Arrow Connector 21">
              <a:extLst>
                <a:ext uri="{FF2B5EF4-FFF2-40B4-BE49-F238E27FC236}">
                  <a16:creationId xmlns:a16="http://schemas.microsoft.com/office/drawing/2014/main" id="{8E669158-AA72-0E54-16DD-EFD8C885EE1A}"/>
                </a:ext>
                <a:ext uri="{C183D7F6-B498-43B3-948B-1728B52AA6E4}">
                  <adec:decorative xmlns:adec="http://schemas.microsoft.com/office/drawing/2017/decorative" val="1"/>
                </a:ext>
              </a:extLst>
            </p:cNvPr>
            <p:cNvCxnSpPr>
              <a:cxnSpLocks/>
              <a:stCxn id="14" idx="2"/>
              <a:endCxn id="16" idx="0"/>
            </p:cNvCxnSpPr>
            <p:nvPr/>
          </p:nvCxnSpPr>
          <p:spPr>
            <a:xfrm flipH="1">
              <a:off x="8626878" y="3588663"/>
              <a:ext cx="1294410" cy="911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C36711F-0E1D-F3D7-6CEC-26664BA6A9C2}"/>
                </a:ext>
                <a:ext uri="{C183D7F6-B498-43B3-948B-1728B52AA6E4}">
                  <adec:decorative xmlns:adec="http://schemas.microsoft.com/office/drawing/2017/decorative" val="1"/>
                </a:ext>
              </a:extLst>
            </p:cNvPr>
            <p:cNvCxnSpPr>
              <a:cxnSpLocks/>
              <a:stCxn id="14" idx="2"/>
              <a:endCxn id="19" idx="0"/>
            </p:cNvCxnSpPr>
            <p:nvPr/>
          </p:nvCxnSpPr>
          <p:spPr>
            <a:xfrm>
              <a:off x="9921288" y="3588663"/>
              <a:ext cx="204164" cy="901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3C6B4D15-C1DA-F530-3B03-A7CB4CB78C1C}"/>
                </a:ext>
                <a:ext uri="{C183D7F6-B498-43B3-948B-1728B52AA6E4}">
                  <adec:decorative xmlns:adec="http://schemas.microsoft.com/office/drawing/2017/decorative" val="1"/>
                </a:ext>
              </a:extLst>
            </p:cNvPr>
            <p:cNvSpPr/>
            <p:nvPr/>
          </p:nvSpPr>
          <p:spPr>
            <a:xfrm>
              <a:off x="5899867" y="1285494"/>
              <a:ext cx="5930383" cy="494327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 AWS Cloud</a:t>
              </a:r>
            </a:p>
          </p:txBody>
        </p:sp>
        <p:pic>
          <p:nvPicPr>
            <p:cNvPr id="25" name="Graphic 24">
              <a:extLst>
                <a:ext uri="{FF2B5EF4-FFF2-40B4-BE49-F238E27FC236}">
                  <a16:creationId xmlns:a16="http://schemas.microsoft.com/office/drawing/2014/main" id="{2970BB9C-073F-BBE9-366A-5BB2D8B5E56A}"/>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99868" y="1285494"/>
              <a:ext cx="457200" cy="457200"/>
            </a:xfrm>
            <a:prstGeom prst="rect">
              <a:avLst/>
            </a:prstGeom>
          </p:spPr>
        </p:pic>
        <p:sp>
          <p:nvSpPr>
            <p:cNvPr id="26" name="Rectangle 25">
              <a:extLst>
                <a:ext uri="{FF2B5EF4-FFF2-40B4-BE49-F238E27FC236}">
                  <a16:creationId xmlns:a16="http://schemas.microsoft.com/office/drawing/2014/main" id="{321CB45C-61C6-E40B-3353-142939BDD2C4}"/>
                </a:ext>
                <a:ext uri="{C183D7F6-B498-43B3-948B-1728B52AA6E4}">
                  <adec:decorative xmlns:adec="http://schemas.microsoft.com/office/drawing/2017/decorative" val="1"/>
                </a:ext>
              </a:extLst>
            </p:cNvPr>
            <p:cNvSpPr/>
            <p:nvPr/>
          </p:nvSpPr>
          <p:spPr>
            <a:xfrm>
              <a:off x="6456682" y="1999932"/>
              <a:ext cx="5090275" cy="3784179"/>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defRPr/>
              </a:pPr>
              <a:r>
                <a:rPr lang="en-US" sz="1200" kern="0" dirty="0">
                  <a:ln w="0"/>
                  <a:solidFill>
                    <a:srgbClr val="1D8900"/>
                  </a:solidFill>
                  <a:latin typeface="Arial" panose="020B0604020202020204"/>
                </a:rPr>
                <a:t>VPC</a:t>
              </a:r>
            </a:p>
          </p:txBody>
        </p:sp>
        <p:pic>
          <p:nvPicPr>
            <p:cNvPr id="27" name="Graphic 26">
              <a:extLst>
                <a:ext uri="{FF2B5EF4-FFF2-40B4-BE49-F238E27FC236}">
                  <a16:creationId xmlns:a16="http://schemas.microsoft.com/office/drawing/2014/main" id="{1B2A409B-9923-6E43-1945-9963F3DA444F}"/>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6683" y="1999933"/>
              <a:ext cx="457200" cy="457200"/>
            </a:xfrm>
            <a:prstGeom prst="rect">
              <a:avLst/>
            </a:prstGeom>
          </p:spPr>
        </p:pic>
        <p:pic>
          <p:nvPicPr>
            <p:cNvPr id="28" name="Graphic 27">
              <a:extLst>
                <a:ext uri="{FF2B5EF4-FFF2-40B4-BE49-F238E27FC236}">
                  <a16:creationId xmlns:a16="http://schemas.microsoft.com/office/drawing/2014/main" id="{8B52BC5D-305D-1DDF-0712-E93AE0F0D86B}"/>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6379" y="2308511"/>
              <a:ext cx="457200" cy="457200"/>
            </a:xfrm>
            <a:prstGeom prst="rect">
              <a:avLst/>
            </a:prstGeom>
          </p:spPr>
        </p:pic>
        <p:pic>
          <p:nvPicPr>
            <p:cNvPr id="29" name="Graphic 28">
              <a:extLst>
                <a:ext uri="{FF2B5EF4-FFF2-40B4-BE49-F238E27FC236}">
                  <a16:creationId xmlns:a16="http://schemas.microsoft.com/office/drawing/2014/main" id="{6B582AA9-A9E9-004F-FBBF-87B7240B1371}"/>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26379" y="4009720"/>
              <a:ext cx="457200" cy="457200"/>
            </a:xfrm>
            <a:prstGeom prst="rect">
              <a:avLst/>
            </a:prstGeom>
          </p:spPr>
        </p:pic>
      </p:grpSp>
    </p:spTree>
    <p:extLst>
      <p:ext uri="{BB962C8B-B14F-4D97-AF65-F5344CB8AC3E}">
        <p14:creationId xmlns:p14="http://schemas.microsoft.com/office/powerpoint/2010/main" val="1126978935"/>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97C5-6B8F-52CE-482A-EDF110105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1AF47-F927-C606-D397-D9B0AB70ED91}"/>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516BD362-1F1F-A1B5-6F00-B481E4C336D1}"/>
              </a:ext>
            </a:extLst>
          </p:cNvPr>
          <p:cNvSpPr>
            <a:spLocks noGrp="1"/>
          </p:cNvSpPr>
          <p:nvPr>
            <p:ph type="body" sz="quarter" idx="10"/>
          </p:nvPr>
        </p:nvSpPr>
        <p:spPr/>
        <p:txBody>
          <a:bodyPr>
            <a:normAutofit lnSpcReduction="10000"/>
          </a:bodyPr>
          <a:lstStyle/>
          <a:p>
            <a:r>
              <a:rPr lang="en-US" sz="2400" dirty="0"/>
              <a:t>Use cases</a:t>
            </a:r>
          </a:p>
        </p:txBody>
      </p:sp>
      <p:sp>
        <p:nvSpPr>
          <p:cNvPr id="4" name="Title 1">
            <a:extLst>
              <a:ext uri="{FF2B5EF4-FFF2-40B4-BE49-F238E27FC236}">
                <a16:creationId xmlns:a16="http://schemas.microsoft.com/office/drawing/2014/main" id="{2D6F9D15-C975-19E1-04AE-932B16B110E6}"/>
              </a:ext>
            </a:extLst>
          </p:cNvPr>
          <p:cNvSpPr txBox="1">
            <a:spLocks/>
          </p:cNvSpPr>
          <p:nvPr/>
        </p:nvSpPr>
        <p:spPr>
          <a:xfrm>
            <a:off x="38100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aphicFrame>
        <p:nvGraphicFramePr>
          <p:cNvPr id="5" name="Table 4" descr="chart showing three different use cases for RDS: Web and mobile applications, E-commerce applications, and Mobile and online games.">
            <a:extLst>
              <a:ext uri="{FF2B5EF4-FFF2-40B4-BE49-F238E27FC236}">
                <a16:creationId xmlns:a16="http://schemas.microsoft.com/office/drawing/2014/main" id="{D58F4AA8-611F-5D43-11AB-C98B672CF32A}"/>
              </a:ext>
            </a:extLst>
          </p:cNvPr>
          <p:cNvGraphicFramePr>
            <a:graphicFrameLocks noGrp="1"/>
          </p:cNvGraphicFramePr>
          <p:nvPr>
            <p:extLst>
              <p:ext uri="{D42A27DB-BD31-4B8C-83A1-F6EECF244321}">
                <p14:modId xmlns:p14="http://schemas.microsoft.com/office/powerpoint/2010/main" val="1186094889"/>
              </p:ext>
            </p:extLst>
          </p:nvPr>
        </p:nvGraphicFramePr>
        <p:xfrm>
          <a:off x="2895600" y="2133601"/>
          <a:ext cx="7345908" cy="3841533"/>
        </p:xfrm>
        <a:graphic>
          <a:graphicData uri="http://schemas.openxmlformats.org/drawingml/2006/table">
            <a:tbl>
              <a:tblPr firstRow="1" bandRow="1">
                <a:tableStyleId>{22838BEF-8BB2-4498-84A7-C5851F593DF1}</a:tableStyleId>
              </a:tblPr>
              <a:tblGrid>
                <a:gridCol w="3672954">
                  <a:extLst>
                    <a:ext uri="{9D8B030D-6E8A-4147-A177-3AD203B41FA5}">
                      <a16:colId xmlns:a16="http://schemas.microsoft.com/office/drawing/2014/main" val="865783742"/>
                    </a:ext>
                  </a:extLst>
                </a:gridCol>
                <a:gridCol w="3672954">
                  <a:extLst>
                    <a:ext uri="{9D8B030D-6E8A-4147-A177-3AD203B41FA5}">
                      <a16:colId xmlns:a16="http://schemas.microsoft.com/office/drawing/2014/main" val="3410874839"/>
                    </a:ext>
                  </a:extLst>
                </a:gridCol>
              </a:tblGrid>
              <a:tr h="1280511">
                <a:tc>
                  <a:txBody>
                    <a:bodyPr/>
                    <a:lstStyle/>
                    <a:p>
                      <a:pPr algn="l"/>
                      <a:r>
                        <a:rPr lang="en-US" sz="2000" b="1" dirty="0">
                          <a:latin typeface="Open Sans" panose="020B0606030504020204" pitchFamily="34" charset="0"/>
                          <a:ea typeface="Open Sans" panose="020B0606030504020204" pitchFamily="34" charset="0"/>
                          <a:cs typeface="Open Sans" panose="020B0606030504020204" pitchFamily="34" charset="0"/>
                        </a:rPr>
                        <a:t>Web and mobile applications</a:t>
                      </a:r>
                    </a:p>
                  </a:txBody>
                  <a:tcPr anchor="ctr"/>
                </a:tc>
                <a:tc>
                  <a:txBody>
                    <a:bodyPr/>
                    <a:lstStyle/>
                    <a:p>
                      <a:pPr marL="285750" indent="-285750" algn="l">
                        <a:buFont typeface="Wingdings" panose="05000000000000000000" pitchFamily="2" charset="2"/>
                        <a:buChar char="ü"/>
                      </a:pPr>
                      <a:r>
                        <a:rPr lang="en-US" sz="2000" b="0" dirty="0">
                          <a:latin typeface="Open Sans" panose="020B0606030504020204" pitchFamily="34" charset="0"/>
                          <a:ea typeface="Open Sans" panose="020B0606030504020204" pitchFamily="34" charset="0"/>
                          <a:cs typeface="Open Sans" panose="020B0606030504020204" pitchFamily="34" charset="0"/>
                        </a:rPr>
                        <a:t>High</a:t>
                      </a:r>
                      <a:r>
                        <a:rPr lang="en-US" sz="2000" b="0" baseline="0" dirty="0">
                          <a:latin typeface="Open Sans" panose="020B0606030504020204" pitchFamily="34" charset="0"/>
                          <a:ea typeface="Open Sans" panose="020B0606030504020204" pitchFamily="34" charset="0"/>
                          <a:cs typeface="Open Sans" panose="020B0606030504020204" pitchFamily="34" charset="0"/>
                        </a:rPr>
                        <a:t> throughput</a:t>
                      </a:r>
                    </a:p>
                    <a:p>
                      <a:pPr marL="285750" indent="-285750" algn="l">
                        <a:buFont typeface="Wingdings" panose="05000000000000000000" pitchFamily="2" charset="2"/>
                        <a:buChar char="ü"/>
                      </a:pPr>
                      <a:r>
                        <a:rPr lang="en-US" sz="2000" b="0" baseline="0" dirty="0">
                          <a:latin typeface="Open Sans" panose="020B0606030504020204" pitchFamily="34" charset="0"/>
                          <a:ea typeface="Open Sans" panose="020B0606030504020204" pitchFamily="34" charset="0"/>
                          <a:cs typeface="Open Sans" panose="020B0606030504020204" pitchFamily="34" charset="0"/>
                        </a:rPr>
                        <a:t>Massive storage scalability</a:t>
                      </a:r>
                    </a:p>
                    <a:p>
                      <a:pPr marL="285750" indent="-285750" algn="l">
                        <a:buFont typeface="Wingdings" panose="05000000000000000000" pitchFamily="2" charset="2"/>
                        <a:buChar char="ü"/>
                      </a:pPr>
                      <a:r>
                        <a:rPr lang="en-US" sz="2000" b="0" baseline="0" dirty="0">
                          <a:latin typeface="Open Sans" panose="020B0606030504020204" pitchFamily="34" charset="0"/>
                          <a:ea typeface="Open Sans" panose="020B0606030504020204" pitchFamily="34" charset="0"/>
                          <a:cs typeface="Open Sans" panose="020B0606030504020204" pitchFamily="34" charset="0"/>
                        </a:rPr>
                        <a:t>High availability</a:t>
                      </a:r>
                      <a:endParaRPr lang="en-US" sz="2000" b="0" dirty="0">
                        <a:latin typeface="Open Sans" panose="020B0606030504020204" pitchFamily="34" charset="0"/>
                        <a:ea typeface="Open Sans" panose="020B0606030504020204" pitchFamily="34" charset="0"/>
                        <a:cs typeface="Open Sans" panose="020B0606030504020204" pitchFamily="34" charset="0"/>
                      </a:endParaRPr>
                    </a:p>
                  </a:txBody>
                  <a:tcPr anchor="ctr"/>
                </a:tc>
                <a:extLst>
                  <a:ext uri="{0D108BD9-81ED-4DB2-BD59-A6C34878D82A}">
                    <a16:rowId xmlns:a16="http://schemas.microsoft.com/office/drawing/2014/main" val="1282757818"/>
                  </a:ext>
                </a:extLst>
              </a:tr>
              <a:tr h="1280511">
                <a:tc>
                  <a:txBody>
                    <a:bodyPr/>
                    <a:lstStyle/>
                    <a:p>
                      <a:pPr algn="l"/>
                      <a:r>
                        <a:rPr lang="en-US" sz="2000" b="1" dirty="0">
                          <a:latin typeface="Open Sans" panose="020B0606030504020204" pitchFamily="34" charset="0"/>
                          <a:ea typeface="Open Sans" panose="020B0606030504020204" pitchFamily="34" charset="0"/>
                          <a:cs typeface="Open Sans" panose="020B0606030504020204" pitchFamily="34" charset="0"/>
                        </a:rPr>
                        <a:t>Ecommerce applications</a:t>
                      </a:r>
                    </a:p>
                  </a:txBody>
                  <a:tcPr anchor="ctr"/>
                </a:tc>
                <a:tc>
                  <a:txBody>
                    <a:bodyPr/>
                    <a:lstStyle/>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Low-cost database</a:t>
                      </a:r>
                    </a:p>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Data security</a:t>
                      </a:r>
                    </a:p>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Fully managed solution</a:t>
                      </a:r>
                    </a:p>
                  </a:txBody>
                  <a:tcPr anchor="ctr"/>
                </a:tc>
                <a:extLst>
                  <a:ext uri="{0D108BD9-81ED-4DB2-BD59-A6C34878D82A}">
                    <a16:rowId xmlns:a16="http://schemas.microsoft.com/office/drawing/2014/main" val="612607100"/>
                  </a:ext>
                </a:extLst>
              </a:tr>
              <a:tr h="1280511">
                <a:tc>
                  <a:txBody>
                    <a:bodyPr/>
                    <a:lstStyle/>
                    <a:p>
                      <a:pPr algn="l"/>
                      <a:r>
                        <a:rPr lang="en-US" sz="2000" b="1" dirty="0">
                          <a:latin typeface="Open Sans" panose="020B0606030504020204" pitchFamily="34" charset="0"/>
                          <a:ea typeface="Open Sans" panose="020B0606030504020204" pitchFamily="34" charset="0"/>
                          <a:cs typeface="Open Sans" panose="020B0606030504020204" pitchFamily="34" charset="0"/>
                        </a:rPr>
                        <a:t>Mobile and online games</a:t>
                      </a:r>
                    </a:p>
                  </a:txBody>
                  <a:tcPr anchor="ctr"/>
                </a:tc>
                <a:tc>
                  <a:txBody>
                    <a:bodyPr/>
                    <a:lstStyle/>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Rapidly grow capacity</a:t>
                      </a:r>
                    </a:p>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Automatic scaling</a:t>
                      </a:r>
                    </a:p>
                    <a:p>
                      <a:pPr marL="285750" indent="-285750" algn="l">
                        <a:buFont typeface="Wingdings" panose="05000000000000000000" pitchFamily="2" charset="2"/>
                        <a:buChar char="ü"/>
                      </a:pPr>
                      <a:r>
                        <a:rPr lang="en-US" sz="2000" dirty="0">
                          <a:latin typeface="Open Sans" panose="020B0606030504020204" pitchFamily="34" charset="0"/>
                          <a:ea typeface="Open Sans" panose="020B0606030504020204" pitchFamily="34" charset="0"/>
                          <a:cs typeface="Open Sans" panose="020B0606030504020204" pitchFamily="34" charset="0"/>
                        </a:rPr>
                        <a:t>Database monitoring</a:t>
                      </a:r>
                    </a:p>
                  </a:txBody>
                  <a:tcPr anchor="ctr"/>
                </a:tc>
                <a:extLst>
                  <a:ext uri="{0D108BD9-81ED-4DB2-BD59-A6C34878D82A}">
                    <a16:rowId xmlns:a16="http://schemas.microsoft.com/office/drawing/2014/main" val="1192883566"/>
                  </a:ext>
                </a:extLst>
              </a:tr>
            </a:tbl>
          </a:graphicData>
        </a:graphic>
      </p:graphicFrame>
    </p:spTree>
    <p:extLst>
      <p:ext uri="{BB962C8B-B14F-4D97-AF65-F5344CB8AC3E}">
        <p14:creationId xmlns:p14="http://schemas.microsoft.com/office/powerpoint/2010/main" val="2567703259"/>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79CD0-7EE4-3146-6BBD-2D525BDDC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C1C2A-8F03-4CC2-7BEA-31A22B22080C}"/>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Relational Database Service (RDS)</a:t>
            </a:r>
            <a:endParaRPr lang="en-US" sz="2400" dirty="0"/>
          </a:p>
        </p:txBody>
      </p:sp>
      <p:sp>
        <p:nvSpPr>
          <p:cNvPr id="3" name="Text Placeholder 2">
            <a:extLst>
              <a:ext uri="{FF2B5EF4-FFF2-40B4-BE49-F238E27FC236}">
                <a16:creationId xmlns:a16="http://schemas.microsoft.com/office/drawing/2014/main" id="{E8A28089-AF4C-56F8-1509-8FF8EA6024E5}"/>
              </a:ext>
            </a:extLst>
          </p:cNvPr>
          <p:cNvSpPr>
            <a:spLocks noGrp="1"/>
          </p:cNvSpPr>
          <p:nvPr>
            <p:ph type="body" sz="quarter" idx="10"/>
          </p:nvPr>
        </p:nvSpPr>
        <p:spPr/>
        <p:txBody>
          <a:bodyPr>
            <a:normAutofit lnSpcReduction="10000"/>
          </a:bodyPr>
          <a:lstStyle/>
          <a:p>
            <a:r>
              <a:rPr lang="en-US" sz="2400" dirty="0"/>
              <a:t>When to Use Amazon RDS</a:t>
            </a:r>
          </a:p>
        </p:txBody>
      </p:sp>
      <p:sp>
        <p:nvSpPr>
          <p:cNvPr id="4" name="Title 1">
            <a:extLst>
              <a:ext uri="{FF2B5EF4-FFF2-40B4-BE49-F238E27FC236}">
                <a16:creationId xmlns:a16="http://schemas.microsoft.com/office/drawing/2014/main" id="{B628A7C8-DDA5-5304-05E1-E0AB3B8E8B9E}"/>
              </a:ext>
            </a:extLst>
          </p:cNvPr>
          <p:cNvSpPr txBox="1">
            <a:spLocks/>
          </p:cNvSpPr>
          <p:nvPr/>
        </p:nvSpPr>
        <p:spPr>
          <a:xfrm>
            <a:off x="40386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Text Placeholder 1">
            <a:extLst>
              <a:ext uri="{FF2B5EF4-FFF2-40B4-BE49-F238E27FC236}">
                <a16:creationId xmlns:a16="http://schemas.microsoft.com/office/drawing/2014/main" id="{FC453775-406E-28AA-E318-787EF8F169DB}"/>
              </a:ext>
            </a:extLst>
          </p:cNvPr>
          <p:cNvSpPr txBox="1">
            <a:spLocks/>
          </p:cNvSpPr>
          <p:nvPr/>
        </p:nvSpPr>
        <p:spPr>
          <a:xfrm>
            <a:off x="2590800" y="1897261"/>
            <a:ext cx="3733800" cy="646331"/>
          </a:xfrm>
          <a:prstGeom prst="rect">
            <a:avLst/>
          </a:prstGeom>
        </p:spPr>
        <p:txBody>
          <a:bodyPr wrap="square" anchor="t" anchorCtr="0">
            <a:sp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600"/>
              </a:spcBef>
              <a:buNone/>
            </a:pPr>
            <a:r>
              <a:rPr lang="en-US" sz="1800" b="1" u="sng" dirty="0">
                <a:solidFill>
                  <a:srgbClr val="FF0000"/>
                </a:solidFill>
                <a:latin typeface="Open Sans" panose="020B0606030504020204" pitchFamily="34" charset="0"/>
                <a:ea typeface="Open Sans" panose="020B0606030504020204" pitchFamily="34" charset="0"/>
                <a:cs typeface="Open Sans" panose="020B0606030504020204" pitchFamily="34" charset="0"/>
              </a:rPr>
              <a:t>Use</a:t>
            </a:r>
            <a:r>
              <a:rPr lang="en-US" sz="1800" b="1" dirty="0">
                <a:latin typeface="Open Sans" panose="020B0606030504020204" pitchFamily="34" charset="0"/>
                <a:ea typeface="Open Sans" panose="020B0606030504020204" pitchFamily="34" charset="0"/>
                <a:cs typeface="Open Sans" panose="020B0606030504020204" pitchFamily="34" charset="0"/>
              </a:rPr>
              <a:t> Amazon RDS when your application requires:</a:t>
            </a:r>
          </a:p>
        </p:txBody>
      </p:sp>
      <p:sp>
        <p:nvSpPr>
          <p:cNvPr id="6" name="Content Placeholder 2">
            <a:extLst>
              <a:ext uri="{FF2B5EF4-FFF2-40B4-BE49-F238E27FC236}">
                <a16:creationId xmlns:a16="http://schemas.microsoft.com/office/drawing/2014/main" id="{8AA8C985-E300-ADB6-D7C3-A23B7AECE918}"/>
              </a:ext>
            </a:extLst>
          </p:cNvPr>
          <p:cNvSpPr txBox="1">
            <a:spLocks/>
          </p:cNvSpPr>
          <p:nvPr/>
        </p:nvSpPr>
        <p:spPr>
          <a:xfrm>
            <a:off x="2590800" y="2595442"/>
            <a:ext cx="3733800" cy="4414959"/>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Bef>
                <a:spcPts val="1200"/>
              </a:spcBef>
              <a:spcAft>
                <a:spcPts val="800"/>
              </a:spcAft>
            </a:pPr>
            <a:r>
              <a:rPr lang="en-US" sz="1800" dirty="0"/>
              <a:t>Complex transactions or complex queries</a:t>
            </a:r>
          </a:p>
          <a:p>
            <a:pPr marL="457200" indent="-457200" algn="just">
              <a:spcBef>
                <a:spcPts val="1200"/>
              </a:spcBef>
              <a:spcAft>
                <a:spcPts val="800"/>
              </a:spcAft>
            </a:pPr>
            <a:r>
              <a:rPr lang="en-US" sz="1800" dirty="0"/>
              <a:t>A medium to high query or write rate – Up to 30,000 IOPS (15,000 reads + 15,000 writes)</a:t>
            </a:r>
          </a:p>
          <a:p>
            <a:pPr marL="457200" indent="-457200" algn="just">
              <a:spcBef>
                <a:spcPts val="1200"/>
              </a:spcBef>
              <a:spcAft>
                <a:spcPts val="800"/>
              </a:spcAft>
            </a:pPr>
            <a:r>
              <a:rPr lang="en-US" sz="1800" dirty="0"/>
              <a:t>No more than a single worker node or shard</a:t>
            </a:r>
          </a:p>
          <a:p>
            <a:pPr marL="457200" indent="-457200" algn="just">
              <a:spcBef>
                <a:spcPts val="1200"/>
              </a:spcBef>
              <a:spcAft>
                <a:spcPts val="800"/>
              </a:spcAft>
            </a:pPr>
            <a:r>
              <a:rPr lang="en-US" sz="1800" dirty="0"/>
              <a:t>High durability</a:t>
            </a:r>
          </a:p>
        </p:txBody>
      </p:sp>
      <p:sp>
        <p:nvSpPr>
          <p:cNvPr id="7" name="Text Placeholder 4">
            <a:extLst>
              <a:ext uri="{FF2B5EF4-FFF2-40B4-BE49-F238E27FC236}">
                <a16:creationId xmlns:a16="http://schemas.microsoft.com/office/drawing/2014/main" id="{0FAB4FE4-6A90-1C64-9108-D9055799392E}"/>
              </a:ext>
            </a:extLst>
          </p:cNvPr>
          <p:cNvSpPr txBox="1">
            <a:spLocks/>
          </p:cNvSpPr>
          <p:nvPr/>
        </p:nvSpPr>
        <p:spPr>
          <a:xfrm>
            <a:off x="6705600" y="1923186"/>
            <a:ext cx="3683000" cy="646331"/>
          </a:xfrm>
          <a:prstGeom prst="rect">
            <a:avLst/>
          </a:prstGeom>
        </p:spPr>
        <p:txBody>
          <a:bodyPr wrap="square" anchor="t" anchorCtr="0">
            <a:sp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600"/>
              </a:spcBef>
              <a:buNone/>
            </a:pPr>
            <a:r>
              <a:rPr lang="en-US" sz="1800" b="1" u="sng" dirty="0">
                <a:solidFill>
                  <a:srgbClr val="FF0000"/>
                </a:solidFill>
                <a:latin typeface="Open Sans" panose="020B0606030504020204" pitchFamily="34" charset="0"/>
                <a:ea typeface="Open Sans" panose="020B0606030504020204" pitchFamily="34" charset="0"/>
                <a:cs typeface="Open Sans" panose="020B0606030504020204" pitchFamily="34" charset="0"/>
              </a:rPr>
              <a:t>Do not use</a:t>
            </a:r>
            <a:r>
              <a:rPr lang="en-US" sz="18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sz="1800" b="1" dirty="0">
                <a:latin typeface="Open Sans" panose="020B0606030504020204" pitchFamily="34" charset="0"/>
                <a:ea typeface="Open Sans" panose="020B0606030504020204" pitchFamily="34" charset="0"/>
                <a:cs typeface="Open Sans" panose="020B0606030504020204" pitchFamily="34" charset="0"/>
              </a:rPr>
              <a:t>Amazon RDS when your application requires:</a:t>
            </a:r>
          </a:p>
        </p:txBody>
      </p:sp>
      <p:sp>
        <p:nvSpPr>
          <p:cNvPr id="8" name="Content Placeholder 5">
            <a:extLst>
              <a:ext uri="{FF2B5EF4-FFF2-40B4-BE49-F238E27FC236}">
                <a16:creationId xmlns:a16="http://schemas.microsoft.com/office/drawing/2014/main" id="{53571546-67EF-A514-0F0C-9315062008AE}"/>
              </a:ext>
            </a:extLst>
          </p:cNvPr>
          <p:cNvSpPr txBox="1">
            <a:spLocks/>
          </p:cNvSpPr>
          <p:nvPr/>
        </p:nvSpPr>
        <p:spPr>
          <a:xfrm>
            <a:off x="6705600" y="2621367"/>
            <a:ext cx="3683000" cy="438903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Bef>
                <a:spcPts val="1200"/>
              </a:spcBef>
              <a:spcAft>
                <a:spcPts val="800"/>
              </a:spcAft>
            </a:pPr>
            <a:r>
              <a:rPr lang="en-US" sz="1800" dirty="0"/>
              <a:t>Massive read/write rates (for example, 150,000 write/second)</a:t>
            </a:r>
          </a:p>
          <a:p>
            <a:pPr marL="457200" indent="-457200" algn="just">
              <a:spcBef>
                <a:spcPts val="1200"/>
              </a:spcBef>
              <a:spcAft>
                <a:spcPts val="800"/>
              </a:spcAft>
            </a:pPr>
            <a:r>
              <a:rPr lang="en-US" sz="1800" dirty="0" err="1"/>
              <a:t>Sharding</a:t>
            </a:r>
            <a:r>
              <a:rPr lang="en-US" sz="1800" dirty="0"/>
              <a:t> due to high data size or throughput demands </a:t>
            </a:r>
          </a:p>
          <a:p>
            <a:pPr marL="457200" indent="-457200" algn="just">
              <a:spcBef>
                <a:spcPts val="1200"/>
              </a:spcBef>
              <a:spcAft>
                <a:spcPts val="800"/>
              </a:spcAft>
            </a:pPr>
            <a:r>
              <a:rPr lang="en-US" sz="1800" dirty="0"/>
              <a:t>Simple GET or PUT requests and queries that a NoSQL database can handle</a:t>
            </a:r>
          </a:p>
          <a:p>
            <a:pPr marL="457200" indent="-457200" algn="just">
              <a:spcBef>
                <a:spcPts val="1200"/>
              </a:spcBef>
              <a:spcAft>
                <a:spcPts val="800"/>
              </a:spcAft>
            </a:pPr>
            <a:r>
              <a:rPr lang="en-US" sz="1800" dirty="0"/>
              <a:t>Relational database management system (RDBMS) customization</a:t>
            </a:r>
          </a:p>
        </p:txBody>
      </p:sp>
    </p:spTree>
    <p:extLst>
      <p:ext uri="{BB962C8B-B14F-4D97-AF65-F5344CB8AC3E}">
        <p14:creationId xmlns:p14="http://schemas.microsoft.com/office/powerpoint/2010/main" val="2880253086"/>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16784-EF3E-B144-8D56-EFF7E3264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85111-2E3B-06CF-0F88-B7B0868099A4}"/>
              </a:ext>
            </a:extLst>
          </p:cNvPr>
          <p:cNvSpPr>
            <a:spLocks noGrp="1"/>
          </p:cNvSpPr>
          <p:nvPr>
            <p:ph type="title"/>
          </p:nvPr>
        </p:nvSpPr>
        <p:spPr/>
        <p:txBody>
          <a:bodyPr>
            <a:noAutofit/>
          </a:bodyPr>
          <a:lstStyle/>
          <a:p>
            <a:r>
              <a:rPr lang="en-US" sz="3600" b="1" dirty="0"/>
              <a:t>Amazon DynamoDB</a:t>
            </a:r>
          </a:p>
        </p:txBody>
      </p:sp>
    </p:spTree>
    <p:extLst>
      <p:ext uri="{BB962C8B-B14F-4D97-AF65-F5344CB8AC3E}">
        <p14:creationId xmlns:p14="http://schemas.microsoft.com/office/powerpoint/2010/main" val="142378090"/>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3DAC-0539-412B-12D0-1D33EDAD3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8DF23-C138-D834-875A-19474BB05885}"/>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DynamoDB</a:t>
            </a:r>
            <a:endParaRPr lang="en-US" sz="2400" dirty="0"/>
          </a:p>
        </p:txBody>
      </p:sp>
      <p:sp>
        <p:nvSpPr>
          <p:cNvPr id="3" name="Text Placeholder 2">
            <a:extLst>
              <a:ext uri="{FF2B5EF4-FFF2-40B4-BE49-F238E27FC236}">
                <a16:creationId xmlns:a16="http://schemas.microsoft.com/office/drawing/2014/main" id="{7A3C7ABF-911D-57CF-4325-6500723F57A6}"/>
              </a:ext>
            </a:extLst>
          </p:cNvPr>
          <p:cNvSpPr>
            <a:spLocks noGrp="1"/>
          </p:cNvSpPr>
          <p:nvPr>
            <p:ph type="body" sz="quarter" idx="10"/>
          </p:nvPr>
        </p:nvSpPr>
        <p:spPr/>
        <p:txBody>
          <a:bodyPr>
            <a:normAutofit fontScale="55000" lnSpcReduction="20000"/>
          </a:bodyPr>
          <a:lstStyle/>
          <a:p>
            <a:r>
              <a:rPr lang="en-US" sz="2400" dirty="0"/>
              <a:t>Relational versus non-relational databases</a:t>
            </a:r>
          </a:p>
        </p:txBody>
      </p:sp>
      <p:sp>
        <p:nvSpPr>
          <p:cNvPr id="4" name="Title 1">
            <a:extLst>
              <a:ext uri="{FF2B5EF4-FFF2-40B4-BE49-F238E27FC236}">
                <a16:creationId xmlns:a16="http://schemas.microsoft.com/office/drawing/2014/main" id="{288B9311-27E8-C489-7756-7B91FCD62550}"/>
              </a:ext>
            </a:extLst>
          </p:cNvPr>
          <p:cNvSpPr txBox="1">
            <a:spLocks/>
          </p:cNvSpPr>
          <p:nvPr/>
        </p:nvSpPr>
        <p:spPr>
          <a:xfrm>
            <a:off x="38100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br>
              <a:rPr lang="en-US"/>
            </a:br>
            <a:endParaRPr lang="en-US" dirty="0"/>
          </a:p>
        </p:txBody>
      </p:sp>
      <p:sp>
        <p:nvSpPr>
          <p:cNvPr id="5" name="Title 1">
            <a:extLst>
              <a:ext uri="{FF2B5EF4-FFF2-40B4-BE49-F238E27FC236}">
                <a16:creationId xmlns:a16="http://schemas.microsoft.com/office/drawing/2014/main" id="{5B8602CB-CAB8-EAA6-9A1B-90F54FE5B4CE}"/>
              </a:ext>
            </a:extLst>
          </p:cNvPr>
          <p:cNvSpPr txBox="1">
            <a:spLocks/>
          </p:cNvSpPr>
          <p:nvPr/>
        </p:nvSpPr>
        <p:spPr>
          <a:xfrm>
            <a:off x="4419600" y="-89354"/>
            <a:ext cx="6248400" cy="21494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000" b="1" kern="1200">
                <a:solidFill>
                  <a:srgbClr val="0079B8"/>
                </a:solidFill>
                <a:latin typeface="Open Sans"/>
                <a:ea typeface="+mj-ea"/>
                <a:cs typeface="+mj-cs"/>
              </a:defRPr>
            </a:lvl1pPr>
          </a:lstStyle>
          <a:p>
            <a:endParaRPr lang="en-US" dirty="0"/>
          </a:p>
        </p:txBody>
      </p:sp>
      <p:graphicFrame>
        <p:nvGraphicFramePr>
          <p:cNvPr id="6" name="Content Placeholder 3">
            <a:extLst>
              <a:ext uri="{FF2B5EF4-FFF2-40B4-BE49-F238E27FC236}">
                <a16:creationId xmlns:a16="http://schemas.microsoft.com/office/drawing/2014/main" id="{D6177415-118E-B066-FE8A-19BAA5EA6E50}"/>
              </a:ext>
            </a:extLst>
          </p:cNvPr>
          <p:cNvGraphicFramePr>
            <a:graphicFrameLocks/>
          </p:cNvGraphicFramePr>
          <p:nvPr>
            <p:extLst>
              <p:ext uri="{D42A27DB-BD31-4B8C-83A1-F6EECF244321}">
                <p14:modId xmlns:p14="http://schemas.microsoft.com/office/powerpoint/2010/main" val="2077115110"/>
              </p:ext>
            </p:extLst>
          </p:nvPr>
        </p:nvGraphicFramePr>
        <p:xfrm>
          <a:off x="2667001" y="1765137"/>
          <a:ext cx="7810499" cy="478265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14453">
                  <a:extLst>
                    <a:ext uri="{9D8B030D-6E8A-4147-A177-3AD203B41FA5}">
                      <a16:colId xmlns:a16="http://schemas.microsoft.com/office/drawing/2014/main" val="20000"/>
                    </a:ext>
                  </a:extLst>
                </a:gridCol>
                <a:gridCol w="3933699">
                  <a:extLst>
                    <a:ext uri="{9D8B030D-6E8A-4147-A177-3AD203B41FA5}">
                      <a16:colId xmlns:a16="http://schemas.microsoft.com/office/drawing/2014/main" val="20001"/>
                    </a:ext>
                  </a:extLst>
                </a:gridCol>
                <a:gridCol w="2662347">
                  <a:extLst>
                    <a:ext uri="{9D8B030D-6E8A-4147-A177-3AD203B41FA5}">
                      <a16:colId xmlns:a16="http://schemas.microsoft.com/office/drawing/2014/main" val="20002"/>
                    </a:ext>
                  </a:extLst>
                </a:gridCol>
              </a:tblGrid>
              <a:tr h="477131">
                <a:tc>
                  <a:txBody>
                    <a:bodyPr/>
                    <a:lstStyle/>
                    <a:p>
                      <a:endParaRPr lang="en-US" sz="1600" b="1" dirty="0">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algn="ctr"/>
                      <a:r>
                        <a:rPr lang="en-US" sz="2000" b="0" u="none" dirty="0">
                          <a:solidFill>
                            <a:schemeClr val="tx1"/>
                          </a:solidFill>
                          <a:latin typeface="Open Sans" panose="020B0606030504020204" pitchFamily="34" charset="0"/>
                          <a:ea typeface="Open Sans" panose="020B0606030504020204" pitchFamily="34" charset="0"/>
                          <a:cs typeface="Open Sans" panose="020B0606030504020204" pitchFamily="34" charset="0"/>
                        </a:rPr>
                        <a:t>Relational</a:t>
                      </a:r>
                      <a:r>
                        <a:rPr lang="en-US" sz="2000" b="0" baseline="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2000" b="0" u="none" dirty="0">
                          <a:solidFill>
                            <a:schemeClr val="tx1"/>
                          </a:solidFill>
                          <a:latin typeface="Open Sans" panose="020B0606030504020204" pitchFamily="34" charset="0"/>
                          <a:ea typeface="Open Sans" panose="020B0606030504020204" pitchFamily="34" charset="0"/>
                          <a:cs typeface="Open Sans" panose="020B0606030504020204" pitchFamily="34" charset="0"/>
                        </a:rPr>
                        <a:t>SQL</a:t>
                      </a:r>
                      <a:r>
                        <a:rPr lang="en-US" sz="2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110975" marR="110975" marT="60960" marB="60960" anchor="ct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sz="2000" b="0" u="none" dirty="0">
                          <a:solidFill>
                            <a:schemeClr val="tx1"/>
                          </a:solidFill>
                          <a:latin typeface="Open Sans" panose="020B0606030504020204" pitchFamily="34" charset="0"/>
                          <a:ea typeface="Open Sans" panose="020B0606030504020204" pitchFamily="34" charset="0"/>
                          <a:cs typeface="Open Sans" panose="020B0606030504020204" pitchFamily="34" charset="0"/>
                        </a:rPr>
                        <a:t>Non-Relational</a:t>
                      </a:r>
                      <a:endParaRPr lang="en-US" sz="2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10000"/>
                  </a:ext>
                </a:extLst>
              </a:tr>
              <a:tr h="708930">
                <a:tc>
                  <a:txBody>
                    <a:bodyPr/>
                    <a:lstStyle/>
                    <a:p>
                      <a:pPr marL="0" algn="l" defTabSz="457200" rtl="0" eaLnBrk="1" latinLnBrk="0" hangingPunct="1"/>
                      <a:r>
                        <a:rPr lang="en-US" sz="1600" b="0" u="none"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Storage</a:t>
                      </a:r>
                    </a:p>
                  </a:txBody>
                  <a:tcPr marL="110975" marR="110975" marT="60960" marB="60960" anchor="ctr">
                    <a:lnL w="38100" cap="flat" cmpd="sng" algn="ctr">
                      <a:solidFill>
                        <a:schemeClr val="tx1"/>
                      </a:solidFill>
                      <a:prstDash val="solid"/>
                      <a:round/>
                      <a:headEnd type="none" w="med" len="med"/>
                      <a:tailEnd type="none" w="med" len="med"/>
                    </a:lnL>
                    <a:solidFill>
                      <a:srgbClr val="FFFF00"/>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Rows</a:t>
                      </a:r>
                      <a:r>
                        <a:rPr lang="en-US" sz="1800" b="0" i="0" baseline="0" dirty="0">
                          <a:latin typeface="Open Sans" panose="020B0606030504020204" pitchFamily="34" charset="0"/>
                          <a:ea typeface="Open Sans" panose="020B0606030504020204" pitchFamily="34" charset="0"/>
                          <a:cs typeface="Open Sans" panose="020B0606030504020204" pitchFamily="34" charset="0"/>
                        </a:rPr>
                        <a:t> and </a:t>
                      </a:r>
                      <a:r>
                        <a:rPr lang="en-US" sz="1800" b="0" i="0" u="non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columns</a:t>
                      </a:r>
                      <a:endPar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solidFill>
                      <a:schemeClr val="accent3">
                        <a:lumMod val="40000"/>
                        <a:lumOff val="60000"/>
                      </a:schemeClr>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Key-value</a:t>
                      </a:r>
                      <a:r>
                        <a:rPr lang="en-US" sz="1800" b="0" i="0" dirty="0">
                          <a:latin typeface="Open Sans" panose="020B0606030504020204" pitchFamily="34" charset="0"/>
                          <a:ea typeface="Open Sans" panose="020B0606030504020204" pitchFamily="34" charset="0"/>
                          <a:cs typeface="Open Sans" panose="020B0606030504020204" pitchFamily="34" charset="0"/>
                        </a:rPr>
                        <a:t>, document, </a:t>
                      </a:r>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graph</a:t>
                      </a:r>
                    </a:p>
                  </a:txBody>
                  <a:tcPr marL="110975" marR="110975" marT="60960" marB="60960" anchor="ctr">
                    <a:lnR w="38100" cap="flat" cmpd="sng" algn="ctr">
                      <a:solidFill>
                        <a:schemeClr val="tx1"/>
                      </a:solidFill>
                      <a:prstDash val="solid"/>
                      <a:round/>
                      <a:headEnd type="none" w="med" len="med"/>
                      <a:tailEnd type="none" w="med" len="med"/>
                    </a:lnR>
                    <a:solidFill>
                      <a:schemeClr val="accent3">
                        <a:lumMod val="40000"/>
                        <a:lumOff val="60000"/>
                      </a:schemeClr>
                    </a:solidFill>
                  </a:tcPr>
                </a:tc>
                <a:extLst>
                  <a:ext uri="{0D108BD9-81ED-4DB2-BD59-A6C34878D82A}">
                    <a16:rowId xmlns:a16="http://schemas.microsoft.com/office/drawing/2014/main" val="10001"/>
                  </a:ext>
                </a:extLst>
              </a:tr>
              <a:tr h="413542">
                <a:tc>
                  <a:txBody>
                    <a:bodyPr/>
                    <a:lstStyle/>
                    <a:p>
                      <a:pPr marL="0" algn="l" defTabSz="457200" rtl="0" eaLnBrk="1" latinLnBrk="0" hangingPunct="1"/>
                      <a:r>
                        <a:rPr lang="en-US" sz="1600" b="0" u="none"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Schemas</a:t>
                      </a:r>
                    </a:p>
                  </a:txBody>
                  <a:tcPr marL="110975" marR="110975" marT="60960" marB="60960" anchor="ctr">
                    <a:lnL w="38100" cap="flat" cmpd="sng" algn="ctr">
                      <a:solidFill>
                        <a:schemeClr val="tx1"/>
                      </a:solidFill>
                      <a:prstDash val="solid"/>
                      <a:round/>
                      <a:headEnd type="none" w="med" len="med"/>
                      <a:tailEnd type="none" w="med" len="med"/>
                    </a:lnL>
                    <a:solidFill>
                      <a:srgbClr val="FFFF00"/>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Fixed</a:t>
                      </a:r>
                      <a:r>
                        <a:rPr lang="en-US" sz="1800" b="0" i="0" dirty="0">
                          <a:latin typeface="Open Sans" panose="020B0606030504020204" pitchFamily="34" charset="0"/>
                          <a:ea typeface="Open Sans" panose="020B0606030504020204" pitchFamily="34" charset="0"/>
                          <a:cs typeface="Open Sans" panose="020B0606030504020204" pitchFamily="34" charset="0"/>
                        </a:rPr>
                        <a:t> </a:t>
                      </a:r>
                    </a:p>
                  </a:txBody>
                  <a:tcPr marL="110975" marR="110975" marT="60960" marB="60960" anchor="ctr">
                    <a:solidFill>
                      <a:schemeClr val="tx2">
                        <a:lumMod val="20000"/>
                        <a:lumOff val="80000"/>
                      </a:schemeClr>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Dynamic</a:t>
                      </a:r>
                    </a:p>
                  </a:txBody>
                  <a:tcPr marL="110975" marR="110975" marT="60960" marB="60960" anchor="ctr">
                    <a:lnR w="3810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708930">
                <a:tc>
                  <a:txBody>
                    <a:bodyPr/>
                    <a:lstStyle/>
                    <a:p>
                      <a:pPr marL="0" algn="l" defTabSz="457200" rtl="0" eaLnBrk="1" latinLnBrk="0" hangingPunct="1"/>
                      <a:r>
                        <a:rPr lang="en-US" sz="1600" b="0" u="none"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Querying</a:t>
                      </a:r>
                    </a:p>
                  </a:txBody>
                  <a:tcPr marL="110975" marR="110975" marT="60960" marB="60960" anchor="ctr">
                    <a:lnL w="38100" cap="flat" cmpd="sng" algn="ctr">
                      <a:solidFill>
                        <a:schemeClr val="tx1"/>
                      </a:solidFill>
                      <a:prstDash val="solid"/>
                      <a:round/>
                      <a:headEnd type="none" w="med" len="med"/>
                      <a:tailEnd type="none" w="med" len="med"/>
                    </a:lnL>
                    <a:solidFill>
                      <a:srgbClr val="FFFF00"/>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Uses</a:t>
                      </a:r>
                      <a:r>
                        <a:rPr lang="en-US" sz="1800" b="0" i="0" u="none" baseline="0" dirty="0">
                          <a:solidFill>
                            <a:srgbClr val="000000"/>
                          </a:solidFill>
                          <a:latin typeface="Open Sans" panose="020B0606030504020204" pitchFamily="34" charset="0"/>
                          <a:ea typeface="Open Sans" panose="020B0606030504020204" pitchFamily="34" charset="0"/>
                          <a:cs typeface="Open Sans" panose="020B0606030504020204" pitchFamily="34" charset="0"/>
                        </a:rPr>
                        <a:t> SQL</a:t>
                      </a:r>
                      <a:endPar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solidFill>
                      <a:schemeClr val="accent3">
                        <a:lumMod val="40000"/>
                        <a:lumOff val="60000"/>
                      </a:schemeClr>
                    </a:solidFill>
                  </a:tcPr>
                </a:tc>
                <a:tc>
                  <a:txBody>
                    <a:bodyPr/>
                    <a:lstStyle/>
                    <a:p>
                      <a:r>
                        <a:rPr lang="en-US" sz="1800" b="0" i="0" dirty="0">
                          <a:latin typeface="Open Sans" panose="020B0606030504020204" pitchFamily="34" charset="0"/>
                          <a:ea typeface="Open Sans" panose="020B0606030504020204" pitchFamily="34" charset="0"/>
                          <a:cs typeface="Open Sans" panose="020B0606030504020204" pitchFamily="34" charset="0"/>
                        </a:rPr>
                        <a:t>Focuses on collection of documents</a:t>
                      </a:r>
                    </a:p>
                  </a:txBody>
                  <a:tcPr marL="110975" marR="110975" marT="60960" marB="60960" anchor="ctr">
                    <a:lnR w="38100" cap="flat" cmpd="sng" algn="ctr">
                      <a:solidFill>
                        <a:schemeClr val="tx1"/>
                      </a:solidFill>
                      <a:prstDash val="solid"/>
                      <a:round/>
                      <a:headEnd type="none" w="med" len="med"/>
                      <a:tailEnd type="none" w="med" len="med"/>
                    </a:lnR>
                    <a:solidFill>
                      <a:schemeClr val="accent3">
                        <a:lumMod val="40000"/>
                        <a:lumOff val="60000"/>
                      </a:schemeClr>
                    </a:solidFill>
                  </a:tcPr>
                </a:tc>
                <a:extLst>
                  <a:ext uri="{0D108BD9-81ED-4DB2-BD59-A6C34878D82A}">
                    <a16:rowId xmlns:a16="http://schemas.microsoft.com/office/drawing/2014/main" val="10003"/>
                  </a:ext>
                </a:extLst>
              </a:tr>
              <a:tr h="413542">
                <a:tc>
                  <a:txBody>
                    <a:bodyPr/>
                    <a:lstStyle/>
                    <a:p>
                      <a:pPr marL="0" algn="l" defTabSz="457200" rtl="0" eaLnBrk="1" latinLnBrk="0" hangingPunct="1"/>
                      <a:r>
                        <a:rPr lang="en-US" sz="1600" b="0" u="none"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Scalability</a:t>
                      </a:r>
                    </a:p>
                  </a:txBody>
                  <a:tcPr marL="110975" marR="110975" marT="60960" marB="60960" anchor="ctr">
                    <a:lnL w="38100" cap="flat" cmpd="sng" algn="ctr">
                      <a:solidFill>
                        <a:schemeClr val="tx1"/>
                      </a:solidFill>
                      <a:prstDash val="solid"/>
                      <a:round/>
                      <a:headEnd type="none" w="med" len="med"/>
                      <a:tailEnd type="none" w="med" len="med"/>
                    </a:lnL>
                    <a:solidFill>
                      <a:srgbClr val="FFFF00"/>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Vertical</a:t>
                      </a:r>
                    </a:p>
                  </a:txBody>
                  <a:tcPr marL="110975" marR="110975" marT="60960" marB="60960" anchor="ctr">
                    <a:solidFill>
                      <a:schemeClr val="tx2">
                        <a:lumMod val="20000"/>
                        <a:lumOff val="80000"/>
                      </a:schemeClr>
                    </a:solidFill>
                  </a:tcPr>
                </a:tc>
                <a:tc>
                  <a:txBody>
                    <a:bodyPr/>
                    <a:lstStyle/>
                    <a:p>
                      <a:r>
                        <a:rPr lang="en-US" sz="1800" b="0" i="0" u="none" dirty="0">
                          <a:solidFill>
                            <a:srgbClr val="000000"/>
                          </a:solidFill>
                          <a:latin typeface="Open Sans" panose="020B0606030504020204" pitchFamily="34" charset="0"/>
                          <a:ea typeface="Open Sans" panose="020B0606030504020204" pitchFamily="34" charset="0"/>
                          <a:cs typeface="Open Sans" panose="020B0606030504020204" pitchFamily="34" charset="0"/>
                        </a:rPr>
                        <a:t>Horizontal</a:t>
                      </a:r>
                    </a:p>
                  </a:txBody>
                  <a:tcPr marL="110975" marR="110975" marT="60960" marB="60960" anchor="ctr">
                    <a:lnR w="3810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2060581">
                <a:tc>
                  <a:txBody>
                    <a:bodyPr/>
                    <a:lstStyle/>
                    <a:p>
                      <a:pPr marL="0" algn="l" defTabSz="457200" rtl="0" eaLnBrk="1" latinLnBrk="0" hangingPunct="1"/>
                      <a:r>
                        <a:rPr lang="en-US" sz="1600" b="0" u="none"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a:t>
                      </a:r>
                    </a:p>
                  </a:txBody>
                  <a:tcPr marL="110975" marR="110975" marT="60960" marB="6096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rgbClr val="FFFF00"/>
                    </a:solidFill>
                  </a:tcPr>
                </a:tc>
                <a:tc>
                  <a:txBody>
                    <a:bodyPr/>
                    <a:lstStyle/>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lnB w="381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p>
                      <a:endParaRPr lang="en-US" sz="1600" b="0" i="0" dirty="0">
                        <a:latin typeface="Open Sans" panose="020B0606030504020204" pitchFamily="34" charset="0"/>
                        <a:ea typeface="Open Sans" panose="020B0606030504020204" pitchFamily="34" charset="0"/>
                        <a:cs typeface="Open Sans" panose="020B06060305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366436263"/>
                  </a:ext>
                </a:extLst>
              </a:tr>
            </a:tbl>
          </a:graphicData>
        </a:graphic>
      </p:graphicFrame>
      <p:graphicFrame>
        <p:nvGraphicFramePr>
          <p:cNvPr id="7" name="Table 6">
            <a:extLst>
              <a:ext uri="{FF2B5EF4-FFF2-40B4-BE49-F238E27FC236}">
                <a16:creationId xmlns:a16="http://schemas.microsoft.com/office/drawing/2014/main" id="{D8337679-EB00-C2F6-F836-15B964BD3720}"/>
              </a:ext>
            </a:extLst>
          </p:cNvPr>
          <p:cNvGraphicFramePr>
            <a:graphicFrameLocks noGrp="1"/>
          </p:cNvGraphicFramePr>
          <p:nvPr>
            <p:extLst>
              <p:ext uri="{D42A27DB-BD31-4B8C-83A1-F6EECF244321}">
                <p14:modId xmlns:p14="http://schemas.microsoft.com/office/powerpoint/2010/main" val="3500563137"/>
              </p:ext>
            </p:extLst>
          </p:nvPr>
        </p:nvGraphicFramePr>
        <p:xfrm>
          <a:off x="3733800" y="4644145"/>
          <a:ext cx="3886200" cy="1917538"/>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295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16856">
                <a:tc>
                  <a:txBody>
                    <a:bodyPr/>
                    <a:lstStyle/>
                    <a:p>
                      <a:pPr algn="ctr"/>
                      <a:r>
                        <a:rPr lang="en-US" sz="10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ISBN</a:t>
                      </a:r>
                    </a:p>
                  </a:txBody>
                  <a:tcPr marL="121920" marR="121920"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0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Title</a:t>
                      </a:r>
                    </a:p>
                  </a:txBody>
                  <a:tcPr marL="121920" marR="121920" marT="60960" marB="60960" anchor="ctr">
                    <a:lnT w="38100" cap="flat" cmpd="sng" algn="ctr">
                      <a:solidFill>
                        <a:schemeClr val="tx1"/>
                      </a:solidFill>
                      <a:prstDash val="solid"/>
                      <a:round/>
                      <a:headEnd type="none" w="med" len="med"/>
                      <a:tailEnd type="none" w="med" len="med"/>
                    </a:lnT>
                  </a:tcPr>
                </a:tc>
                <a:tc>
                  <a:txBody>
                    <a:bodyPr/>
                    <a:lstStyle/>
                    <a:p>
                      <a:pPr algn="ctr"/>
                      <a:r>
                        <a:rPr lang="en-US" sz="10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Author</a:t>
                      </a:r>
                    </a:p>
                  </a:txBody>
                  <a:tcPr marL="121920" marR="121920" marT="60960" marB="60960" anchor="ctr">
                    <a:lnT w="38100" cap="flat" cmpd="sng" algn="ctr">
                      <a:solidFill>
                        <a:schemeClr val="tx1"/>
                      </a:solidFill>
                      <a:prstDash val="solid"/>
                      <a:round/>
                      <a:headEnd type="none" w="med" len="med"/>
                      <a:tailEnd type="none" w="med" len="med"/>
                    </a:lnT>
                  </a:tcPr>
                </a:tc>
                <a:tc>
                  <a:txBody>
                    <a:bodyPr/>
                    <a:lstStyle/>
                    <a:p>
                      <a:pPr algn="ctr"/>
                      <a:r>
                        <a:rPr lang="en-US" sz="10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Format</a:t>
                      </a:r>
                    </a:p>
                  </a:txBody>
                  <a:tcPr marL="121920" marR="121920"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750341">
                <a:tc>
                  <a:txBody>
                    <a:bodyPr/>
                    <a:lstStyle/>
                    <a:p>
                      <a:pPr marL="0" algn="l" defTabSz="457200" rtl="0" eaLnBrk="1" latinLnBrk="0" hangingPunct="1"/>
                      <a:r>
                        <a:rPr lang="en-US" sz="1000" b="0" i="0" u="none" kern="1200" dirty="0">
                          <a:solidFill>
                            <a:srgbClr val="000000"/>
                          </a:solidFill>
                          <a:latin typeface="+mj-lt"/>
                          <a:ea typeface="Amazon Ember Light" panose="020B0403020204020204" pitchFamily="34" charset="0"/>
                          <a:cs typeface="Amazon Ember Light" panose="020B0403020204020204" pitchFamily="34" charset="0"/>
                        </a:rPr>
                        <a:t>3111111223439</a:t>
                      </a:r>
                      <a:endParaRPr lang="en-US" sz="10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L w="38100" cap="flat" cmpd="sng" algn="ctr">
                      <a:solidFill>
                        <a:schemeClr val="tx1"/>
                      </a:solidFill>
                      <a:prstDash val="solid"/>
                      <a:round/>
                      <a:headEnd type="none" w="med" len="med"/>
                      <a:tailEnd type="none" w="med" len="med"/>
                    </a:lnL>
                  </a:tcPr>
                </a:tc>
                <a:tc>
                  <a:txBody>
                    <a:bodyPr/>
                    <a:lstStyle/>
                    <a:p>
                      <a:r>
                        <a:rPr lang="en-US" sz="1000" b="0" i="0" u="none" dirty="0">
                          <a:solidFill>
                            <a:srgbClr val="000000"/>
                          </a:solidFill>
                          <a:latin typeface="+mj-lt"/>
                          <a:ea typeface="Amazon Ember Light" panose="020B0403020204020204" pitchFamily="34" charset="0"/>
                          <a:cs typeface="Amazon Ember Light" panose="020B0403020204020204" pitchFamily="34" charset="0"/>
                        </a:rPr>
                        <a:t>Withering</a:t>
                      </a:r>
                      <a:r>
                        <a:rPr lang="en-US" sz="1000" b="0" i="0" u="none" baseline="0" dirty="0">
                          <a:solidFill>
                            <a:srgbClr val="000000"/>
                          </a:solidFill>
                          <a:latin typeface="+mj-lt"/>
                          <a:ea typeface="Amazon Ember Light" panose="020B0403020204020204" pitchFamily="34" charset="0"/>
                          <a:cs typeface="Amazon Ember Light" panose="020B0403020204020204" pitchFamily="34" charset="0"/>
                        </a:rPr>
                        <a:t> Depths</a:t>
                      </a:r>
                      <a:endParaRPr lang="en-US" sz="1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000" b="0" i="0" u="none" dirty="0">
                          <a:solidFill>
                            <a:srgbClr val="000000"/>
                          </a:solidFill>
                          <a:latin typeface="+mj-lt"/>
                          <a:ea typeface="Amazon Ember Light" panose="020B0403020204020204" pitchFamily="34" charset="0"/>
                          <a:cs typeface="Amazon Ember Light" panose="020B0403020204020204" pitchFamily="34" charset="0"/>
                        </a:rPr>
                        <a:t>Jackson, Mateo</a:t>
                      </a:r>
                      <a:endParaRPr lang="en-US" sz="1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000" b="0" i="0" u="none" dirty="0">
                          <a:solidFill>
                            <a:srgbClr val="000000"/>
                          </a:solidFill>
                          <a:latin typeface="+mj-lt"/>
                          <a:ea typeface="Amazon Ember Light" panose="020B0403020204020204" pitchFamily="34" charset="0"/>
                          <a:cs typeface="Amazon Ember Light" panose="020B0403020204020204" pitchFamily="34" charset="0"/>
                        </a:rPr>
                        <a:t>Paperback</a:t>
                      </a:r>
                      <a:endParaRPr lang="en-US" sz="1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750341">
                <a:tc>
                  <a:txBody>
                    <a:bodyPr/>
                    <a:lstStyle/>
                    <a:p>
                      <a:pPr marL="0" algn="l" defTabSz="457200" rtl="0" eaLnBrk="1" latinLnBrk="0" hangingPunct="1"/>
                      <a:r>
                        <a:rPr lang="en-US" sz="1000" b="0" i="0" u="none" kern="1200" dirty="0">
                          <a:solidFill>
                            <a:srgbClr val="000000"/>
                          </a:solidFill>
                          <a:latin typeface="+mj-lt"/>
                          <a:ea typeface="Amazon Ember Light" panose="020B0403020204020204" pitchFamily="34" charset="0"/>
                          <a:cs typeface="Amazon Ember Light" panose="020B0403020204020204" pitchFamily="34" charset="0"/>
                        </a:rPr>
                        <a:t>3122222223439</a:t>
                      </a:r>
                      <a:endParaRPr lang="en-US" sz="10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000" b="0" i="0" u="none" kern="1200" dirty="0">
                          <a:solidFill>
                            <a:srgbClr val="000000"/>
                          </a:solidFill>
                          <a:latin typeface="+mj-lt"/>
                          <a:ea typeface="Amazon Ember Light" panose="020B0403020204020204" pitchFamily="34" charset="0"/>
                          <a:cs typeface="Amazon Ember Light" panose="020B0403020204020204" pitchFamily="34" charset="0"/>
                        </a:rPr>
                        <a:t>Wily</a:t>
                      </a:r>
                      <a:r>
                        <a:rPr lang="en-US" sz="1000" b="0" i="0" u="none" kern="1200" baseline="0" dirty="0">
                          <a:solidFill>
                            <a:srgbClr val="000000"/>
                          </a:solidFill>
                          <a:latin typeface="+mj-lt"/>
                          <a:ea typeface="Amazon Ember Light" panose="020B0403020204020204" pitchFamily="34" charset="0"/>
                          <a:cs typeface="Amazon Ember Light" panose="020B0403020204020204" pitchFamily="34" charset="0"/>
                        </a:rPr>
                        <a:t> Willy</a:t>
                      </a:r>
                      <a:r>
                        <a:rPr lang="en-US" sz="1000" b="0" i="0" kern="1200" baseline="0" dirty="0">
                          <a:solidFill>
                            <a:schemeClr val="dk1"/>
                          </a:solidFill>
                          <a:latin typeface="+mj-lt"/>
                          <a:ea typeface="Amazon Ember Light" panose="020B0403020204020204" pitchFamily="34" charset="0"/>
                          <a:cs typeface="Amazon Ember Light" panose="020B0403020204020204" pitchFamily="34" charset="0"/>
                        </a:rPr>
                        <a:t> </a:t>
                      </a:r>
                      <a:endParaRPr lang="en-US" sz="1000" b="0" i="0" kern="1200" dirty="0">
                        <a:solidFill>
                          <a:schemeClr val="dk1"/>
                        </a:solidFill>
                        <a:latin typeface="+mj-lt"/>
                        <a:ea typeface="Amazon Ember Light" panose="020B0403020204020204" pitchFamily="34" charset="0"/>
                        <a:cs typeface="Amazon Ember Light" panose="020B0403020204020204" pitchFamily="34" charset="0"/>
                      </a:endParaRPr>
                    </a:p>
                  </a:txBody>
                  <a:tcPr marL="121920" marR="121920" marT="60960" marB="60960" anchor="ctr">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000" b="0" i="0" u="none" kern="1200" dirty="0">
                          <a:solidFill>
                            <a:srgbClr val="000000"/>
                          </a:solidFill>
                          <a:latin typeface="+mj-lt"/>
                          <a:ea typeface="Amazon Ember Light" panose="020B0403020204020204" pitchFamily="34" charset="0"/>
                          <a:cs typeface="Amazon Ember Light" panose="020B0403020204020204" pitchFamily="34" charset="0"/>
                        </a:rPr>
                        <a:t>Wang,</a:t>
                      </a:r>
                      <a:r>
                        <a:rPr lang="en-US" sz="1000" b="0" i="0" u="none" kern="1200" baseline="0" dirty="0">
                          <a:solidFill>
                            <a:srgbClr val="000000"/>
                          </a:solidFill>
                          <a:latin typeface="+mj-lt"/>
                          <a:ea typeface="Amazon Ember Light" panose="020B0403020204020204" pitchFamily="34" charset="0"/>
                          <a:cs typeface="Amazon Ember Light" panose="020B0403020204020204" pitchFamily="34" charset="0"/>
                        </a:rPr>
                        <a:t> Xiulan</a:t>
                      </a:r>
                      <a:endParaRPr lang="en-US" sz="10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000" b="0" i="0" u="none" kern="1200" dirty="0" err="1">
                          <a:solidFill>
                            <a:srgbClr val="000000"/>
                          </a:solidFill>
                          <a:latin typeface="+mj-lt"/>
                          <a:ea typeface="Amazon Ember Light" panose="020B0403020204020204" pitchFamily="34" charset="0"/>
                          <a:cs typeface="Amazon Ember Light" panose="020B0403020204020204" pitchFamily="34" charset="0"/>
                        </a:rPr>
                        <a:t>Ebook</a:t>
                      </a:r>
                      <a:endParaRPr lang="en-US" sz="10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4D1CD1AF-9B38-9E5A-5D92-E8373605D9BC}"/>
              </a:ext>
            </a:extLst>
          </p:cNvPr>
          <p:cNvSpPr txBox="1"/>
          <p:nvPr/>
        </p:nvSpPr>
        <p:spPr>
          <a:xfrm>
            <a:off x="8042925" y="4694973"/>
            <a:ext cx="2072608" cy="1815882"/>
          </a:xfrm>
          <a:prstGeom prst="rect">
            <a:avLst/>
          </a:prstGeom>
          <a:solidFill>
            <a:schemeClr val="bg1"/>
          </a:solidFill>
          <a:ln w="19050">
            <a:solidFill>
              <a:schemeClr val="tx1"/>
            </a:solidFill>
          </a:ln>
        </p:spPr>
        <p:txBody>
          <a:bodyPr wrap="square" rtlCol="0">
            <a:spAutoFit/>
          </a:bodyPr>
          <a:lstStyle/>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a:t>
            </a:r>
          </a:p>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 ISBN: 3111111223439,</a:t>
            </a:r>
          </a:p>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 Title: “Withering Depths”,</a:t>
            </a:r>
            <a:endParaRPr lang="en-US" sz="1400" dirty="0">
              <a:latin typeface="Amazon Ember" panose="020B0603020204020204"/>
              <a:ea typeface="Amazon Ember" panose="020B0603020204020204" pitchFamily="34" charset="0"/>
              <a:cs typeface="Amazon Ember" panose="020B0603020204020204" pitchFamily="34" charset="0"/>
            </a:endParaRPr>
          </a:p>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 Author: ”Jackson, Mateo”,</a:t>
            </a:r>
            <a:endParaRPr lang="en-US" sz="1400" dirty="0">
              <a:latin typeface="Amazon Ember" panose="020B0603020204020204"/>
              <a:ea typeface="Amazon Ember" panose="020B0603020204020204" pitchFamily="34" charset="0"/>
              <a:cs typeface="Amazon Ember" panose="020B0603020204020204" pitchFamily="34" charset="0"/>
            </a:endParaRPr>
          </a:p>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 Format: “Paperback”</a:t>
            </a:r>
          </a:p>
          <a:p>
            <a:pPr algn="l"/>
            <a:r>
              <a:rPr lang="en-US" sz="1400" dirty="0">
                <a:latin typeface="Amazon Ember" panose="020B0603020204020204" pitchFamily="34" charset="0"/>
                <a:ea typeface="Amazon Ember" panose="020B0603020204020204" pitchFamily="34" charset="0"/>
                <a:cs typeface="Amazon Ember" panose="020B0603020204020204" pitchFamily="34" charset="0"/>
              </a:rPr>
              <a:t>}</a:t>
            </a:r>
          </a:p>
        </p:txBody>
      </p:sp>
    </p:spTree>
    <p:extLst>
      <p:ext uri="{BB962C8B-B14F-4D97-AF65-F5344CB8AC3E}">
        <p14:creationId xmlns:p14="http://schemas.microsoft.com/office/powerpoint/2010/main" val="1971794058"/>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B288-8BBF-F43D-992D-D15B9B378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8292A-F1AD-6797-0845-8C890DFC63A3}"/>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DynamoDB</a:t>
            </a:r>
            <a:endParaRPr lang="en-US" sz="2400" dirty="0"/>
          </a:p>
        </p:txBody>
      </p:sp>
      <p:sp>
        <p:nvSpPr>
          <p:cNvPr id="3" name="Text Placeholder 2">
            <a:extLst>
              <a:ext uri="{FF2B5EF4-FFF2-40B4-BE49-F238E27FC236}">
                <a16:creationId xmlns:a16="http://schemas.microsoft.com/office/drawing/2014/main" id="{28DEB090-E9A2-6FAD-4062-EA224416DEE0}"/>
              </a:ext>
            </a:extLst>
          </p:cNvPr>
          <p:cNvSpPr>
            <a:spLocks noGrp="1"/>
          </p:cNvSpPr>
          <p:nvPr>
            <p:ph type="body" sz="quarter" idx="10"/>
          </p:nvPr>
        </p:nvSpPr>
        <p:spPr/>
        <p:txBody>
          <a:bodyPr>
            <a:normAutofit fontScale="92500" lnSpcReduction="10000"/>
          </a:bodyPr>
          <a:lstStyle/>
          <a:p>
            <a:r>
              <a:rPr lang="en-US" sz="2400" dirty="0"/>
              <a:t>What is Amazon DynamoDB? </a:t>
            </a:r>
          </a:p>
        </p:txBody>
      </p:sp>
      <p:sp>
        <p:nvSpPr>
          <p:cNvPr id="4" name="Title 1">
            <a:extLst>
              <a:ext uri="{FF2B5EF4-FFF2-40B4-BE49-F238E27FC236}">
                <a16:creationId xmlns:a16="http://schemas.microsoft.com/office/drawing/2014/main" id="{D0655464-919C-C3ED-37FC-13278F73F59A}"/>
              </a:ext>
            </a:extLst>
          </p:cNvPr>
          <p:cNvSpPr txBox="1">
            <a:spLocks/>
          </p:cNvSpPr>
          <p:nvPr/>
        </p:nvSpPr>
        <p:spPr>
          <a:xfrm>
            <a:off x="3962400" y="4572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TextBox 4">
            <a:extLst>
              <a:ext uri="{FF2B5EF4-FFF2-40B4-BE49-F238E27FC236}">
                <a16:creationId xmlns:a16="http://schemas.microsoft.com/office/drawing/2014/main" id="{E360672E-B528-1295-17A4-2E01D3A36F7D}"/>
              </a:ext>
            </a:extLst>
          </p:cNvPr>
          <p:cNvSpPr txBox="1"/>
          <p:nvPr/>
        </p:nvSpPr>
        <p:spPr>
          <a:xfrm>
            <a:off x="4114800" y="1732804"/>
            <a:ext cx="6400800" cy="572464"/>
          </a:xfrm>
          <a:prstGeom prst="rect">
            <a:avLst/>
          </a:prstGeom>
          <a:noFill/>
          <a:ln w="28575">
            <a:noFill/>
          </a:ln>
          <a:effectLst/>
        </p:spPr>
        <p:txBody>
          <a:bodyPr wrap="square" lIns="182880" tIns="146304" rIns="182880" bIns="146304" rtlCol="0">
            <a:spAutoFit/>
          </a:bodyPr>
          <a:lstStyle/>
          <a:p>
            <a:pPr algn="ctr"/>
            <a:r>
              <a:rPr lang="en-US" dirty="0">
                <a:latin typeface="Open Sans" panose="020B0606030504020204" pitchFamily="34" charset="0"/>
                <a:ea typeface="Open Sans" panose="020B0606030504020204" pitchFamily="34" charset="0"/>
                <a:cs typeface="Open Sans" panose="020B0606030504020204" pitchFamily="34" charset="0"/>
              </a:rPr>
              <a:t>Fast and flexible NoSQL database service for any scale</a:t>
            </a:r>
          </a:p>
        </p:txBody>
      </p:sp>
      <p:pic>
        <p:nvPicPr>
          <p:cNvPr id="6" name="Graphic 43">
            <a:extLst>
              <a:ext uri="{FF2B5EF4-FFF2-40B4-BE49-F238E27FC236}">
                <a16:creationId xmlns:a16="http://schemas.microsoft.com/office/drawing/2014/main" id="{500B9558-8DE5-C698-326A-AC1F05F989D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3256" y="3048000"/>
            <a:ext cx="1219200" cy="1219200"/>
          </a:xfrm>
          <a:prstGeom prst="rect">
            <a:avLst/>
          </a:prstGeom>
        </p:spPr>
      </p:pic>
      <p:sp>
        <p:nvSpPr>
          <p:cNvPr id="7" name="TextBox 6">
            <a:extLst>
              <a:ext uri="{FF2B5EF4-FFF2-40B4-BE49-F238E27FC236}">
                <a16:creationId xmlns:a16="http://schemas.microsoft.com/office/drawing/2014/main" id="{2F4663D7-088A-E885-481B-233249543112}"/>
              </a:ext>
            </a:extLst>
          </p:cNvPr>
          <p:cNvSpPr txBox="1"/>
          <p:nvPr/>
        </p:nvSpPr>
        <p:spPr>
          <a:xfrm>
            <a:off x="2680856" y="4282113"/>
            <a:ext cx="1662545" cy="553998"/>
          </a:xfrm>
          <a:prstGeom prst="rect">
            <a:avLst/>
          </a:prstGeom>
          <a:noFill/>
        </p:spPr>
        <p:txBody>
          <a:bodyPr wrap="square" lIns="0" tIns="0" rIns="0" bIns="0" rtlCol="0" anchor="ctr">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sp>
        <p:nvSpPr>
          <p:cNvPr id="8" name="Rounded Rectangle 12">
            <a:extLst>
              <a:ext uri="{FF2B5EF4-FFF2-40B4-BE49-F238E27FC236}">
                <a16:creationId xmlns:a16="http://schemas.microsoft.com/office/drawing/2014/main" id="{D295DCAF-7E4E-A354-C914-C172E21C2502}"/>
              </a:ext>
              <a:ext uri="{C183D7F6-B498-43B3-948B-1728B52AA6E4}">
                <adec:decorative xmlns:adec="http://schemas.microsoft.com/office/drawing/2017/decorative" val="0"/>
              </a:ext>
            </a:extLst>
          </p:cNvPr>
          <p:cNvSpPr/>
          <p:nvPr/>
        </p:nvSpPr>
        <p:spPr bwMode="auto">
          <a:xfrm>
            <a:off x="4495800" y="2607024"/>
            <a:ext cx="5638800" cy="3184177"/>
          </a:xfrm>
          <a:prstGeom prst="roundRect">
            <a:avLst>
              <a:gd name="adj" fmla="val 8618"/>
            </a:avLst>
          </a:prstGeom>
          <a:solidFill>
            <a:schemeClr val="bg1"/>
          </a:solidFill>
          <a:ln w="1905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274320" indent="-342900" algn="l" defTabSz="932472" fontAlgn="base">
              <a:lnSpc>
                <a:spcPct val="150000"/>
              </a:lnSpc>
              <a:spcBef>
                <a:spcPct val="0"/>
              </a:spcBef>
              <a:spcAft>
                <a:spcPts val="600"/>
              </a:spcAft>
              <a:buFont typeface="Arial" panose="020B0604020202020204" pitchFamily="34" charset="0"/>
              <a:buChar char="•"/>
            </a:pP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NoSQL database tables</a:t>
            </a:r>
          </a:p>
          <a:p>
            <a:pPr marL="274320" indent="-342900" algn="l" defTabSz="932472" fontAlgn="base">
              <a:lnSpc>
                <a:spcPct val="150000"/>
              </a:lnSpc>
              <a:spcBef>
                <a:spcPct val="0"/>
              </a:spcBef>
              <a:spcAft>
                <a:spcPts val="600"/>
              </a:spcAft>
              <a:buFont typeface="Arial" panose="020B0604020202020204" pitchFamily="34" charset="0"/>
              <a:buChar char="•"/>
            </a:pP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Virtually unlimited storage</a:t>
            </a:r>
          </a:p>
          <a:p>
            <a:pPr marL="274320" indent="-342900" algn="l" defTabSz="932472" fontAlgn="base">
              <a:lnSpc>
                <a:spcPct val="150000"/>
              </a:lnSpc>
              <a:spcBef>
                <a:spcPct val="0"/>
              </a:spcBef>
              <a:spcAft>
                <a:spcPts val="600"/>
              </a:spcAft>
              <a:buFont typeface="Arial" panose="020B0604020202020204" pitchFamily="34" charset="0"/>
              <a:buChar char="•"/>
            </a:pP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Items can have differing attributes</a:t>
            </a:r>
          </a:p>
          <a:p>
            <a:pPr marL="274320" indent="-342900" algn="l" defTabSz="932472" fontAlgn="base">
              <a:lnSpc>
                <a:spcPct val="150000"/>
              </a:lnSpc>
              <a:spcBef>
                <a:spcPct val="0"/>
              </a:spcBef>
              <a:spcAft>
                <a:spcPts val="600"/>
              </a:spcAft>
              <a:buFont typeface="Arial" panose="020B0604020202020204" pitchFamily="34" charset="0"/>
              <a:buChar char="•"/>
            </a:pP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Low-latency queries</a:t>
            </a:r>
          </a:p>
          <a:p>
            <a:pPr marL="274320" indent="-342900" algn="l" defTabSz="932472" fontAlgn="base">
              <a:lnSpc>
                <a:spcPct val="150000"/>
              </a:lnSpc>
              <a:spcBef>
                <a:spcPct val="0"/>
              </a:spcBef>
              <a:spcAft>
                <a:spcPts val="600"/>
              </a:spcAft>
              <a:buFont typeface="Arial" panose="020B0604020202020204" pitchFamily="34" charset="0"/>
              <a:buChar char="•"/>
            </a:pP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Scalable read/write throughput</a:t>
            </a:r>
          </a:p>
          <a:p>
            <a:pPr marL="274320" indent="-342900" algn="l" defTabSz="932472" fontAlgn="base">
              <a:lnSpc>
                <a:spcPct val="150000"/>
              </a:lnSpc>
              <a:spcBef>
                <a:spcPct val="0"/>
              </a:spcBef>
              <a:spcAft>
                <a:spcPts val="600"/>
              </a:spcAft>
              <a:buFont typeface="Arial" panose="020B0604020202020204" pitchFamily="34" charset="0"/>
              <a:buChar char="•"/>
            </a:pPr>
            <a:endPar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69568182"/>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7E290-11F5-0417-B84C-563EBEAB7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928C8-0529-CFE7-66F0-196FD1CDE698}"/>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DynamoDB</a:t>
            </a:r>
            <a:endParaRPr lang="en-US" sz="2400" dirty="0"/>
          </a:p>
        </p:txBody>
      </p:sp>
      <p:sp>
        <p:nvSpPr>
          <p:cNvPr id="3" name="Text Placeholder 2">
            <a:extLst>
              <a:ext uri="{FF2B5EF4-FFF2-40B4-BE49-F238E27FC236}">
                <a16:creationId xmlns:a16="http://schemas.microsoft.com/office/drawing/2014/main" id="{DEBBF9EC-2A5B-4507-0D4A-F048518BB6FF}"/>
              </a:ext>
            </a:extLst>
          </p:cNvPr>
          <p:cNvSpPr>
            <a:spLocks noGrp="1"/>
          </p:cNvSpPr>
          <p:nvPr>
            <p:ph type="body" sz="quarter" idx="10"/>
          </p:nvPr>
        </p:nvSpPr>
        <p:spPr/>
        <p:txBody>
          <a:bodyPr>
            <a:normAutofit fontScale="70000" lnSpcReduction="20000"/>
          </a:bodyPr>
          <a:lstStyle/>
          <a:p>
            <a:r>
              <a:rPr lang="en-US" sz="2400" dirty="0"/>
              <a:t>Amazon DynamoDB core components</a:t>
            </a:r>
          </a:p>
        </p:txBody>
      </p:sp>
      <p:sp>
        <p:nvSpPr>
          <p:cNvPr id="4" name="Title 1">
            <a:extLst>
              <a:ext uri="{FF2B5EF4-FFF2-40B4-BE49-F238E27FC236}">
                <a16:creationId xmlns:a16="http://schemas.microsoft.com/office/drawing/2014/main" id="{E884A67E-31E7-C59F-D4ED-4D7592167485}"/>
              </a:ext>
            </a:extLst>
          </p:cNvPr>
          <p:cNvSpPr txBox="1">
            <a:spLocks/>
          </p:cNvSpPr>
          <p:nvPr/>
        </p:nvSpPr>
        <p:spPr>
          <a:xfrm>
            <a:off x="3124200" y="1676400"/>
            <a:ext cx="65337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6077C4B7-800E-1DC5-9633-744A6A007FA6}"/>
              </a:ext>
            </a:extLst>
          </p:cNvPr>
          <p:cNvSpPr txBox="1">
            <a:spLocks/>
          </p:cNvSpPr>
          <p:nvPr/>
        </p:nvSpPr>
        <p:spPr>
          <a:xfrm>
            <a:off x="2667000" y="3428412"/>
            <a:ext cx="7696200" cy="4115388"/>
          </a:xfrm>
          <a:prstGeom prst="rect">
            <a:avLst/>
          </a:prstGeom>
        </p:spPr>
        <p:txBody>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1200"/>
              </a:spcBef>
            </a:pPr>
            <a:r>
              <a:rPr lang="en-US" dirty="0"/>
              <a:t>Tables, items, and attributes are the core DynamoDB components</a:t>
            </a:r>
          </a:p>
          <a:p>
            <a:pPr algn="just">
              <a:spcBef>
                <a:spcPts val="1200"/>
              </a:spcBef>
            </a:pPr>
            <a:r>
              <a:rPr lang="en-US" dirty="0"/>
              <a:t>DynamoDB supports two different kinds of primary keys: Partition key and partition and sort key</a:t>
            </a:r>
          </a:p>
        </p:txBody>
      </p:sp>
    </p:spTree>
    <p:extLst>
      <p:ext uri="{BB962C8B-B14F-4D97-AF65-F5344CB8AC3E}">
        <p14:creationId xmlns:p14="http://schemas.microsoft.com/office/powerpoint/2010/main" val="392133134"/>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0C8E-4708-C0CA-3D6F-84561DC5D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661B3-6282-AADF-BC84-94CB03D75032}"/>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DynamoDB</a:t>
            </a:r>
            <a:endParaRPr lang="en-US" sz="2400" dirty="0"/>
          </a:p>
        </p:txBody>
      </p:sp>
      <p:sp>
        <p:nvSpPr>
          <p:cNvPr id="3" name="Text Placeholder 2">
            <a:extLst>
              <a:ext uri="{FF2B5EF4-FFF2-40B4-BE49-F238E27FC236}">
                <a16:creationId xmlns:a16="http://schemas.microsoft.com/office/drawing/2014/main" id="{0EBBACA5-CD76-0E2A-FE6B-09878F2099A8}"/>
              </a:ext>
            </a:extLst>
          </p:cNvPr>
          <p:cNvSpPr>
            <a:spLocks noGrp="1"/>
          </p:cNvSpPr>
          <p:nvPr>
            <p:ph type="body" sz="quarter" idx="10"/>
          </p:nvPr>
        </p:nvSpPr>
        <p:spPr/>
        <p:txBody>
          <a:bodyPr>
            <a:normAutofit lnSpcReduction="10000"/>
          </a:bodyPr>
          <a:lstStyle/>
          <a:p>
            <a:r>
              <a:rPr lang="en-US" sz="2400" dirty="0"/>
              <a:t>Partitioning</a:t>
            </a:r>
          </a:p>
        </p:txBody>
      </p:sp>
      <p:sp>
        <p:nvSpPr>
          <p:cNvPr id="4" name="Title 2">
            <a:extLst>
              <a:ext uri="{FF2B5EF4-FFF2-40B4-BE49-F238E27FC236}">
                <a16:creationId xmlns:a16="http://schemas.microsoft.com/office/drawing/2014/main" id="{012D4F96-17AD-8C05-2417-A3D5B65786B7}"/>
              </a:ext>
            </a:extLst>
          </p:cNvPr>
          <p:cNvSpPr txBox="1">
            <a:spLocks/>
          </p:cNvSpPr>
          <p:nvPr/>
        </p:nvSpPr>
        <p:spPr>
          <a:xfrm>
            <a:off x="3886200" y="381000"/>
            <a:ext cx="706755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Content Placeholder 5" descr="partitioning allows large tables to be scanned and queried quickly.">
            <a:extLst>
              <a:ext uri="{FF2B5EF4-FFF2-40B4-BE49-F238E27FC236}">
                <a16:creationId xmlns:a16="http://schemas.microsoft.com/office/drawing/2014/main" id="{1BE74E66-C802-5DC9-7B8F-743EB87B9BA5}"/>
              </a:ext>
            </a:extLst>
          </p:cNvPr>
          <p:cNvPicPr>
            <a:picLocks noChangeAspect="1"/>
          </p:cNvPicPr>
          <p:nvPr/>
        </p:nvPicPr>
        <p:blipFill rotWithShape="1">
          <a:blip r:embed="rId3">
            <a:extLst>
              <a:ext uri="{28A0092B-C50C-407E-A947-70E740481C1C}">
                <a14:useLocalDpi xmlns:a14="http://schemas.microsoft.com/office/drawing/2010/main" val="0"/>
              </a:ext>
            </a:extLst>
          </a:blip>
          <a:srcRect r="308" b="5689"/>
          <a:stretch/>
        </p:blipFill>
        <p:spPr>
          <a:xfrm>
            <a:off x="2514600" y="1905000"/>
            <a:ext cx="8001000" cy="3639182"/>
          </a:xfrm>
          <a:prstGeom prst="rect">
            <a:avLst/>
          </a:prstGeom>
        </p:spPr>
      </p:pic>
    </p:spTree>
    <p:extLst>
      <p:ext uri="{BB962C8B-B14F-4D97-AF65-F5344CB8AC3E}">
        <p14:creationId xmlns:p14="http://schemas.microsoft.com/office/powerpoint/2010/main" val="3901529792"/>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5980-B455-D5EC-965A-35BF04ACD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55612-EA4C-A2E0-F8D7-CF2D7B3AB9F0}"/>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DynamoDB</a:t>
            </a:r>
            <a:endParaRPr lang="en-US" sz="2400" dirty="0"/>
          </a:p>
        </p:txBody>
      </p:sp>
      <p:sp>
        <p:nvSpPr>
          <p:cNvPr id="3" name="Text Placeholder 2">
            <a:extLst>
              <a:ext uri="{FF2B5EF4-FFF2-40B4-BE49-F238E27FC236}">
                <a16:creationId xmlns:a16="http://schemas.microsoft.com/office/drawing/2014/main" id="{1FDB01FA-C8CA-022B-6922-EABD6D8087FC}"/>
              </a:ext>
            </a:extLst>
          </p:cNvPr>
          <p:cNvSpPr>
            <a:spLocks noGrp="1"/>
          </p:cNvSpPr>
          <p:nvPr>
            <p:ph type="body" sz="quarter" idx="10"/>
          </p:nvPr>
        </p:nvSpPr>
        <p:spPr/>
        <p:txBody>
          <a:bodyPr>
            <a:normAutofit fontScale="85000" lnSpcReduction="10000"/>
          </a:bodyPr>
          <a:lstStyle/>
          <a:p>
            <a:r>
              <a:rPr lang="en-US" sz="2400" dirty="0"/>
              <a:t>Items in a table must have a key</a:t>
            </a:r>
          </a:p>
        </p:txBody>
      </p:sp>
      <p:sp>
        <p:nvSpPr>
          <p:cNvPr id="4" name="Title 1">
            <a:extLst>
              <a:ext uri="{FF2B5EF4-FFF2-40B4-BE49-F238E27FC236}">
                <a16:creationId xmlns:a16="http://schemas.microsoft.com/office/drawing/2014/main" id="{048099B5-1D7E-16E6-4945-45DC91C00147}"/>
              </a:ext>
            </a:extLst>
          </p:cNvPr>
          <p:cNvSpPr txBox="1">
            <a:spLocks/>
          </p:cNvSpPr>
          <p:nvPr/>
        </p:nvSpPr>
        <p:spPr>
          <a:xfrm>
            <a:off x="5105400" y="381000"/>
            <a:ext cx="48768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Content Placeholder 3" descr="two different types of keys. A single key means the data is identified by an item in the data that uniquely identifies each record. A compound key is made up of a partition key and a second key that can be used for sorting data.">
            <a:extLst>
              <a:ext uri="{FF2B5EF4-FFF2-40B4-BE49-F238E27FC236}">
                <a16:creationId xmlns:a16="http://schemas.microsoft.com/office/drawing/2014/main" id="{431DD9F5-B3E5-4680-F3EE-0D079F9A1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2114090"/>
            <a:ext cx="7889829" cy="2991310"/>
          </a:xfrm>
          <a:prstGeom prst="rect">
            <a:avLst/>
          </a:prstGeom>
        </p:spPr>
      </p:pic>
    </p:spTree>
    <p:extLst>
      <p:ext uri="{BB962C8B-B14F-4D97-AF65-F5344CB8AC3E}">
        <p14:creationId xmlns:p14="http://schemas.microsoft.com/office/powerpoint/2010/main" val="407109198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D7FFD-682D-6C1B-9885-AC70C3E89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EDE12-1C1B-CFD6-1F66-775C82DB9801}"/>
              </a:ext>
            </a:extLst>
          </p:cNvPr>
          <p:cNvSpPr>
            <a:spLocks noGrp="1"/>
          </p:cNvSpPr>
          <p:nvPr>
            <p:ph type="title"/>
          </p:nvPr>
        </p:nvSpPr>
        <p:spPr/>
        <p:txBody>
          <a:bodyPr>
            <a:noAutofit/>
          </a:bodyPr>
          <a:lstStyle/>
          <a:p>
            <a:r>
              <a:rPr lang="en-US" sz="3600" b="1" dirty="0"/>
              <a:t>Amazon Redshift</a:t>
            </a:r>
          </a:p>
        </p:txBody>
      </p:sp>
    </p:spTree>
    <p:extLst>
      <p:ext uri="{BB962C8B-B14F-4D97-AF65-F5344CB8AC3E}">
        <p14:creationId xmlns:p14="http://schemas.microsoft.com/office/powerpoint/2010/main" val="2600008953"/>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CBE3-9009-C94E-E0BC-63B235E0C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F4316-2741-07ED-8A3D-EE99EEDBC774}"/>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Redshift</a:t>
            </a:r>
            <a:endParaRPr lang="en-US" sz="2400" dirty="0"/>
          </a:p>
        </p:txBody>
      </p:sp>
      <p:sp>
        <p:nvSpPr>
          <p:cNvPr id="3" name="Text Placeholder 2">
            <a:extLst>
              <a:ext uri="{FF2B5EF4-FFF2-40B4-BE49-F238E27FC236}">
                <a16:creationId xmlns:a16="http://schemas.microsoft.com/office/drawing/2014/main" id="{7A64AB97-6AD8-E7FD-175A-C7F49C9E1E93}"/>
              </a:ext>
            </a:extLst>
          </p:cNvPr>
          <p:cNvSpPr>
            <a:spLocks noGrp="1"/>
          </p:cNvSpPr>
          <p:nvPr>
            <p:ph type="body" sz="quarter" idx="10"/>
          </p:nvPr>
        </p:nvSpPr>
        <p:spPr/>
        <p:txBody>
          <a:bodyPr>
            <a:normAutofit fontScale="77500" lnSpcReduction="20000"/>
          </a:bodyPr>
          <a:lstStyle/>
          <a:p>
            <a:r>
              <a:rPr lang="en-US" sz="2400" dirty="0"/>
              <a:t>Introduction to Amazon Redshift</a:t>
            </a:r>
          </a:p>
        </p:txBody>
      </p:sp>
      <p:sp>
        <p:nvSpPr>
          <p:cNvPr id="4" name="Title 1">
            <a:extLst>
              <a:ext uri="{FF2B5EF4-FFF2-40B4-BE49-F238E27FC236}">
                <a16:creationId xmlns:a16="http://schemas.microsoft.com/office/drawing/2014/main" id="{9B48642B-2CD2-C050-28CF-95FA96541471}"/>
              </a:ext>
            </a:extLst>
          </p:cNvPr>
          <p:cNvSpPr txBox="1">
            <a:spLocks/>
          </p:cNvSpPr>
          <p:nvPr/>
        </p:nvSpPr>
        <p:spPr>
          <a:xfrm>
            <a:off x="4953000" y="533400"/>
            <a:ext cx="53907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Picture 4" descr="Amazon Redshift overview.">
            <a:extLst>
              <a:ext uri="{FF2B5EF4-FFF2-40B4-BE49-F238E27FC236}">
                <a16:creationId xmlns:a16="http://schemas.microsoft.com/office/drawing/2014/main" id="{2864B132-A59A-9109-5906-13F13FB4947B}"/>
              </a:ext>
            </a:extLst>
          </p:cNvPr>
          <p:cNvPicPr>
            <a:picLocks noChangeAspect="1"/>
          </p:cNvPicPr>
          <p:nvPr/>
        </p:nvPicPr>
        <p:blipFill>
          <a:blip r:embed="rId3"/>
          <a:stretch>
            <a:fillRect/>
          </a:stretch>
        </p:blipFill>
        <p:spPr>
          <a:xfrm>
            <a:off x="2503360" y="1905000"/>
            <a:ext cx="8088440" cy="4267200"/>
          </a:xfrm>
          <a:prstGeom prst="rect">
            <a:avLst/>
          </a:prstGeom>
        </p:spPr>
      </p:pic>
    </p:spTree>
    <p:extLst>
      <p:ext uri="{BB962C8B-B14F-4D97-AF65-F5344CB8AC3E}">
        <p14:creationId xmlns:p14="http://schemas.microsoft.com/office/powerpoint/2010/main" val="302109569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1D009-8B9F-7792-CFBB-35CC7776A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7A148-2922-7322-5206-E751A065C397}"/>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Redshift</a:t>
            </a:r>
            <a:endParaRPr lang="en-US" sz="2400" dirty="0"/>
          </a:p>
        </p:txBody>
      </p:sp>
      <p:sp>
        <p:nvSpPr>
          <p:cNvPr id="3" name="Text Placeholder 2">
            <a:extLst>
              <a:ext uri="{FF2B5EF4-FFF2-40B4-BE49-F238E27FC236}">
                <a16:creationId xmlns:a16="http://schemas.microsoft.com/office/drawing/2014/main" id="{0D3B25B6-E77E-8FD6-B0D2-8C1BF9D261DA}"/>
              </a:ext>
            </a:extLst>
          </p:cNvPr>
          <p:cNvSpPr>
            <a:spLocks noGrp="1"/>
          </p:cNvSpPr>
          <p:nvPr>
            <p:ph type="body" sz="quarter" idx="10"/>
          </p:nvPr>
        </p:nvSpPr>
        <p:spPr/>
        <p:txBody>
          <a:bodyPr>
            <a:normAutofit fontScale="77500" lnSpcReduction="20000"/>
          </a:bodyPr>
          <a:lstStyle/>
          <a:p>
            <a:r>
              <a:rPr lang="en-US" sz="2400" dirty="0"/>
              <a:t>Parallel processing architecture</a:t>
            </a:r>
          </a:p>
        </p:txBody>
      </p:sp>
      <p:sp>
        <p:nvSpPr>
          <p:cNvPr id="4" name="Title 1">
            <a:extLst>
              <a:ext uri="{FF2B5EF4-FFF2-40B4-BE49-F238E27FC236}">
                <a16:creationId xmlns:a16="http://schemas.microsoft.com/office/drawing/2014/main" id="{41204D54-F461-7DF7-3FA7-1B1DDEB73DE9}"/>
              </a:ext>
            </a:extLst>
          </p:cNvPr>
          <p:cNvSpPr txBox="1">
            <a:spLocks/>
          </p:cNvSpPr>
          <p:nvPr/>
        </p:nvSpPr>
        <p:spPr>
          <a:xfrm>
            <a:off x="4314047" y="469030"/>
            <a:ext cx="60960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5" name="Group 4" descr="Amazon Redshift parallel processing architecture.">
            <a:extLst>
              <a:ext uri="{FF2B5EF4-FFF2-40B4-BE49-F238E27FC236}">
                <a16:creationId xmlns:a16="http://schemas.microsoft.com/office/drawing/2014/main" id="{09D6F625-FBB8-FC57-E8F3-7866ED94AE0B}"/>
              </a:ext>
            </a:extLst>
          </p:cNvPr>
          <p:cNvGrpSpPr/>
          <p:nvPr/>
        </p:nvGrpSpPr>
        <p:grpSpPr>
          <a:xfrm>
            <a:off x="2514601" y="1828800"/>
            <a:ext cx="8078133" cy="4295622"/>
            <a:chOff x="1791220" y="1750740"/>
            <a:chExt cx="9756422" cy="4145082"/>
          </a:xfrm>
        </p:grpSpPr>
        <p:sp>
          <p:nvSpPr>
            <p:cNvPr id="6" name="TextBox 5">
              <a:extLst>
                <a:ext uri="{FF2B5EF4-FFF2-40B4-BE49-F238E27FC236}">
                  <a16:creationId xmlns:a16="http://schemas.microsoft.com/office/drawing/2014/main" id="{DE0A00A7-A28F-A392-D8B6-ED9DCB37AEB9}"/>
                </a:ext>
                <a:ext uri="{C183D7F6-B498-43B3-948B-1728B52AA6E4}">
                  <adec:decorative xmlns:adec="http://schemas.microsoft.com/office/drawing/2017/decorative" val="1"/>
                </a:ext>
              </a:extLst>
            </p:cNvPr>
            <p:cNvSpPr txBox="1"/>
            <p:nvPr/>
          </p:nvSpPr>
          <p:spPr>
            <a:xfrm>
              <a:off x="1791220" y="2820792"/>
              <a:ext cx="2301905" cy="252442"/>
            </a:xfrm>
            <a:prstGeom prst="rect">
              <a:avLst/>
            </a:prstGeom>
            <a:noFill/>
          </p:spPr>
          <p:txBody>
            <a:bodyPr wrap="square" rtlCol="0">
              <a:spAutoFit/>
            </a:bodyPr>
            <a:lstStyle/>
            <a:p>
              <a:pPr algn="ctr"/>
              <a:r>
                <a:rPr lang="en-US" sz="1100" dirty="0">
                  <a:latin typeface="Amazon Ember"/>
                  <a:ea typeface="Open Sans" panose="020B0606030504020204" pitchFamily="34" charset="0"/>
                  <a:cs typeface="Open Sans" panose="020B0606030504020204" pitchFamily="34" charset="0"/>
                </a:rPr>
                <a:t>Amazon Redshift</a:t>
              </a:r>
            </a:p>
          </p:txBody>
        </p:sp>
        <p:pic>
          <p:nvPicPr>
            <p:cNvPr id="7" name="Graphic 6">
              <a:extLst>
                <a:ext uri="{FF2B5EF4-FFF2-40B4-BE49-F238E27FC236}">
                  <a16:creationId xmlns:a16="http://schemas.microsoft.com/office/drawing/2014/main" id="{16274BD6-B61D-CA39-D36D-D8FC973F402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86572" y="2153968"/>
              <a:ext cx="711200" cy="711200"/>
            </a:xfrm>
            <a:prstGeom prst="rect">
              <a:avLst/>
            </a:prstGeom>
          </p:spPr>
        </p:pic>
        <p:sp>
          <p:nvSpPr>
            <p:cNvPr id="8" name="TextBox 7">
              <a:extLst>
                <a:ext uri="{FF2B5EF4-FFF2-40B4-BE49-F238E27FC236}">
                  <a16:creationId xmlns:a16="http://schemas.microsoft.com/office/drawing/2014/main" id="{5D17FCFB-B7FF-5AAB-8BFD-D4F0F5A66E55}"/>
                </a:ext>
                <a:ext uri="{C183D7F6-B498-43B3-948B-1728B52AA6E4}">
                  <adec:decorative xmlns:adec="http://schemas.microsoft.com/office/drawing/2017/decorative" val="1"/>
                </a:ext>
              </a:extLst>
            </p:cNvPr>
            <p:cNvSpPr txBox="1"/>
            <p:nvPr/>
          </p:nvSpPr>
          <p:spPr>
            <a:xfrm>
              <a:off x="1826201" y="3714361"/>
              <a:ext cx="2301905" cy="415787"/>
            </a:xfrm>
            <a:prstGeom prst="rect">
              <a:avLst/>
            </a:prstGeom>
            <a:noFill/>
          </p:spPr>
          <p:txBody>
            <a:bodyPr wrap="square" rtlCol="0">
              <a:spAutoFit/>
            </a:bodyPr>
            <a:lstStyle/>
            <a:p>
              <a:pPr algn="ctr"/>
              <a:r>
                <a:rPr lang="en-US" sz="1100" dirty="0">
                  <a:latin typeface="Open Sans" panose="020B0606030504020204" pitchFamily="34" charset="0"/>
                  <a:ea typeface="Open Sans" panose="020B0606030504020204" pitchFamily="34" charset="0"/>
                  <a:cs typeface="Open Sans" panose="020B0606030504020204" pitchFamily="34" charset="0"/>
                </a:rPr>
                <a:t>Dense compute</a:t>
              </a:r>
            </a:p>
            <a:p>
              <a:pPr algn="ctr"/>
              <a:r>
                <a:rPr lang="en-US" sz="1100" dirty="0">
                  <a:latin typeface="Open Sans" panose="020B0606030504020204" pitchFamily="34" charset="0"/>
                  <a:ea typeface="Open Sans" panose="020B0606030504020204" pitchFamily="34" charset="0"/>
                  <a:cs typeface="Open Sans" panose="020B0606030504020204" pitchFamily="34" charset="0"/>
                </a:rPr>
                <a:t> node</a:t>
              </a:r>
            </a:p>
          </p:txBody>
        </p:sp>
        <p:pic>
          <p:nvPicPr>
            <p:cNvPr id="9" name="Graphic 8">
              <a:extLst>
                <a:ext uri="{FF2B5EF4-FFF2-40B4-BE49-F238E27FC236}">
                  <a16:creationId xmlns:a16="http://schemas.microsoft.com/office/drawing/2014/main" id="{422AF50C-6304-60C1-D743-A1F38591824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73765" y="3244461"/>
              <a:ext cx="469900" cy="469900"/>
            </a:xfrm>
            <a:prstGeom prst="rect">
              <a:avLst/>
            </a:prstGeom>
          </p:spPr>
        </p:pic>
        <p:sp>
          <p:nvSpPr>
            <p:cNvPr id="10" name="TextBox 9">
              <a:extLst>
                <a:ext uri="{FF2B5EF4-FFF2-40B4-BE49-F238E27FC236}">
                  <a16:creationId xmlns:a16="http://schemas.microsoft.com/office/drawing/2014/main" id="{22787735-27C9-F897-2C98-B2FAC179172C}"/>
                </a:ext>
                <a:ext uri="{C183D7F6-B498-43B3-948B-1728B52AA6E4}">
                  <adec:decorative xmlns:adec="http://schemas.microsoft.com/office/drawing/2017/decorative" val="1"/>
                </a:ext>
              </a:extLst>
            </p:cNvPr>
            <p:cNvSpPr txBox="1"/>
            <p:nvPr/>
          </p:nvSpPr>
          <p:spPr>
            <a:xfrm>
              <a:off x="2208810" y="4290304"/>
              <a:ext cx="1506625" cy="579131"/>
            </a:xfrm>
            <a:prstGeom prst="rect">
              <a:avLst/>
            </a:prstGeom>
            <a:noFill/>
          </p:spPr>
          <p:txBody>
            <a:bodyPr wrap="none" rtlCol="0">
              <a:spAutoFit/>
            </a:bodyPr>
            <a:lstStyle/>
            <a:p>
              <a:pPr marL="285750" indent="-285750" algn="l">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Virtual Core</a:t>
              </a:r>
            </a:p>
            <a:p>
              <a:pPr marL="285750" indent="-285750" algn="l">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RAM</a:t>
              </a:r>
            </a:p>
            <a:p>
              <a:pPr marL="285750" indent="-285750" algn="l">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Local disk</a:t>
              </a:r>
            </a:p>
          </p:txBody>
        </p:sp>
        <p:pic>
          <p:nvPicPr>
            <p:cNvPr id="11" name="Graphic 10">
              <a:extLst>
                <a:ext uri="{FF2B5EF4-FFF2-40B4-BE49-F238E27FC236}">
                  <a16:creationId xmlns:a16="http://schemas.microsoft.com/office/drawing/2014/main" id="{AD20EE1A-0F73-3751-E40E-2D868076855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6130" y="3865045"/>
              <a:ext cx="469900" cy="469900"/>
            </a:xfrm>
            <a:prstGeom prst="rect">
              <a:avLst/>
            </a:prstGeom>
          </p:spPr>
        </p:pic>
        <p:sp>
          <p:nvSpPr>
            <p:cNvPr id="12" name="TextBox 11">
              <a:extLst>
                <a:ext uri="{FF2B5EF4-FFF2-40B4-BE49-F238E27FC236}">
                  <a16:creationId xmlns:a16="http://schemas.microsoft.com/office/drawing/2014/main" id="{FF4B0222-1567-3640-6958-F7DDAB5712C2}"/>
                </a:ext>
                <a:ext uri="{C183D7F6-B498-43B3-948B-1728B52AA6E4}">
                  <adec:decorative xmlns:adec="http://schemas.microsoft.com/office/drawing/2017/decorative" val="1"/>
                </a:ext>
              </a:extLst>
            </p:cNvPr>
            <p:cNvSpPr txBox="1"/>
            <p:nvPr/>
          </p:nvSpPr>
          <p:spPr>
            <a:xfrm>
              <a:off x="9060548" y="2972233"/>
              <a:ext cx="2301904" cy="296991"/>
            </a:xfrm>
            <a:prstGeom prst="rect">
              <a:avLst/>
            </a:prstGeom>
            <a:noFill/>
          </p:spPr>
          <p:txBody>
            <a:bodyPr wrap="square" rtlCol="0">
              <a:spAutoFit/>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Leader node</a:t>
              </a:r>
            </a:p>
          </p:txBody>
        </p:sp>
        <p:sp>
          <p:nvSpPr>
            <p:cNvPr id="13" name="TextBox 12">
              <a:extLst>
                <a:ext uri="{FF2B5EF4-FFF2-40B4-BE49-F238E27FC236}">
                  <a16:creationId xmlns:a16="http://schemas.microsoft.com/office/drawing/2014/main" id="{BBDDE8F7-3164-F1F4-75CD-4DEDCAFE06C2}"/>
                </a:ext>
                <a:ext uri="{C183D7F6-B498-43B3-948B-1728B52AA6E4}">
                  <adec:decorative xmlns:adec="http://schemas.microsoft.com/office/drawing/2017/decorative" val="1"/>
                </a:ext>
              </a:extLst>
            </p:cNvPr>
            <p:cNvSpPr txBox="1"/>
            <p:nvPr/>
          </p:nvSpPr>
          <p:spPr>
            <a:xfrm>
              <a:off x="9590533" y="3938150"/>
              <a:ext cx="1957109" cy="504884"/>
            </a:xfrm>
            <a:prstGeom prst="rect">
              <a:avLst/>
            </a:prstGeom>
            <a:noFill/>
          </p:spPr>
          <p:txBody>
            <a:bodyPr wrap="square" rtlCol="0">
              <a:spAutoFit/>
            </a:bodyPr>
            <a:lstStyle/>
            <a:p>
              <a:pPr algn="l"/>
              <a:r>
                <a:rPr lang="en-US" sz="1400" dirty="0">
                  <a:latin typeface="Open Sans" panose="020B0606030504020204" pitchFamily="34" charset="0"/>
                  <a:ea typeface="Open Sans" panose="020B0606030504020204" pitchFamily="34" charset="0"/>
                  <a:cs typeface="Open Sans" panose="020B0606030504020204" pitchFamily="34" charset="0"/>
                </a:rPr>
                <a:t>Dense compute nodes</a:t>
              </a:r>
            </a:p>
          </p:txBody>
        </p:sp>
        <p:pic>
          <p:nvPicPr>
            <p:cNvPr id="14" name="Graphic 13">
              <a:extLst>
                <a:ext uri="{FF2B5EF4-FFF2-40B4-BE49-F238E27FC236}">
                  <a16:creationId xmlns:a16="http://schemas.microsoft.com/office/drawing/2014/main" id="{D509FB64-1298-C598-DC80-5BC808AB8B8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63150" y="3917082"/>
              <a:ext cx="469900" cy="469900"/>
            </a:xfrm>
            <a:prstGeom prst="rect">
              <a:avLst/>
            </a:prstGeom>
          </p:spPr>
        </p:pic>
        <p:pic>
          <p:nvPicPr>
            <p:cNvPr id="15" name="Graphic 14">
              <a:extLst>
                <a:ext uri="{FF2B5EF4-FFF2-40B4-BE49-F238E27FC236}">
                  <a16:creationId xmlns:a16="http://schemas.microsoft.com/office/drawing/2014/main" id="{90A42CAD-52CB-DD1E-8925-0E8655676BE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1057" y="3872477"/>
              <a:ext cx="469900" cy="469900"/>
            </a:xfrm>
            <a:prstGeom prst="rect">
              <a:avLst/>
            </a:prstGeom>
          </p:spPr>
        </p:pic>
        <p:pic>
          <p:nvPicPr>
            <p:cNvPr id="16" name="Graphic 15">
              <a:extLst>
                <a:ext uri="{FF2B5EF4-FFF2-40B4-BE49-F238E27FC236}">
                  <a16:creationId xmlns:a16="http://schemas.microsoft.com/office/drawing/2014/main" id="{FFB2C5B3-442D-BC85-8D4B-8581103671A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2206" y="2910627"/>
              <a:ext cx="469900" cy="469900"/>
            </a:xfrm>
            <a:prstGeom prst="rect">
              <a:avLst/>
            </a:prstGeom>
          </p:spPr>
        </p:pic>
        <p:sp>
          <p:nvSpPr>
            <p:cNvPr id="17" name="Rectangle: Rounded Corners 16">
              <a:extLst>
                <a:ext uri="{FF2B5EF4-FFF2-40B4-BE49-F238E27FC236}">
                  <a16:creationId xmlns:a16="http://schemas.microsoft.com/office/drawing/2014/main" id="{B24D3ED0-1E13-7D5B-4A68-53189A16DEFF}"/>
                </a:ext>
                <a:ext uri="{C183D7F6-B498-43B3-948B-1728B52AA6E4}">
                  <adec:decorative xmlns:adec="http://schemas.microsoft.com/office/drawing/2017/decorative" val="1"/>
                </a:ext>
              </a:extLst>
            </p:cNvPr>
            <p:cNvSpPr/>
            <p:nvPr/>
          </p:nvSpPr>
          <p:spPr>
            <a:xfrm>
              <a:off x="2263697" y="1750740"/>
              <a:ext cx="1371599" cy="414508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Rounded Corners 17">
              <a:extLst>
                <a:ext uri="{FF2B5EF4-FFF2-40B4-BE49-F238E27FC236}">
                  <a16:creationId xmlns:a16="http://schemas.microsoft.com/office/drawing/2014/main" id="{DE91C86D-47BB-677F-A11B-1080766B87A6}"/>
                </a:ext>
                <a:ext uri="{C183D7F6-B498-43B3-948B-1728B52AA6E4}">
                  <adec:decorative xmlns:adec="http://schemas.microsoft.com/office/drawing/2017/decorative" val="1"/>
                </a:ext>
              </a:extLst>
            </p:cNvPr>
            <p:cNvSpPr/>
            <p:nvPr/>
          </p:nvSpPr>
          <p:spPr>
            <a:xfrm>
              <a:off x="7186365" y="1862254"/>
              <a:ext cx="1967342" cy="517513"/>
            </a:xfrm>
            <a:prstGeom prst="roundRect">
              <a:avLst/>
            </a:prstGeom>
            <a:gradFill>
              <a:gsLst>
                <a:gs pos="0">
                  <a:schemeClr val="accent5"/>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63EC729A-A329-EBEA-09D3-8BB2F6AB31FC}"/>
                </a:ext>
                <a:ext uri="{C183D7F6-B498-43B3-948B-1728B52AA6E4}">
                  <adec:decorative xmlns:adec="http://schemas.microsoft.com/office/drawing/2017/decorative" val="1"/>
                </a:ext>
              </a:extLst>
            </p:cNvPr>
            <p:cNvSpPr txBox="1"/>
            <p:nvPr/>
          </p:nvSpPr>
          <p:spPr>
            <a:xfrm>
              <a:off x="9536658" y="1905406"/>
              <a:ext cx="1825794" cy="504884"/>
            </a:xfrm>
            <a:prstGeom prst="rect">
              <a:avLst/>
            </a:prstGeom>
            <a:noFill/>
          </p:spPr>
          <p:txBody>
            <a:bodyPr wrap="square" rtlCol="0">
              <a:spAutoFit/>
            </a:bodyPr>
            <a:lstStyle/>
            <a:p>
              <a:pPr algn="l"/>
              <a:r>
                <a:rPr lang="en-US" sz="1400" dirty="0">
                  <a:latin typeface="Open Sans" panose="020B0606030504020204" pitchFamily="34" charset="0"/>
                  <a:ea typeface="Open Sans" panose="020B0606030504020204" pitchFamily="34" charset="0"/>
                  <a:cs typeface="Open Sans" panose="020B0606030504020204" pitchFamily="34" charset="0"/>
                </a:rPr>
                <a:t>SQL Clients/BI tools</a:t>
              </a:r>
            </a:p>
          </p:txBody>
        </p:sp>
        <p:sp>
          <p:nvSpPr>
            <p:cNvPr id="20" name="Rectangle: Rounded Corners 19">
              <a:extLst>
                <a:ext uri="{FF2B5EF4-FFF2-40B4-BE49-F238E27FC236}">
                  <a16:creationId xmlns:a16="http://schemas.microsoft.com/office/drawing/2014/main" id="{355822EC-405A-9E7B-D772-BB9768B14C90}"/>
                </a:ext>
                <a:ext uri="{C183D7F6-B498-43B3-948B-1728B52AA6E4}">
                  <adec:decorative xmlns:adec="http://schemas.microsoft.com/office/drawing/2017/decorative" val="1"/>
                </a:ext>
              </a:extLst>
            </p:cNvPr>
            <p:cNvSpPr/>
            <p:nvPr/>
          </p:nvSpPr>
          <p:spPr>
            <a:xfrm>
              <a:off x="6852930" y="4806173"/>
              <a:ext cx="2409700" cy="82603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anose="020B0606030504020204" pitchFamily="34" charset="0"/>
                <a:ea typeface="Open Sans" panose="020B0606030504020204" pitchFamily="34" charset="0"/>
                <a:cs typeface="Open Sans" panose="020B0606030504020204" pitchFamily="34" charset="0"/>
              </a:endParaRPr>
            </a:p>
          </p:txBody>
        </p:sp>
        <p:pic>
          <p:nvPicPr>
            <p:cNvPr id="21" name="Graphic 20">
              <a:extLst>
                <a:ext uri="{FF2B5EF4-FFF2-40B4-BE49-F238E27FC236}">
                  <a16:creationId xmlns:a16="http://schemas.microsoft.com/office/drawing/2014/main" id="{138B7350-830E-C40C-9C76-FA7519BB0526}"/>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15213" y="4874652"/>
              <a:ext cx="711200" cy="711200"/>
            </a:xfrm>
            <a:prstGeom prst="rect">
              <a:avLst/>
            </a:prstGeom>
          </p:spPr>
        </p:pic>
        <p:pic>
          <p:nvPicPr>
            <p:cNvPr id="22" name="Graphic 21">
              <a:extLst>
                <a:ext uri="{FF2B5EF4-FFF2-40B4-BE49-F238E27FC236}">
                  <a16:creationId xmlns:a16="http://schemas.microsoft.com/office/drawing/2014/main" id="{AD6D90E5-5569-1A28-AD8A-BD79BD21997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44787" y="4880511"/>
              <a:ext cx="711200" cy="711200"/>
            </a:xfrm>
            <a:prstGeom prst="rect">
              <a:avLst/>
            </a:prstGeom>
          </p:spPr>
        </p:pic>
        <p:sp>
          <p:nvSpPr>
            <p:cNvPr id="23" name="TextBox 22">
              <a:extLst>
                <a:ext uri="{FF2B5EF4-FFF2-40B4-BE49-F238E27FC236}">
                  <a16:creationId xmlns:a16="http://schemas.microsoft.com/office/drawing/2014/main" id="{125FA1F4-148F-2D59-58BB-A31B120BE263}"/>
                </a:ext>
                <a:ext uri="{C183D7F6-B498-43B3-948B-1728B52AA6E4}">
                  <adec:decorative xmlns:adec="http://schemas.microsoft.com/office/drawing/2017/decorative" val="1"/>
                </a:ext>
              </a:extLst>
            </p:cNvPr>
            <p:cNvSpPr txBox="1"/>
            <p:nvPr/>
          </p:nvSpPr>
          <p:spPr>
            <a:xfrm>
              <a:off x="9521831" y="4859924"/>
              <a:ext cx="1782739" cy="712778"/>
            </a:xfrm>
            <a:prstGeom prst="rect">
              <a:avLst/>
            </a:prstGeom>
            <a:noFill/>
          </p:spPr>
          <p:txBody>
            <a:bodyPr wrap="square" rtlCol="0">
              <a:spAutoFit/>
            </a:bodyPr>
            <a:lstStyle/>
            <a:p>
              <a:r>
                <a:rPr lang="en-US" sz="1400" dirty="0">
                  <a:latin typeface="Open Sans" panose="020B0606030504020204" pitchFamily="34" charset="0"/>
                  <a:ea typeface="Open Sans" panose="020B0606030504020204" pitchFamily="34" charset="0"/>
                  <a:cs typeface="Open Sans" panose="020B0606030504020204" pitchFamily="34" charset="0"/>
                </a:rPr>
                <a:t>Amazon DynamoDB</a:t>
              </a:r>
            </a:p>
            <a:p>
              <a:r>
                <a:rPr lang="en-US" sz="1400" dirty="0">
                  <a:latin typeface="Open Sans" panose="020B0606030504020204" pitchFamily="34" charset="0"/>
                  <a:ea typeface="Open Sans" panose="020B0606030504020204" pitchFamily="34" charset="0"/>
                  <a:cs typeface="Open Sans" panose="020B0606030504020204" pitchFamily="34" charset="0"/>
                </a:rPr>
                <a:t>Amazon S3</a:t>
              </a:r>
            </a:p>
          </p:txBody>
        </p:sp>
        <p:cxnSp>
          <p:nvCxnSpPr>
            <p:cNvPr id="24" name="Straight Connector 23">
              <a:extLst>
                <a:ext uri="{FF2B5EF4-FFF2-40B4-BE49-F238E27FC236}">
                  <a16:creationId xmlns:a16="http://schemas.microsoft.com/office/drawing/2014/main" id="{064149A4-18F8-A1E5-E96A-8CF8DF986EE1}"/>
                </a:ext>
                <a:ext uri="{C183D7F6-B498-43B3-948B-1728B52AA6E4}">
                  <adec:decorative xmlns:adec="http://schemas.microsoft.com/office/drawing/2017/decorative" val="1"/>
                </a:ext>
              </a:extLst>
            </p:cNvPr>
            <p:cNvCxnSpPr>
              <a:cxnSpLocks/>
            </p:cNvCxnSpPr>
            <p:nvPr/>
          </p:nvCxnSpPr>
          <p:spPr>
            <a:xfrm flipH="1" flipV="1">
              <a:off x="3838288" y="2379767"/>
              <a:ext cx="2807839" cy="1638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46B423-FAFD-44F1-C348-190EA858DD29}"/>
                </a:ext>
                <a:ext uri="{C183D7F6-B498-43B3-948B-1728B52AA6E4}">
                  <adec:decorative xmlns:adec="http://schemas.microsoft.com/office/drawing/2017/decorative" val="1"/>
                </a:ext>
              </a:extLst>
            </p:cNvPr>
            <p:cNvCxnSpPr>
              <a:cxnSpLocks/>
            </p:cNvCxnSpPr>
            <p:nvPr/>
          </p:nvCxnSpPr>
          <p:spPr>
            <a:xfrm flipH="1">
              <a:off x="3838288" y="4021706"/>
              <a:ext cx="2783191" cy="1239579"/>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8234158"/>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6D94E-AEBE-ACC6-54E4-3560F78CE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8DA79-33D9-5DD9-263F-D1071F316255}"/>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Redshift</a:t>
            </a:r>
            <a:endParaRPr lang="en-US" sz="2400" dirty="0"/>
          </a:p>
        </p:txBody>
      </p:sp>
      <p:sp>
        <p:nvSpPr>
          <p:cNvPr id="3" name="Text Placeholder 2">
            <a:extLst>
              <a:ext uri="{FF2B5EF4-FFF2-40B4-BE49-F238E27FC236}">
                <a16:creationId xmlns:a16="http://schemas.microsoft.com/office/drawing/2014/main" id="{FDF903E0-E6EE-4C8F-B27E-134031D3AB39}"/>
              </a:ext>
            </a:extLst>
          </p:cNvPr>
          <p:cNvSpPr>
            <a:spLocks noGrp="1"/>
          </p:cNvSpPr>
          <p:nvPr>
            <p:ph type="body" sz="quarter" idx="10"/>
          </p:nvPr>
        </p:nvSpPr>
        <p:spPr/>
        <p:txBody>
          <a:bodyPr>
            <a:normAutofit fontScale="92500" lnSpcReduction="10000"/>
          </a:bodyPr>
          <a:lstStyle/>
          <a:p>
            <a:r>
              <a:rPr lang="en-US" sz="2400" dirty="0"/>
              <a:t>Automation and scaling</a:t>
            </a:r>
          </a:p>
        </p:txBody>
      </p:sp>
      <p:sp>
        <p:nvSpPr>
          <p:cNvPr id="4" name="Title 1">
            <a:extLst>
              <a:ext uri="{FF2B5EF4-FFF2-40B4-BE49-F238E27FC236}">
                <a16:creationId xmlns:a16="http://schemas.microsoft.com/office/drawing/2014/main" id="{D5F1EEC3-DF56-E78C-297A-E77899D50F9B}"/>
              </a:ext>
            </a:extLst>
          </p:cNvPr>
          <p:cNvSpPr txBox="1">
            <a:spLocks/>
          </p:cNvSpPr>
          <p:nvPr/>
        </p:nvSpPr>
        <p:spPr>
          <a:xfrm>
            <a:off x="4314047" y="469030"/>
            <a:ext cx="60960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grpSp>
        <p:nvGrpSpPr>
          <p:cNvPr id="26" name="Group 25" descr="You can automate managing, monitoring, and scaling Amazon Redshift implementations.">
            <a:extLst>
              <a:ext uri="{FF2B5EF4-FFF2-40B4-BE49-F238E27FC236}">
                <a16:creationId xmlns:a16="http://schemas.microsoft.com/office/drawing/2014/main" id="{BDB65BFC-39CC-460D-C90D-BEB1BC33549A}"/>
              </a:ext>
            </a:extLst>
          </p:cNvPr>
          <p:cNvGrpSpPr/>
          <p:nvPr/>
        </p:nvGrpSpPr>
        <p:grpSpPr>
          <a:xfrm>
            <a:off x="1992436" y="1706060"/>
            <a:ext cx="8207128" cy="5248855"/>
            <a:chOff x="1634667" y="1341436"/>
            <a:chExt cx="8207128" cy="5248855"/>
          </a:xfrm>
        </p:grpSpPr>
        <p:pic>
          <p:nvPicPr>
            <p:cNvPr id="27" name="Picture 26">
              <a:extLst>
                <a:ext uri="{FF2B5EF4-FFF2-40B4-BE49-F238E27FC236}">
                  <a16:creationId xmlns:a16="http://schemas.microsoft.com/office/drawing/2014/main" id="{9F6833D7-958C-872E-A516-8084393D377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34667" y="1341436"/>
              <a:ext cx="4417786" cy="5248855"/>
            </a:xfrm>
            <a:prstGeom prst="rect">
              <a:avLst/>
            </a:prstGeom>
          </p:spPr>
        </p:pic>
        <p:pic>
          <p:nvPicPr>
            <p:cNvPr id="28" name="Picture 27">
              <a:extLst>
                <a:ext uri="{FF2B5EF4-FFF2-40B4-BE49-F238E27FC236}">
                  <a16:creationId xmlns:a16="http://schemas.microsoft.com/office/drawing/2014/main" id="{77159755-8C65-9C93-919C-58EF932BC14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96000" y="1341436"/>
              <a:ext cx="1915886" cy="3207996"/>
            </a:xfrm>
            <a:prstGeom prst="rect">
              <a:avLst/>
            </a:prstGeom>
          </p:spPr>
        </p:pic>
        <p:sp>
          <p:nvSpPr>
            <p:cNvPr id="29" name="TextBox 28">
              <a:extLst>
                <a:ext uri="{FF2B5EF4-FFF2-40B4-BE49-F238E27FC236}">
                  <a16:creationId xmlns:a16="http://schemas.microsoft.com/office/drawing/2014/main" id="{441ABA0E-EFD6-E468-A6D8-C811C8A146D9}"/>
                </a:ext>
                <a:ext uri="{C183D7F6-B498-43B3-948B-1728B52AA6E4}">
                  <adec:decorative xmlns:adec="http://schemas.microsoft.com/office/drawing/2017/decorative" val="1"/>
                </a:ext>
              </a:extLst>
            </p:cNvPr>
            <p:cNvSpPr txBox="1"/>
            <p:nvPr/>
          </p:nvSpPr>
          <p:spPr>
            <a:xfrm>
              <a:off x="8355491" y="1785256"/>
              <a:ext cx="1486304"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Manage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30" name="TextBox 29">
              <a:extLst>
                <a:ext uri="{FF2B5EF4-FFF2-40B4-BE49-F238E27FC236}">
                  <a16:creationId xmlns:a16="http://schemas.microsoft.com/office/drawing/2014/main" id="{2312F6AE-6E0B-CCDF-E7E6-B111C3744012}"/>
                </a:ext>
                <a:ext uri="{C183D7F6-B498-43B3-948B-1728B52AA6E4}">
                  <adec:decorative xmlns:adec="http://schemas.microsoft.com/office/drawing/2017/decorative" val="1"/>
                </a:ext>
              </a:extLst>
            </p:cNvPr>
            <p:cNvSpPr txBox="1"/>
            <p:nvPr/>
          </p:nvSpPr>
          <p:spPr>
            <a:xfrm>
              <a:off x="8359146" y="3331049"/>
              <a:ext cx="147829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Monitor</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31" name="TextBox 30">
              <a:extLst>
                <a:ext uri="{FF2B5EF4-FFF2-40B4-BE49-F238E27FC236}">
                  <a16:creationId xmlns:a16="http://schemas.microsoft.com/office/drawing/2014/main" id="{2F919D6B-E04D-71F6-2CD6-A685FB3D7D00}"/>
                </a:ext>
                <a:ext uri="{C183D7F6-B498-43B3-948B-1728B52AA6E4}">
                  <adec:decorative xmlns:adec="http://schemas.microsoft.com/office/drawing/2017/decorative" val="1"/>
                </a:ext>
              </a:extLst>
            </p:cNvPr>
            <p:cNvSpPr txBox="1"/>
            <p:nvPr/>
          </p:nvSpPr>
          <p:spPr>
            <a:xfrm>
              <a:off x="8355491" y="5165072"/>
              <a:ext cx="1035861"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Scale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32" name="Up Arrow 11">
              <a:extLst>
                <a:ext uri="{FF2B5EF4-FFF2-40B4-BE49-F238E27FC236}">
                  <a16:creationId xmlns:a16="http://schemas.microsoft.com/office/drawing/2014/main" id="{D9994A09-0641-C924-07EF-0982360455A2}"/>
                </a:ext>
                <a:ext uri="{C183D7F6-B498-43B3-948B-1728B52AA6E4}">
                  <adec:decorative xmlns:adec="http://schemas.microsoft.com/office/drawing/2017/decorative" val="1"/>
                </a:ext>
              </a:extLst>
            </p:cNvPr>
            <p:cNvSpPr/>
            <p:nvPr/>
          </p:nvSpPr>
          <p:spPr>
            <a:xfrm>
              <a:off x="7049585" y="4942113"/>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462887E-F38A-3461-F72A-3EC9EEE9A91A}"/>
                </a:ext>
                <a:ext uri="{C183D7F6-B498-43B3-948B-1728B52AA6E4}">
                  <adec:decorative xmlns:adec="http://schemas.microsoft.com/office/drawing/2017/decorative" val="1"/>
                </a:ext>
              </a:extLst>
            </p:cNvPr>
            <p:cNvSpPr/>
            <p:nvPr/>
          </p:nvSpPr>
          <p:spPr>
            <a:xfrm>
              <a:off x="7174770" y="591645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8D6F26C-D342-5178-E6A4-D43F539D2F3D}"/>
                </a:ext>
                <a:ext uri="{C183D7F6-B498-43B3-948B-1728B52AA6E4}">
                  <adec:decorative xmlns:adec="http://schemas.microsoft.com/office/drawing/2017/decorative" val="1"/>
                </a:ext>
              </a:extLst>
            </p:cNvPr>
            <p:cNvSpPr/>
            <p:nvPr/>
          </p:nvSpPr>
          <p:spPr>
            <a:xfrm>
              <a:off x="7174770" y="5702613"/>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Up Arrow 19">
              <a:extLst>
                <a:ext uri="{FF2B5EF4-FFF2-40B4-BE49-F238E27FC236}">
                  <a16:creationId xmlns:a16="http://schemas.microsoft.com/office/drawing/2014/main" id="{3D1B210F-6D7B-4BC1-4308-E62A14525834}"/>
                </a:ext>
                <a:ext uri="{C183D7F6-B498-43B3-948B-1728B52AA6E4}">
                  <adec:decorative xmlns:adec="http://schemas.microsoft.com/office/drawing/2017/decorative" val="1"/>
                </a:ext>
              </a:extLst>
            </p:cNvPr>
            <p:cNvSpPr/>
            <p:nvPr/>
          </p:nvSpPr>
          <p:spPr>
            <a:xfrm rot="10800000">
              <a:off x="6533792" y="5250247"/>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AB5288D-2D0C-9305-8951-77655F95EA57}"/>
                </a:ext>
                <a:ext uri="{C183D7F6-B498-43B3-948B-1728B52AA6E4}">
                  <adec:decorative xmlns:adec="http://schemas.microsoft.com/office/drawing/2017/decorative" val="1"/>
                </a:ext>
              </a:extLst>
            </p:cNvPr>
            <p:cNvSpPr/>
            <p:nvPr/>
          </p:nvSpPr>
          <p:spPr>
            <a:xfrm rot="10800000">
              <a:off x="6658978" y="494211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EAD0674-BEB8-C90E-2B59-3F34CEE64E60}"/>
                </a:ext>
                <a:ext uri="{C183D7F6-B498-43B3-948B-1728B52AA6E4}">
                  <adec:decorative xmlns:adec="http://schemas.microsoft.com/office/drawing/2017/decorative" val="1"/>
                </a:ext>
              </a:extLst>
            </p:cNvPr>
            <p:cNvSpPr/>
            <p:nvPr/>
          </p:nvSpPr>
          <p:spPr>
            <a:xfrm rot="10800000">
              <a:off x="6658978" y="5038387"/>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00682437"/>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DA7D-795A-6903-3E4D-627AA565157D}"/>
              </a:ext>
            </a:extLst>
          </p:cNvPr>
          <p:cNvSpPr>
            <a:spLocks noGrp="1"/>
          </p:cNvSpPr>
          <p:nvPr>
            <p:ph type="title"/>
          </p:nvPr>
        </p:nvSpPr>
        <p:spPr/>
        <p:txBody>
          <a:bodyPr>
            <a:normAutofit fontScale="90000"/>
          </a:bodyPr>
          <a:lstStyle/>
          <a:p>
            <a:r>
              <a:rPr lang="sv-SE" sz="1600" dirty="0">
                <a:latin typeface="Tahoma" panose="020B0604030504040204" pitchFamily="34" charset="0"/>
                <a:ea typeface="Tahoma" panose="020B0604030504040204" pitchFamily="34" charset="0"/>
                <a:cs typeface="Tahoma" panose="020B0604030504040204" pitchFamily="34" charset="0"/>
              </a:rPr>
              <a:t>Amazon Redshift</a:t>
            </a:r>
            <a:endParaRPr lang="en-US" dirty="0"/>
          </a:p>
        </p:txBody>
      </p:sp>
      <p:sp>
        <p:nvSpPr>
          <p:cNvPr id="3" name="Text Placeholder 2">
            <a:extLst>
              <a:ext uri="{FF2B5EF4-FFF2-40B4-BE49-F238E27FC236}">
                <a16:creationId xmlns:a16="http://schemas.microsoft.com/office/drawing/2014/main" id="{80CC2A28-ACB1-A641-ECFE-71CD5BDA3FAC}"/>
              </a:ext>
            </a:extLst>
          </p:cNvPr>
          <p:cNvSpPr>
            <a:spLocks noGrp="1"/>
          </p:cNvSpPr>
          <p:nvPr>
            <p:ph type="body" sz="quarter" idx="10"/>
          </p:nvPr>
        </p:nvSpPr>
        <p:spPr/>
        <p:txBody>
          <a:bodyPr/>
          <a:lstStyle/>
          <a:p>
            <a:r>
              <a:rPr lang="en-US" dirty="0"/>
              <a:t>Compatibility</a:t>
            </a:r>
          </a:p>
        </p:txBody>
      </p:sp>
      <p:sp>
        <p:nvSpPr>
          <p:cNvPr id="4" name="Content Placeholder 3">
            <a:extLst>
              <a:ext uri="{FF2B5EF4-FFF2-40B4-BE49-F238E27FC236}">
                <a16:creationId xmlns:a16="http://schemas.microsoft.com/office/drawing/2014/main" id="{35C4BBC4-3363-A33C-63CF-E6A6CC3C8097}"/>
              </a:ext>
            </a:extLst>
          </p:cNvPr>
          <p:cNvSpPr>
            <a:spLocks noGrp="1"/>
          </p:cNvSpPr>
          <p:nvPr>
            <p:ph sz="quarter" idx="11"/>
          </p:nvPr>
        </p:nvSpPr>
        <p:spPr/>
        <p:txBody>
          <a:bodyPr/>
          <a:lstStyle/>
          <a:p>
            <a:endParaRPr lang="en-US"/>
          </a:p>
        </p:txBody>
      </p:sp>
      <p:pic>
        <p:nvPicPr>
          <p:cNvPr id="5" name="Picture 4" descr="Amazon Redshift is compatible with many SQL clients.">
            <a:extLst>
              <a:ext uri="{FF2B5EF4-FFF2-40B4-BE49-F238E27FC236}">
                <a16:creationId xmlns:a16="http://schemas.microsoft.com/office/drawing/2014/main" id="{7695FC03-5C93-F64C-3456-773836C16CE4}"/>
              </a:ext>
            </a:extLst>
          </p:cNvPr>
          <p:cNvPicPr>
            <a:picLocks noChangeAspect="1"/>
          </p:cNvPicPr>
          <p:nvPr/>
        </p:nvPicPr>
        <p:blipFill>
          <a:blip r:embed="rId3"/>
          <a:stretch>
            <a:fillRect/>
          </a:stretch>
        </p:blipFill>
        <p:spPr>
          <a:xfrm>
            <a:off x="1690072" y="2006647"/>
            <a:ext cx="8811855" cy="3915321"/>
          </a:xfrm>
          <a:prstGeom prst="rect">
            <a:avLst/>
          </a:prstGeom>
        </p:spPr>
      </p:pic>
    </p:spTree>
    <p:extLst>
      <p:ext uri="{BB962C8B-B14F-4D97-AF65-F5344CB8AC3E}">
        <p14:creationId xmlns:p14="http://schemas.microsoft.com/office/powerpoint/2010/main" val="239739970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0E228-7F16-898E-C4AC-2E4DC536B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D780F-CCDA-261D-302C-385B875CCC40}"/>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Redshift</a:t>
            </a:r>
            <a:endParaRPr lang="en-US" sz="2400" dirty="0"/>
          </a:p>
        </p:txBody>
      </p:sp>
      <p:sp>
        <p:nvSpPr>
          <p:cNvPr id="3" name="Text Placeholder 2">
            <a:extLst>
              <a:ext uri="{FF2B5EF4-FFF2-40B4-BE49-F238E27FC236}">
                <a16:creationId xmlns:a16="http://schemas.microsoft.com/office/drawing/2014/main" id="{D9F077E7-B8A4-06FB-7106-438FE7A1448C}"/>
              </a:ext>
            </a:extLst>
          </p:cNvPr>
          <p:cNvSpPr>
            <a:spLocks noGrp="1"/>
          </p:cNvSpPr>
          <p:nvPr>
            <p:ph type="body" sz="quarter" idx="10"/>
          </p:nvPr>
        </p:nvSpPr>
        <p:spPr/>
        <p:txBody>
          <a:bodyPr>
            <a:normAutofit lnSpcReduction="10000"/>
          </a:bodyPr>
          <a:lstStyle/>
          <a:p>
            <a:r>
              <a:rPr lang="en-US" sz="2400" dirty="0"/>
              <a:t>Amazon Redshift use cases</a:t>
            </a:r>
          </a:p>
        </p:txBody>
      </p:sp>
      <p:sp>
        <p:nvSpPr>
          <p:cNvPr id="4" name="Title 1">
            <a:extLst>
              <a:ext uri="{FF2B5EF4-FFF2-40B4-BE49-F238E27FC236}">
                <a16:creationId xmlns:a16="http://schemas.microsoft.com/office/drawing/2014/main" id="{3B52701F-FFD6-7A0C-3431-50FA9D50284F}"/>
              </a:ext>
            </a:extLst>
          </p:cNvPr>
          <p:cNvSpPr txBox="1">
            <a:spLocks/>
          </p:cNvSpPr>
          <p:nvPr/>
        </p:nvSpPr>
        <p:spPr>
          <a:xfrm>
            <a:off x="40386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sp>
        <p:nvSpPr>
          <p:cNvPr id="5" name="Content Placeholder 2">
            <a:extLst>
              <a:ext uri="{FF2B5EF4-FFF2-40B4-BE49-F238E27FC236}">
                <a16:creationId xmlns:a16="http://schemas.microsoft.com/office/drawing/2014/main" id="{41C2725C-538B-9EF5-1ED9-EB44F165AE20}"/>
              </a:ext>
            </a:extLst>
          </p:cNvPr>
          <p:cNvSpPr txBox="1">
            <a:spLocks/>
          </p:cNvSpPr>
          <p:nvPr/>
        </p:nvSpPr>
        <p:spPr>
          <a:xfrm>
            <a:off x="2590800" y="1524000"/>
            <a:ext cx="7848600" cy="506570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Enterprise data warehouse (EDW)</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Migrate at a pace that customers are comfortable with</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Experiment without large upfront cost or commitment</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Respond faster to business needs</a:t>
            </a:r>
          </a:p>
          <a:p>
            <a:pPr marL="457200" lvl="1"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Big data</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Low price point for small customers</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Managed service for ease of deployment and maintenance</a:t>
            </a:r>
          </a:p>
          <a:p>
            <a:pPr marL="914400" lvl="2"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Focus more on data and less on database management</a:t>
            </a:r>
          </a:p>
          <a:p>
            <a:pPr marL="457200" lvl="1" indent="-457200" algn="just">
              <a:spcBef>
                <a:spcPts val="600"/>
              </a:spcBef>
              <a:spcAft>
                <a:spcPts val="800"/>
              </a:spcAft>
            </a:pPr>
            <a:r>
              <a:rPr lang="en-US" sz="1800" dirty="0">
                <a:latin typeface="Open Sans" panose="020B0606030504020204" pitchFamily="34" charset="0"/>
                <a:ea typeface="Open Sans" panose="020B0606030504020204" pitchFamily="34" charset="0"/>
                <a:cs typeface="Open Sans" panose="020B0606030504020204" pitchFamily="34" charset="0"/>
              </a:rPr>
              <a:t>Software as a service (SaaS)</a:t>
            </a:r>
          </a:p>
          <a:p>
            <a:pPr marL="914400" lvl="2" indent="-457200" algn="just">
              <a:spcBef>
                <a:spcPts val="600"/>
              </a:spcBef>
            </a:pPr>
            <a:r>
              <a:rPr lang="en-US" sz="1800" dirty="0">
                <a:latin typeface="Open Sans" panose="020B0606030504020204" pitchFamily="34" charset="0"/>
                <a:ea typeface="Open Sans" panose="020B0606030504020204" pitchFamily="34" charset="0"/>
                <a:cs typeface="Open Sans" panose="020B0606030504020204" pitchFamily="34" charset="0"/>
              </a:rPr>
              <a:t>Scale the data warehouse capacity as demand grows</a:t>
            </a:r>
          </a:p>
          <a:p>
            <a:pPr marL="914400" lvl="2" indent="-457200" algn="just">
              <a:spcBef>
                <a:spcPts val="600"/>
              </a:spcBef>
            </a:pPr>
            <a:r>
              <a:rPr lang="en-US" sz="1800" dirty="0">
                <a:latin typeface="Open Sans" panose="020B0606030504020204" pitchFamily="34" charset="0"/>
                <a:ea typeface="Open Sans" panose="020B0606030504020204" pitchFamily="34" charset="0"/>
                <a:cs typeface="Open Sans" panose="020B0606030504020204" pitchFamily="34" charset="0"/>
              </a:rPr>
              <a:t>Add analytic functionality to applications</a:t>
            </a:r>
          </a:p>
          <a:p>
            <a:pPr marL="914400" lvl="2" indent="-457200" algn="just">
              <a:spcBef>
                <a:spcPts val="600"/>
              </a:spcBef>
            </a:pPr>
            <a:r>
              <a:rPr lang="en-US" sz="1800" dirty="0">
                <a:latin typeface="Open Sans" panose="020B0606030504020204" pitchFamily="34" charset="0"/>
                <a:ea typeface="Open Sans" panose="020B0606030504020204" pitchFamily="34" charset="0"/>
                <a:cs typeface="Open Sans" panose="020B0606030504020204" pitchFamily="34" charset="0"/>
              </a:rPr>
              <a:t>Reduce hardware and software costs</a:t>
            </a:r>
          </a:p>
        </p:txBody>
      </p:sp>
    </p:spTree>
    <p:extLst>
      <p:ext uri="{BB962C8B-B14F-4D97-AF65-F5344CB8AC3E}">
        <p14:creationId xmlns:p14="http://schemas.microsoft.com/office/powerpoint/2010/main" val="352056811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F1EC6-B49D-AE7C-9DB7-7FD95D8EB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C174A-02FD-D5DC-D019-30AC28B388D5}"/>
              </a:ext>
            </a:extLst>
          </p:cNvPr>
          <p:cNvSpPr>
            <a:spLocks noGrp="1"/>
          </p:cNvSpPr>
          <p:nvPr>
            <p:ph type="title"/>
          </p:nvPr>
        </p:nvSpPr>
        <p:spPr/>
        <p:txBody>
          <a:bodyPr>
            <a:noAutofit/>
          </a:bodyPr>
          <a:lstStyle/>
          <a:p>
            <a:r>
              <a:rPr lang="en-US" sz="3600" b="1" dirty="0"/>
              <a:t>Amazon Aurora</a:t>
            </a:r>
          </a:p>
        </p:txBody>
      </p:sp>
    </p:spTree>
    <p:extLst>
      <p:ext uri="{BB962C8B-B14F-4D97-AF65-F5344CB8AC3E}">
        <p14:creationId xmlns:p14="http://schemas.microsoft.com/office/powerpoint/2010/main" val="4120892082"/>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7C90-022C-F14A-8A46-48EAAA8B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C6E37-53F7-3E69-B5F3-22F48BDC7CD4}"/>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Aurora</a:t>
            </a:r>
            <a:endParaRPr lang="en-US" sz="2400" dirty="0"/>
          </a:p>
        </p:txBody>
      </p:sp>
      <p:sp>
        <p:nvSpPr>
          <p:cNvPr id="3" name="Text Placeholder 2">
            <a:extLst>
              <a:ext uri="{FF2B5EF4-FFF2-40B4-BE49-F238E27FC236}">
                <a16:creationId xmlns:a16="http://schemas.microsoft.com/office/drawing/2014/main" id="{233C5D99-DCFB-506E-659C-89DC2D8EC6B2}"/>
              </a:ext>
            </a:extLst>
          </p:cNvPr>
          <p:cNvSpPr>
            <a:spLocks noGrp="1"/>
          </p:cNvSpPr>
          <p:nvPr>
            <p:ph type="body" sz="quarter" idx="10"/>
          </p:nvPr>
        </p:nvSpPr>
        <p:spPr/>
        <p:txBody>
          <a:bodyPr>
            <a:normAutofit lnSpcReduction="10000"/>
          </a:bodyPr>
          <a:lstStyle/>
          <a:p>
            <a:r>
              <a:rPr lang="en-US" sz="2400" dirty="0"/>
              <a:t>Amazon Aurora</a:t>
            </a:r>
          </a:p>
        </p:txBody>
      </p:sp>
      <p:sp>
        <p:nvSpPr>
          <p:cNvPr id="4" name="Title 1">
            <a:extLst>
              <a:ext uri="{FF2B5EF4-FFF2-40B4-BE49-F238E27FC236}">
                <a16:creationId xmlns:a16="http://schemas.microsoft.com/office/drawing/2014/main" id="{92AC9B0C-0151-ED8D-BE71-229F6B2E7B98}"/>
              </a:ext>
            </a:extLst>
          </p:cNvPr>
          <p:cNvSpPr txBox="1">
            <a:spLocks/>
          </p:cNvSpPr>
          <p:nvPr/>
        </p:nvSpPr>
        <p:spPr>
          <a:xfrm>
            <a:off x="3733800" y="3810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Graphic 4">
            <a:extLst>
              <a:ext uri="{FF2B5EF4-FFF2-40B4-BE49-F238E27FC236}">
                <a16:creationId xmlns:a16="http://schemas.microsoft.com/office/drawing/2014/main" id="{ADFCD1F7-7467-7BBE-5439-7D82671F166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84840" y="3188370"/>
            <a:ext cx="1001360" cy="1001360"/>
          </a:xfrm>
          <a:prstGeom prst="rect">
            <a:avLst/>
          </a:prstGeom>
        </p:spPr>
      </p:pic>
      <p:sp>
        <p:nvSpPr>
          <p:cNvPr id="6" name="TextBox 5">
            <a:extLst>
              <a:ext uri="{FF2B5EF4-FFF2-40B4-BE49-F238E27FC236}">
                <a16:creationId xmlns:a16="http://schemas.microsoft.com/office/drawing/2014/main" id="{F694CE29-B727-BDCC-166A-26EE5BAF79AF}"/>
              </a:ext>
            </a:extLst>
          </p:cNvPr>
          <p:cNvSpPr txBox="1"/>
          <p:nvPr/>
        </p:nvSpPr>
        <p:spPr>
          <a:xfrm>
            <a:off x="2672358" y="4189731"/>
            <a:ext cx="1426325" cy="615553"/>
          </a:xfrm>
          <a:prstGeom prst="rect">
            <a:avLst/>
          </a:prstGeom>
          <a:noFill/>
        </p:spPr>
        <p:txBody>
          <a:bodyPr wrap="square" lIns="0" tIns="0" rIns="0" bIns="0" rtlCol="0" anchor="ctr">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Amazon Aurora</a:t>
            </a:r>
          </a:p>
        </p:txBody>
      </p:sp>
      <p:sp>
        <p:nvSpPr>
          <p:cNvPr id="7" name="Rounded Rectangle 12" descr="Amazon Aurora features.">
            <a:extLst>
              <a:ext uri="{FF2B5EF4-FFF2-40B4-BE49-F238E27FC236}">
                <a16:creationId xmlns:a16="http://schemas.microsoft.com/office/drawing/2014/main" id="{A284A9B5-C33C-52DC-1483-F3CDCB92C57E}"/>
              </a:ext>
            </a:extLst>
          </p:cNvPr>
          <p:cNvSpPr/>
          <p:nvPr/>
        </p:nvSpPr>
        <p:spPr bwMode="auto">
          <a:xfrm>
            <a:off x="4495801" y="2514601"/>
            <a:ext cx="5714999" cy="2971799"/>
          </a:xfrm>
          <a:prstGeom prst="roundRect">
            <a:avLst>
              <a:gd name="adj" fmla="val 861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sp>
        <p:nvSpPr>
          <p:cNvPr id="8" name="Content Placeholder 2">
            <a:extLst>
              <a:ext uri="{FF2B5EF4-FFF2-40B4-BE49-F238E27FC236}">
                <a16:creationId xmlns:a16="http://schemas.microsoft.com/office/drawing/2014/main" id="{B3D6FCBF-68EC-9FA6-225B-6382E5364CC1}"/>
              </a:ext>
            </a:extLst>
          </p:cNvPr>
          <p:cNvSpPr txBox="1">
            <a:spLocks/>
          </p:cNvSpPr>
          <p:nvPr/>
        </p:nvSpPr>
        <p:spPr>
          <a:xfrm>
            <a:off x="4495801" y="2514599"/>
            <a:ext cx="5410199" cy="3200400"/>
          </a:xfrm>
          <a:prstGeom prst="rect">
            <a:avLst/>
          </a:prstGeom>
        </p:spPr>
        <p:txBody>
          <a:bodyPr vert="horz" wrap="square" lIns="146304" tIns="91440" rIns="146304" bIns="91440" rtlCol="0">
            <a:noAutofit/>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lnSpc>
                <a:spcPct val="150000"/>
              </a:lnSpc>
              <a:spcBef>
                <a:spcPts val="0"/>
              </a:spcBef>
              <a:spcAft>
                <a:spcPts val="1200"/>
              </a:spcAft>
              <a:buFont typeface="Arial" pitchFamily="34" charset="0"/>
              <a:buChar char="•"/>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Enterprise-class</a:t>
            </a:r>
            <a:r>
              <a:rPr lang="en-US" sz="2000" dirty="0">
                <a:latin typeface="Open Sans" panose="020B0606030504020204" pitchFamily="34" charset="0"/>
                <a:ea typeface="Open Sans" panose="020B0606030504020204" pitchFamily="34" charset="0"/>
                <a:cs typeface="Open Sans" panose="020B0606030504020204" pitchFamily="34" charset="0"/>
              </a:rPr>
              <a:t> relational </a:t>
            </a: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database</a:t>
            </a:r>
          </a:p>
          <a:p>
            <a:pPr marL="342900" indent="-342900">
              <a:lnSpc>
                <a:spcPct val="150000"/>
              </a:lnSpc>
              <a:spcBef>
                <a:spcPts val="0"/>
              </a:spcBef>
              <a:spcAft>
                <a:spcPts val="1200"/>
              </a:spcAft>
              <a:buFont typeface="Arial" pitchFamily="34" charset="0"/>
              <a:buChar char="•"/>
            </a:pP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Compatible with MySQL</a:t>
            </a:r>
            <a:r>
              <a:rPr lang="en-US" sz="2000" dirty="0">
                <a:latin typeface="Open Sans" panose="020B0606030504020204" pitchFamily="34" charset="0"/>
                <a:ea typeface="Open Sans" panose="020B0606030504020204" pitchFamily="34" charset="0"/>
                <a:cs typeface="Open Sans" panose="020B0606030504020204" pitchFamily="34" charset="0"/>
              </a:rPr>
              <a:t> or </a:t>
            </a:r>
            <a:r>
              <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rPr>
              <a:t>PostgreSQL</a:t>
            </a:r>
          </a:p>
          <a:p>
            <a:pPr marL="342900" indent="-342900">
              <a:lnSpc>
                <a:spcPct val="150000"/>
              </a:lnSpc>
              <a:spcBef>
                <a:spcPts val="0"/>
              </a:spcBef>
              <a:spcAft>
                <a:spcPts val="1200"/>
              </a:spcAft>
              <a:buFont typeface="Arial"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Automate time-consuming tasks (such as provisioning, patching, backup, recovery, failure detection, and repair).</a:t>
            </a:r>
          </a:p>
        </p:txBody>
      </p:sp>
    </p:spTree>
    <p:extLst>
      <p:ext uri="{BB962C8B-B14F-4D97-AF65-F5344CB8AC3E}">
        <p14:creationId xmlns:p14="http://schemas.microsoft.com/office/powerpoint/2010/main" val="1533720364"/>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812D7-273D-9BB3-1A46-9B57507D1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B61A1-43B9-45D6-0362-CC1884A4093E}"/>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Aurora</a:t>
            </a:r>
            <a:endParaRPr lang="en-US" sz="2400" dirty="0"/>
          </a:p>
        </p:txBody>
      </p:sp>
      <p:sp>
        <p:nvSpPr>
          <p:cNvPr id="3" name="Text Placeholder 2">
            <a:extLst>
              <a:ext uri="{FF2B5EF4-FFF2-40B4-BE49-F238E27FC236}">
                <a16:creationId xmlns:a16="http://schemas.microsoft.com/office/drawing/2014/main" id="{C5B549A1-89B3-312A-D4C7-C633CFE33064}"/>
              </a:ext>
            </a:extLst>
          </p:cNvPr>
          <p:cNvSpPr>
            <a:spLocks noGrp="1"/>
          </p:cNvSpPr>
          <p:nvPr>
            <p:ph type="body" sz="quarter" idx="10"/>
          </p:nvPr>
        </p:nvSpPr>
        <p:spPr/>
        <p:txBody>
          <a:bodyPr>
            <a:normAutofit fontScale="85000" lnSpcReduction="10000"/>
          </a:bodyPr>
          <a:lstStyle/>
          <a:p>
            <a:r>
              <a:rPr lang="en-US" sz="2400" dirty="0"/>
              <a:t>Amazon Aurora service benefits</a:t>
            </a:r>
          </a:p>
        </p:txBody>
      </p:sp>
      <p:sp>
        <p:nvSpPr>
          <p:cNvPr id="4" name="Title 1">
            <a:extLst>
              <a:ext uri="{FF2B5EF4-FFF2-40B4-BE49-F238E27FC236}">
                <a16:creationId xmlns:a16="http://schemas.microsoft.com/office/drawing/2014/main" id="{DED177EE-FD93-050E-4622-3E7C65419F37}"/>
              </a:ext>
            </a:extLst>
          </p:cNvPr>
          <p:cNvSpPr txBox="1">
            <a:spLocks/>
          </p:cNvSpPr>
          <p:nvPr/>
        </p:nvSpPr>
        <p:spPr>
          <a:xfrm>
            <a:off x="4800600" y="304800"/>
            <a:ext cx="56388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Picture 4" descr="Amazon Aurora benefits.">
            <a:extLst>
              <a:ext uri="{FF2B5EF4-FFF2-40B4-BE49-F238E27FC236}">
                <a16:creationId xmlns:a16="http://schemas.microsoft.com/office/drawing/2014/main" id="{1C56DBE5-7241-59E6-CB7F-E92D68862E8F}"/>
              </a:ext>
            </a:extLst>
          </p:cNvPr>
          <p:cNvPicPr>
            <a:picLocks noChangeAspect="1"/>
          </p:cNvPicPr>
          <p:nvPr/>
        </p:nvPicPr>
        <p:blipFill>
          <a:blip r:embed="rId3"/>
          <a:stretch>
            <a:fillRect/>
          </a:stretch>
        </p:blipFill>
        <p:spPr>
          <a:xfrm>
            <a:off x="2470448" y="1519164"/>
            <a:ext cx="8121352" cy="5262636"/>
          </a:xfrm>
          <a:prstGeom prst="rect">
            <a:avLst/>
          </a:prstGeom>
        </p:spPr>
      </p:pic>
    </p:spTree>
    <p:extLst>
      <p:ext uri="{BB962C8B-B14F-4D97-AF65-F5344CB8AC3E}">
        <p14:creationId xmlns:p14="http://schemas.microsoft.com/office/powerpoint/2010/main" val="1986977503"/>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148FD-8410-EE76-E134-E786A092C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1DB4B-20C2-E06B-8E63-CF51486A1FA2}"/>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Aurora</a:t>
            </a:r>
            <a:endParaRPr lang="en-US" sz="2400" dirty="0"/>
          </a:p>
        </p:txBody>
      </p:sp>
      <p:sp>
        <p:nvSpPr>
          <p:cNvPr id="3" name="Text Placeholder 2">
            <a:extLst>
              <a:ext uri="{FF2B5EF4-FFF2-40B4-BE49-F238E27FC236}">
                <a16:creationId xmlns:a16="http://schemas.microsoft.com/office/drawing/2014/main" id="{BD4B9CE1-2B97-ADD2-EC5E-B53A44B3C291}"/>
              </a:ext>
            </a:extLst>
          </p:cNvPr>
          <p:cNvSpPr>
            <a:spLocks noGrp="1"/>
          </p:cNvSpPr>
          <p:nvPr>
            <p:ph type="body" sz="quarter" idx="10"/>
          </p:nvPr>
        </p:nvSpPr>
        <p:spPr/>
        <p:txBody>
          <a:bodyPr>
            <a:normAutofit lnSpcReduction="10000"/>
          </a:bodyPr>
          <a:lstStyle/>
          <a:p>
            <a:r>
              <a:rPr lang="en-US" sz="2400" dirty="0"/>
              <a:t>High availability</a:t>
            </a:r>
          </a:p>
        </p:txBody>
      </p:sp>
      <p:sp>
        <p:nvSpPr>
          <p:cNvPr id="4" name="Title 1">
            <a:extLst>
              <a:ext uri="{FF2B5EF4-FFF2-40B4-BE49-F238E27FC236}">
                <a16:creationId xmlns:a16="http://schemas.microsoft.com/office/drawing/2014/main" id="{8EA7106C-DFEE-99E5-5486-67060530295C}"/>
              </a:ext>
            </a:extLst>
          </p:cNvPr>
          <p:cNvSpPr txBox="1">
            <a:spLocks/>
          </p:cNvSpPr>
          <p:nvPr/>
        </p:nvSpPr>
        <p:spPr>
          <a:xfrm>
            <a:off x="39624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Picture 4" descr="Amazon Aurora is replicated across multiple Availability Zones.">
            <a:extLst>
              <a:ext uri="{FF2B5EF4-FFF2-40B4-BE49-F238E27FC236}">
                <a16:creationId xmlns:a16="http://schemas.microsoft.com/office/drawing/2014/main" id="{B6146051-78C8-BA53-F261-23C35D71BCB2}"/>
              </a:ext>
            </a:extLst>
          </p:cNvPr>
          <p:cNvPicPr>
            <a:picLocks noChangeAspect="1"/>
          </p:cNvPicPr>
          <p:nvPr/>
        </p:nvPicPr>
        <p:blipFill>
          <a:blip r:embed="rId3"/>
          <a:stretch>
            <a:fillRect/>
          </a:stretch>
        </p:blipFill>
        <p:spPr>
          <a:xfrm>
            <a:off x="2628544" y="1770053"/>
            <a:ext cx="7887056" cy="4846724"/>
          </a:xfrm>
          <a:prstGeom prst="rect">
            <a:avLst/>
          </a:prstGeom>
        </p:spPr>
      </p:pic>
    </p:spTree>
    <p:extLst>
      <p:ext uri="{BB962C8B-B14F-4D97-AF65-F5344CB8AC3E}">
        <p14:creationId xmlns:p14="http://schemas.microsoft.com/office/powerpoint/2010/main" val="1649873165"/>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81D0E-5A30-3B05-23DE-2EB0AEB3D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40AE5-A2E8-D936-D59E-055FCD61DEDD}"/>
              </a:ext>
            </a:extLst>
          </p:cNvPr>
          <p:cNvSpPr>
            <a:spLocks noGrp="1"/>
          </p:cNvSpPr>
          <p:nvPr>
            <p:ph type="title"/>
          </p:nvPr>
        </p:nvSpPr>
        <p:spPr>
          <a:xfrm>
            <a:off x="1083689" y="894465"/>
            <a:ext cx="8001000" cy="255141"/>
          </a:xfrm>
        </p:spPr>
        <p:txBody>
          <a:bodyPr>
            <a:noAutofit/>
          </a:bodyPr>
          <a:lstStyle/>
          <a:p>
            <a:r>
              <a:rPr lang="sv-SE" sz="2400" dirty="0">
                <a:latin typeface="Tahoma" panose="020B0604030504040204" pitchFamily="34" charset="0"/>
                <a:ea typeface="Tahoma" panose="020B0604030504040204" pitchFamily="34" charset="0"/>
                <a:cs typeface="Tahoma" panose="020B0604030504040204" pitchFamily="34" charset="0"/>
              </a:rPr>
              <a:t>Amazon Aurora</a:t>
            </a:r>
            <a:endParaRPr lang="en-US" sz="2400" dirty="0"/>
          </a:p>
        </p:txBody>
      </p:sp>
      <p:sp>
        <p:nvSpPr>
          <p:cNvPr id="3" name="Text Placeholder 2">
            <a:extLst>
              <a:ext uri="{FF2B5EF4-FFF2-40B4-BE49-F238E27FC236}">
                <a16:creationId xmlns:a16="http://schemas.microsoft.com/office/drawing/2014/main" id="{FC55010B-6046-38F1-FEED-FCF38055F0B4}"/>
              </a:ext>
            </a:extLst>
          </p:cNvPr>
          <p:cNvSpPr>
            <a:spLocks noGrp="1"/>
          </p:cNvSpPr>
          <p:nvPr>
            <p:ph type="body" sz="quarter" idx="10"/>
          </p:nvPr>
        </p:nvSpPr>
        <p:spPr/>
        <p:txBody>
          <a:bodyPr>
            <a:normAutofit lnSpcReduction="10000"/>
          </a:bodyPr>
          <a:lstStyle/>
          <a:p>
            <a:r>
              <a:rPr lang="en-US" sz="2400" dirty="0"/>
              <a:t>Resilient design</a:t>
            </a:r>
          </a:p>
        </p:txBody>
      </p:sp>
      <p:sp>
        <p:nvSpPr>
          <p:cNvPr id="4" name="Title 1">
            <a:extLst>
              <a:ext uri="{FF2B5EF4-FFF2-40B4-BE49-F238E27FC236}">
                <a16:creationId xmlns:a16="http://schemas.microsoft.com/office/drawing/2014/main" id="{EB465FC8-F7AF-7F76-9064-A73DB2E2B54D}"/>
              </a:ext>
            </a:extLst>
          </p:cNvPr>
          <p:cNvSpPr txBox="1">
            <a:spLocks/>
          </p:cNvSpPr>
          <p:nvPr/>
        </p:nvSpPr>
        <p:spPr>
          <a:xfrm>
            <a:off x="3886200" y="533400"/>
            <a:ext cx="7067128"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914377" rtl="0" eaLnBrk="1" latinLnBrk="0" hangingPunct="1">
              <a:lnSpc>
                <a:spcPct val="80000"/>
              </a:lnSpc>
              <a:spcBef>
                <a:spcPts val="0"/>
              </a:spcBef>
              <a:spcAft>
                <a:spcPts val="0"/>
              </a:spcAft>
              <a:buClrTx/>
              <a:buSzTx/>
              <a:buFontTx/>
              <a:buNone/>
              <a:tabLst/>
              <a:defRPr kumimoji="0" lang="en-US" sz="1425"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1714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2pPr>
            <a:lvl3pPr marL="0" marR="0" indent="3429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3pPr>
            <a:lvl4pPr marL="0" marR="0" indent="5143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4pPr>
            <a:lvl5pPr marL="0" marR="0" indent="6858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5pPr>
            <a:lvl6pPr marL="0" marR="0" indent="8572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6pPr>
            <a:lvl7pPr marL="0" marR="0" indent="10287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7pPr>
            <a:lvl8pPr marL="0" marR="0" indent="120015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8pPr>
            <a:lvl9pPr marL="0" marR="0" indent="1371600" algn="l" defTabSz="914377" rtl="0" eaLnBrk="1" latinLnBrk="0" hangingPunct="1">
              <a:lnSpc>
                <a:spcPct val="80000"/>
              </a:lnSpc>
              <a:spcBef>
                <a:spcPts val="0"/>
              </a:spcBef>
              <a:spcAft>
                <a:spcPts val="0"/>
              </a:spcAft>
              <a:buClrTx/>
              <a:buSzTx/>
              <a:buFontTx/>
              <a:buNone/>
              <a:tabLst/>
              <a:defRPr sz="3188" b="1" i="0" u="none" strike="noStrike" cap="none" spc="-64" baseline="0">
                <a:solidFill>
                  <a:srgbClr val="000000"/>
                </a:solidFill>
                <a:uFillTx/>
                <a:latin typeface="+mn-lt"/>
                <a:ea typeface="+mn-ea"/>
                <a:cs typeface="+mn-cs"/>
                <a:sym typeface="Helvetica Neue"/>
              </a:defRPr>
            </a:lvl9pPr>
          </a:lstStyle>
          <a:p>
            <a:endParaRPr lang="en-US" dirty="0"/>
          </a:p>
        </p:txBody>
      </p:sp>
      <p:pic>
        <p:nvPicPr>
          <p:cNvPr id="5" name="Picture 4" descr="Amazon Aurora design reduces recovery time by moving the redo log files out of the database process.">
            <a:extLst>
              <a:ext uri="{FF2B5EF4-FFF2-40B4-BE49-F238E27FC236}">
                <a16:creationId xmlns:a16="http://schemas.microsoft.com/office/drawing/2014/main" id="{25053FD4-0211-90D9-C0D5-3CB6506274BD}"/>
              </a:ext>
            </a:extLst>
          </p:cNvPr>
          <p:cNvPicPr>
            <a:picLocks noChangeAspect="1"/>
          </p:cNvPicPr>
          <p:nvPr/>
        </p:nvPicPr>
        <p:blipFill>
          <a:blip r:embed="rId3"/>
          <a:stretch>
            <a:fillRect/>
          </a:stretch>
        </p:blipFill>
        <p:spPr>
          <a:xfrm>
            <a:off x="2438400" y="2667000"/>
            <a:ext cx="8006740" cy="2890520"/>
          </a:xfrm>
          <a:prstGeom prst="rect">
            <a:avLst/>
          </a:prstGeom>
        </p:spPr>
      </p:pic>
    </p:spTree>
    <p:extLst>
      <p:ext uri="{BB962C8B-B14F-4D97-AF65-F5344CB8AC3E}">
        <p14:creationId xmlns:p14="http://schemas.microsoft.com/office/powerpoint/2010/main" val="2163173044"/>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E3EA4C-8C82-9572-09C8-4D79EA3AB723}"/>
              </a:ext>
            </a:extLst>
          </p:cNvPr>
          <p:cNvSpPr>
            <a:spLocks noGrp="1"/>
          </p:cNvSpPr>
          <p:nvPr>
            <p:ph type="body" sz="quarter" idx="1"/>
          </p:nvPr>
        </p:nvSpPr>
        <p:spPr>
          <a:xfrm>
            <a:off x="484634" y="1906701"/>
            <a:ext cx="11104118" cy="4012862"/>
          </a:xfrm>
        </p:spPr>
        <p:txBody>
          <a:bodyPr>
            <a:normAutofit/>
          </a:bodyPr>
          <a:lstStyle/>
          <a:p>
            <a:pPr marL="428625" indent="-428625" algn="just">
              <a:buFont typeface="Arial" panose="020B0604020202020204" pitchFamily="34" charset="0"/>
              <a:buChar char="•"/>
            </a:pP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Chris </a:t>
            </a:r>
            <a:r>
              <a:rPr lang="en-US" sz="2400" i="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Fregly</a:t>
            </a: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 &amp; Antje Barth, </a:t>
            </a:r>
            <a:r>
              <a:rPr lang="en-US" sz="2400" b="1" i="1" dirty="0">
                <a:solidFill>
                  <a:schemeClr val="bg1"/>
                </a:solidFill>
                <a:latin typeface="Open Sans" panose="020B0606030504020204" pitchFamily="34" charset="0"/>
                <a:ea typeface="Open Sans" panose="020B0606030504020204" pitchFamily="34" charset="0"/>
                <a:cs typeface="Open Sans" panose="020B0606030504020204" pitchFamily="34" charset="0"/>
              </a:rPr>
              <a:t>“Data Science on AWS”, </a:t>
            </a: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1st edition, 2021, </a:t>
            </a:r>
            <a:r>
              <a:rPr lang="en-US" sz="2400" i="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OReilly</a:t>
            </a: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 California, ISBN 978-1-492-07939-2</a:t>
            </a:r>
          </a:p>
          <a:p>
            <a:pPr marL="428625" indent="-428625" algn="just">
              <a:buFont typeface="Arial" panose="020B0604020202020204" pitchFamily="34" charset="0"/>
              <a:buChar char="•"/>
            </a:pP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Garet Eagar, </a:t>
            </a:r>
            <a:r>
              <a:rPr lang="en-US" sz="2400" b="1" i="1" dirty="0">
                <a:solidFill>
                  <a:schemeClr val="bg1"/>
                </a:solidFill>
                <a:latin typeface="Open Sans" panose="020B0606030504020204" pitchFamily="34" charset="0"/>
                <a:ea typeface="Open Sans" panose="020B0606030504020204" pitchFamily="34" charset="0"/>
                <a:cs typeface="Open Sans" panose="020B0606030504020204" pitchFamily="34" charset="0"/>
              </a:rPr>
              <a:t>“Data Engineering with AWS”, </a:t>
            </a: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1st edition, 2021, PACKT, Birmingham, ISBN: 978-1-80056-041-3</a:t>
            </a:r>
          </a:p>
          <a:p>
            <a:pPr marL="428625" indent="-428625" algn="just">
              <a:buFont typeface="Arial" panose="020B0604020202020204" pitchFamily="34" charset="0"/>
              <a:buChar char="•"/>
            </a:pPr>
            <a:r>
              <a:rPr lang="en-US" sz="2400" i="1" dirty="0">
                <a:solidFill>
                  <a:schemeClr val="bg1"/>
                </a:solidFill>
                <a:latin typeface="Open Sans" panose="020B0606030504020204" pitchFamily="34" charset="0"/>
                <a:ea typeface="Open Sans" panose="020B0606030504020204" pitchFamily="34" charset="0"/>
                <a:cs typeface="Open Sans" panose="020B0606030504020204" pitchFamily="34" charset="0"/>
              </a:rPr>
              <a:t>Amazon Web Services, Inc. 2020</a:t>
            </a:r>
          </a:p>
        </p:txBody>
      </p:sp>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a:xfrm>
            <a:off x="603249" y="496311"/>
            <a:ext cx="10985502" cy="1033068"/>
          </a:xfrm>
        </p:spPr>
        <p:txBody>
          <a:bodyPr>
            <a:noAutofit/>
          </a:bodyPr>
          <a:lstStyle/>
          <a:p>
            <a:r>
              <a:rPr lang="en-US" sz="4400" dirty="0"/>
              <a:t>REFERENCES</a:t>
            </a:r>
            <a:br>
              <a:rPr lang="en-US" sz="4400" dirty="0"/>
            </a:br>
            <a:endParaRPr lang="en-US" sz="4400" dirty="0"/>
          </a:p>
        </p:txBody>
      </p:sp>
      <p:sp>
        <p:nvSpPr>
          <p:cNvPr id="4" name="Text Placeholder 3">
            <a:extLst>
              <a:ext uri="{FF2B5EF4-FFF2-40B4-BE49-F238E27FC236}">
                <a16:creationId xmlns:a16="http://schemas.microsoft.com/office/drawing/2014/main" id="{A57D6905-B96F-8821-0852-A482D6135AB9}"/>
              </a:ext>
            </a:extLst>
          </p:cNvPr>
          <p:cNvSpPr>
            <a:spLocks noGrp="1"/>
          </p:cNvSpPr>
          <p:nvPr>
            <p:ph type="body" sz="quarter" idx="10"/>
          </p:nvPr>
        </p:nvSpPr>
        <p:spPr>
          <a:xfrm>
            <a:off x="4537787" y="6455223"/>
            <a:ext cx="3111268" cy="179139"/>
          </a:xfrm>
        </p:spPr>
        <p:txBody>
          <a:bodyPr>
            <a:normAutofit fontScale="85000" lnSpcReduction="10000"/>
          </a:bodyPr>
          <a:lstStyle/>
          <a:p>
            <a:r>
              <a:rPr lang="en-US" dirty="0" err="1"/>
              <a:t>Desember</a:t>
            </a:r>
            <a:r>
              <a:rPr lang="en-US" dirty="0"/>
              <a:t> 2024</a:t>
            </a:r>
          </a:p>
        </p:txBody>
      </p:sp>
    </p:spTree>
    <p:extLst>
      <p:ext uri="{BB962C8B-B14F-4D97-AF65-F5344CB8AC3E}">
        <p14:creationId xmlns:p14="http://schemas.microsoft.com/office/powerpoint/2010/main" val="455132631"/>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20240629171600D5339_01 Session 01 - Machine Learning Landscape</Template>
  <TotalTime>2473</TotalTime>
  <Words>9966</Words>
  <Application>Microsoft Office PowerPoint</Application>
  <PresentationFormat>Widescreen</PresentationFormat>
  <Paragraphs>915</Paragraphs>
  <Slides>64</Slides>
  <Notes>54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64</vt:i4>
      </vt:variant>
    </vt:vector>
  </HeadingPairs>
  <TitlesOfParts>
    <vt:vector size="79" baseType="lpstr">
      <vt:lpstr>Amazon Ember</vt:lpstr>
      <vt:lpstr>Amazon Ember Light</vt:lpstr>
      <vt:lpstr>Arial</vt:lpstr>
      <vt:lpstr>Calibri</vt:lpstr>
      <vt:lpstr>Helvetica Neue</vt:lpstr>
      <vt:lpstr>OCRB</vt:lpstr>
      <vt:lpstr>Open Sans</vt:lpstr>
      <vt:lpstr>Open Sans ExtraBold</vt:lpstr>
      <vt:lpstr>Open Sans Light</vt:lpstr>
      <vt:lpstr>Open Sans Semibold</vt:lpstr>
      <vt:lpstr>Segoe UI</vt:lpstr>
      <vt:lpstr>Tahoma</vt:lpstr>
      <vt:lpstr>Verdana</vt:lpstr>
      <vt:lpstr>Wingdings</vt:lpstr>
      <vt:lpstr>21_BasicWhite</vt:lpstr>
      <vt:lpstr>Storage and Database</vt:lpstr>
      <vt:lpstr>PowerPoint Presentation</vt:lpstr>
      <vt:lpstr>OUTLINE</vt:lpstr>
      <vt:lpstr>Amazon Elastic Block Store (Amazon EBS)</vt:lpstr>
      <vt:lpstr>Amazon Elastic Block Store (Amazon EBS)</vt:lpstr>
      <vt:lpstr>Amazon Elastic Block Store (Amazon EBS)</vt:lpstr>
      <vt:lpstr>Amazon Elastic Block Store (Amazon EBS)</vt:lpstr>
      <vt:lpstr>Amazon Elastic Block Store (Amazon EBS)</vt:lpstr>
      <vt:lpstr>Amazon Elastic Block Store (Amazon EBS)</vt:lpstr>
      <vt:lpstr>Amazon Elastic Block Store (Amazon EBS)</vt:lpstr>
      <vt:lpstr>Amazon Elastic Block Store (Amazon EBS)</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Simple Storage Service (Amazon S3)</vt:lpstr>
      <vt:lpstr>Amazon Elastic File System (Amazon EFS)</vt:lpstr>
      <vt:lpstr>Amazon Elastic File System (Amazon EFS)</vt:lpstr>
      <vt:lpstr>Amazon Elastic File System (Amazon EFS)</vt:lpstr>
      <vt:lpstr>Amazon Elastic File System (Amazon EFS)</vt:lpstr>
      <vt:lpstr>Amazon Elastic File System (Amazon EFS)</vt:lpstr>
      <vt:lpstr>Amazon S3 Glacier</vt:lpstr>
      <vt:lpstr>Amazon S3 Glacier</vt:lpstr>
      <vt:lpstr>Amazon S3 Glacier</vt:lpstr>
      <vt:lpstr>Amazon S3 Glacier</vt:lpstr>
      <vt:lpstr>Amazon S3 Glacier</vt:lpstr>
      <vt:lpstr>Amazon S3 Glacier</vt:lpstr>
      <vt:lpstr>Amazon S3 Glacier</vt:lpstr>
      <vt:lpstr>Database</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Relational Database Service (RDS)</vt:lpstr>
      <vt:lpstr>Amazon DynamoDB</vt:lpstr>
      <vt:lpstr>Amazon DynamoDB</vt:lpstr>
      <vt:lpstr>Amazon DynamoDB</vt:lpstr>
      <vt:lpstr>Amazon DynamoDB</vt:lpstr>
      <vt:lpstr>Amazon DynamoDB</vt:lpstr>
      <vt:lpstr>Amazon DynamoDB</vt:lpstr>
      <vt:lpstr>Amazon Redshift</vt:lpstr>
      <vt:lpstr>Amazon Redshift</vt:lpstr>
      <vt:lpstr>Amazon Redshift</vt:lpstr>
      <vt:lpstr>Amazon Redshift</vt:lpstr>
      <vt:lpstr>Amazon Redshift</vt:lpstr>
      <vt:lpstr>Amazon Redshift</vt:lpstr>
      <vt:lpstr>Amazon Aurora</vt:lpstr>
      <vt:lpstr>Amazon Aurora</vt:lpstr>
      <vt:lpstr>Amazon Aurora</vt:lpstr>
      <vt:lpstr>Amazon Aurora</vt:lpstr>
      <vt:lpstr>Amazon Aurora</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ADE PUTERA KEMALA</cp:lastModifiedBy>
  <cp:revision>49</cp:revision>
  <dcterms:created xsi:type="dcterms:W3CDTF">2015-05-04T03:33:03Z</dcterms:created>
  <dcterms:modified xsi:type="dcterms:W3CDTF">2025-12-19T08:32:59Z</dcterms:modified>
</cp:coreProperties>
</file>